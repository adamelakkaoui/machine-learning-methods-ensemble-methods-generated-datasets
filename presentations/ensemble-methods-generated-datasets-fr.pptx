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34"/>
  </p:notesMasterIdLst>
  <p:handoutMasterIdLst>
    <p:handoutMasterId r:id="rId35"/>
  </p:handoutMasterIdLst>
  <p:sldIdLst>
    <p:sldId id="256" r:id="rId2"/>
    <p:sldId id="257" r:id="rId3"/>
    <p:sldId id="258" r:id="rId4"/>
    <p:sldId id="259" r:id="rId5"/>
    <p:sldId id="260" r:id="rId6"/>
    <p:sldId id="261" r:id="rId7"/>
    <p:sldId id="262" r:id="rId8"/>
    <p:sldId id="275" r:id="rId9"/>
    <p:sldId id="277" r:id="rId10"/>
    <p:sldId id="278" r:id="rId11"/>
    <p:sldId id="276" r:id="rId12"/>
    <p:sldId id="280" r:id="rId13"/>
    <p:sldId id="281" r:id="rId14"/>
    <p:sldId id="279" r:id="rId15"/>
    <p:sldId id="287" r:id="rId16"/>
    <p:sldId id="288" r:id="rId17"/>
    <p:sldId id="289" r:id="rId18"/>
    <p:sldId id="290" r:id="rId19"/>
    <p:sldId id="291" r:id="rId20"/>
    <p:sldId id="292" r:id="rId21"/>
    <p:sldId id="293" r:id="rId22"/>
    <p:sldId id="294" r:id="rId23"/>
    <p:sldId id="282" r:id="rId24"/>
    <p:sldId id="265" r:id="rId25"/>
    <p:sldId id="295" r:id="rId26"/>
    <p:sldId id="296" r:id="rId27"/>
    <p:sldId id="298" r:id="rId28"/>
    <p:sldId id="299" r:id="rId29"/>
    <p:sldId id="297" r:id="rId30"/>
    <p:sldId id="264" r:id="rId31"/>
    <p:sldId id="274" r:id="rId32"/>
    <p:sldId id="27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E6FF"/>
    <a:srgbClr val="509DAE"/>
    <a:srgbClr val="172D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82" d="100"/>
          <a:sy n="82"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83DADDC9-8CF6-CCA2-6605-7B4705B00F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1F642B9-C53F-2F5D-A4B1-E5938135B4E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E3F2EF-9554-4B6E-9C0A-0C2024BC3FA5}" type="datetimeFigureOut">
              <a:rPr lang="fr-FR" smtClean="0"/>
              <a:t>10/04/2025</a:t>
            </a:fld>
            <a:endParaRPr lang="fr-FR"/>
          </a:p>
        </p:txBody>
      </p:sp>
      <p:sp>
        <p:nvSpPr>
          <p:cNvPr id="4" name="Espace réservé du pied de page 3">
            <a:extLst>
              <a:ext uri="{FF2B5EF4-FFF2-40B4-BE49-F238E27FC236}">
                <a16:creationId xmlns:a16="http://schemas.microsoft.com/office/drawing/2014/main" id="{5AED0386-9826-C65D-92F0-DA63206D5A3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A877B0DB-493B-6A6D-8D70-9ADD7E26DDA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4DEABA-102F-4DD5-A366-17D4234CC70C}" type="slidenum">
              <a:rPr lang="fr-FR" smtClean="0"/>
              <a:t>‹N°›</a:t>
            </a:fld>
            <a:endParaRPr lang="fr-FR"/>
          </a:p>
        </p:txBody>
      </p:sp>
    </p:spTree>
    <p:extLst>
      <p:ext uri="{BB962C8B-B14F-4D97-AF65-F5344CB8AC3E}">
        <p14:creationId xmlns:p14="http://schemas.microsoft.com/office/powerpoint/2010/main" val="9115233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606D9-0EBD-4314-98A4-831BE7508901}" type="datetimeFigureOut">
              <a:rPr lang="fr-FR" smtClean="0"/>
              <a:t>10/04/2025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E457A-C722-47A9-A3F3-D9AF0A1BD9A8}" type="slidenum">
              <a:rPr lang="fr-FR" smtClean="0"/>
              <a:t>‹N°›</a:t>
            </a:fld>
            <a:endParaRPr lang="fr-FR"/>
          </a:p>
        </p:txBody>
      </p:sp>
    </p:spTree>
    <p:extLst>
      <p:ext uri="{BB962C8B-B14F-4D97-AF65-F5344CB8AC3E}">
        <p14:creationId xmlns:p14="http://schemas.microsoft.com/office/powerpoint/2010/main" val="1290400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88E457A-C722-47A9-A3F3-D9AF0A1BD9A8}" type="slidenum">
              <a:rPr lang="fr-FR" smtClean="0"/>
              <a:t>6</a:t>
            </a:fld>
            <a:endParaRPr lang="fr-FR"/>
          </a:p>
        </p:txBody>
      </p:sp>
    </p:spTree>
    <p:extLst>
      <p:ext uri="{BB962C8B-B14F-4D97-AF65-F5344CB8AC3E}">
        <p14:creationId xmlns:p14="http://schemas.microsoft.com/office/powerpoint/2010/main" val="2388728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5E960-BF68-931B-E30E-A0FD913977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52B9F4-0BEC-DFC7-79E2-619C87CD097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18058B-EF14-9453-802B-26DA1217940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1C1C348-346B-1D14-6C17-537590D12D23}"/>
              </a:ext>
            </a:extLst>
          </p:cNvPr>
          <p:cNvSpPr>
            <a:spLocks noGrp="1"/>
          </p:cNvSpPr>
          <p:nvPr>
            <p:ph type="sldNum" sz="quarter" idx="5"/>
          </p:nvPr>
        </p:nvSpPr>
        <p:spPr/>
        <p:txBody>
          <a:bodyPr/>
          <a:lstStyle/>
          <a:p>
            <a:fld id="{388E457A-C722-47A9-A3F3-D9AF0A1BD9A8}" type="slidenum">
              <a:rPr lang="fr-FR" smtClean="0"/>
              <a:t>15</a:t>
            </a:fld>
            <a:endParaRPr lang="fr-FR"/>
          </a:p>
        </p:txBody>
      </p:sp>
    </p:spTree>
    <p:extLst>
      <p:ext uri="{BB962C8B-B14F-4D97-AF65-F5344CB8AC3E}">
        <p14:creationId xmlns:p14="http://schemas.microsoft.com/office/powerpoint/2010/main" val="351826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88E457A-C722-47A9-A3F3-D9AF0A1BD9A8}" type="slidenum">
              <a:rPr lang="fr-FR" smtClean="0"/>
              <a:t>31</a:t>
            </a:fld>
            <a:endParaRPr lang="fr-FR"/>
          </a:p>
        </p:txBody>
      </p:sp>
    </p:spTree>
    <p:extLst>
      <p:ext uri="{BB962C8B-B14F-4D97-AF65-F5344CB8AC3E}">
        <p14:creationId xmlns:p14="http://schemas.microsoft.com/office/powerpoint/2010/main" val="25493403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fr-FR"/>
              <a:t>Modifiez le style du titre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FDBC3E0-4F6C-4B41-95CA-F43099313A3B}" type="datetime1">
              <a:rPr lang="fr-FR" smtClean="0"/>
              <a:t>10/04/2025</a:t>
            </a:fld>
            <a:endParaRPr lang="fr-FR"/>
          </a:p>
        </p:txBody>
      </p:sp>
      <p:sp>
        <p:nvSpPr>
          <p:cNvPr id="5" name="Footer Placeholder 4"/>
          <p:cNvSpPr>
            <a:spLocks noGrp="1"/>
          </p:cNvSpPr>
          <p:nvPr>
            <p:ph type="ftr" sz="quarter" idx="11"/>
          </p:nvPr>
        </p:nvSpPr>
        <p:spPr>
          <a:xfrm>
            <a:off x="3962399" y="5870575"/>
            <a:ext cx="4893958" cy="377825"/>
          </a:xfrm>
        </p:spPr>
        <p:txBody>
          <a:bodyPr/>
          <a:lstStyle/>
          <a:p>
            <a:r>
              <a:rPr lang="fr-FR"/>
              <a:t>8</a:t>
            </a:r>
          </a:p>
        </p:txBody>
      </p:sp>
      <p:sp>
        <p:nvSpPr>
          <p:cNvPr id="6" name="Slide Number Placeholder 5"/>
          <p:cNvSpPr>
            <a:spLocks noGrp="1"/>
          </p:cNvSpPr>
          <p:nvPr>
            <p:ph type="sldNum" sz="quarter" idx="12"/>
          </p:nvPr>
        </p:nvSpPr>
        <p:spPr>
          <a:xfrm>
            <a:off x="10608958" y="5870575"/>
            <a:ext cx="551167" cy="377825"/>
          </a:xfrm>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991293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88D1314-9744-4B35-8C16-FD9590EDDDC4}"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220360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fr-FR"/>
              <a:t>Modifiez le style du titre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2DB5EF2-496D-4276-825D-9840E00F5FD4}"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705548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E325246-1325-4949-AF01-91AFC1DDE190}" type="datetime1">
              <a:rPr lang="fr-FR" smtClean="0"/>
              <a:t>10/04/2025</a:t>
            </a:fld>
            <a:endParaRPr lang="fr-FR"/>
          </a:p>
        </p:txBody>
      </p:sp>
      <p:sp>
        <p:nvSpPr>
          <p:cNvPr id="6" name="Footer Placeholder 5"/>
          <p:cNvSpPr>
            <a:spLocks noGrp="1"/>
          </p:cNvSpPr>
          <p:nvPr>
            <p:ph type="ftr" sz="quarter" idx="11"/>
          </p:nvPr>
        </p:nvSpPr>
        <p:spPr/>
        <p:txBody>
          <a:bodyPr/>
          <a:lstStyle/>
          <a:p>
            <a:r>
              <a:rPr lang="fr-FR"/>
              <a:t>8</a:t>
            </a: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146798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B5D102A-EC90-4AE2-A512-C40764E74D78}" type="datetime1">
              <a:rPr lang="fr-FR" smtClean="0"/>
              <a:t>10/04/2025</a:t>
            </a:fld>
            <a:endParaRPr lang="fr-FR"/>
          </a:p>
        </p:txBody>
      </p:sp>
      <p:sp>
        <p:nvSpPr>
          <p:cNvPr id="8" name="Footer Placeholder 7"/>
          <p:cNvSpPr>
            <a:spLocks noGrp="1"/>
          </p:cNvSpPr>
          <p:nvPr>
            <p:ph type="ftr" sz="quarter" idx="11"/>
          </p:nvPr>
        </p:nvSpPr>
        <p:spPr/>
        <p:txBody>
          <a:bodyPr/>
          <a:lstStyle/>
          <a:p>
            <a:r>
              <a:rPr lang="fr-FR"/>
              <a:t>8</a:t>
            </a:r>
          </a:p>
        </p:txBody>
      </p:sp>
      <p:sp>
        <p:nvSpPr>
          <p:cNvPr id="9" name="Slide Number Placeholder 8"/>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407800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9959A1B-17A8-42D2-8468-EA9FC84D5653}" type="datetime1">
              <a:rPr lang="fr-FR" smtClean="0"/>
              <a:t>10/04/2025</a:t>
            </a:fld>
            <a:endParaRPr lang="fr-FR"/>
          </a:p>
        </p:txBody>
      </p:sp>
      <p:sp>
        <p:nvSpPr>
          <p:cNvPr id="4" name="Footer Placeholder 3"/>
          <p:cNvSpPr>
            <a:spLocks noGrp="1"/>
          </p:cNvSpPr>
          <p:nvPr>
            <p:ph type="ftr" sz="quarter" idx="11"/>
          </p:nvPr>
        </p:nvSpPr>
        <p:spPr/>
        <p:txBody>
          <a:bodyPr/>
          <a:lstStyle/>
          <a:p>
            <a:r>
              <a:rPr lang="fr-FR"/>
              <a:t>8</a:t>
            </a:r>
          </a:p>
        </p:txBody>
      </p:sp>
      <p:sp>
        <p:nvSpPr>
          <p:cNvPr id="5" name="Slide Number Placeholder 4"/>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496766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930CE6E7-54D8-477B-953E-43A26DA98493}" type="datetime1">
              <a:rPr lang="fr-FR" smtClean="0"/>
              <a:t>10/04/2025</a:t>
            </a:fld>
            <a:endParaRPr lang="fr-FR"/>
          </a:p>
        </p:txBody>
      </p:sp>
      <p:sp>
        <p:nvSpPr>
          <p:cNvPr id="3" name="Footer Placeholder 2"/>
          <p:cNvSpPr>
            <a:spLocks noGrp="1"/>
          </p:cNvSpPr>
          <p:nvPr>
            <p:ph type="ftr" sz="quarter" idx="11"/>
          </p:nvPr>
        </p:nvSpPr>
        <p:spPr/>
        <p:txBody>
          <a:bodyPr/>
          <a:lstStyle/>
          <a:p>
            <a:r>
              <a:rPr lang="fr-FR"/>
              <a:t>8</a:t>
            </a:r>
          </a:p>
        </p:txBody>
      </p:sp>
      <p:sp>
        <p:nvSpPr>
          <p:cNvPr id="4" name="Slide Number Placeholder 3"/>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783279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37E032B-B577-4D0B-BDB4-71F423ABE18D}" type="datetime1">
              <a:rPr lang="fr-FR" smtClean="0"/>
              <a:t>10/04/2025</a:t>
            </a:fld>
            <a:endParaRPr lang="fr-FR"/>
          </a:p>
        </p:txBody>
      </p:sp>
      <p:sp>
        <p:nvSpPr>
          <p:cNvPr id="6" name="Footer Placeholder 5"/>
          <p:cNvSpPr>
            <a:spLocks noGrp="1"/>
          </p:cNvSpPr>
          <p:nvPr>
            <p:ph type="ftr" sz="quarter" idx="11"/>
          </p:nvPr>
        </p:nvSpPr>
        <p:spPr/>
        <p:txBody>
          <a:bodyPr/>
          <a:lstStyle/>
          <a:p>
            <a:r>
              <a:rPr lang="fr-FR"/>
              <a:t>8</a:t>
            </a: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3184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fr-FR"/>
              <a:t>Modifiez le style du titre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FC98483-DFDD-4B08-85E7-70017593ED08}" type="datetime1">
              <a:rPr lang="fr-FR" smtClean="0"/>
              <a:t>10/04/2025</a:t>
            </a:fld>
            <a:endParaRPr lang="fr-FR"/>
          </a:p>
        </p:txBody>
      </p:sp>
      <p:sp>
        <p:nvSpPr>
          <p:cNvPr id="6" name="Footer Placeholder 5"/>
          <p:cNvSpPr>
            <a:spLocks noGrp="1"/>
          </p:cNvSpPr>
          <p:nvPr>
            <p:ph type="ftr" sz="quarter" idx="11"/>
          </p:nvPr>
        </p:nvSpPr>
        <p:spPr/>
        <p:txBody>
          <a:bodyPr/>
          <a:lstStyle/>
          <a:p>
            <a:r>
              <a:rPr lang="fr-FR"/>
              <a:t>8</a:t>
            </a: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401431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84C6C77-AA16-4476-BA05-45DD38044BC3}" type="datetime1">
              <a:rPr lang="fr-FR" smtClean="0"/>
              <a:t>10/04/2025</a:t>
            </a:fld>
            <a:endParaRPr lang="fr-FR"/>
          </a:p>
        </p:txBody>
      </p:sp>
      <p:sp>
        <p:nvSpPr>
          <p:cNvPr id="6" name="Footer Placeholder 5"/>
          <p:cNvSpPr>
            <a:spLocks noGrp="1"/>
          </p:cNvSpPr>
          <p:nvPr>
            <p:ph type="ftr" sz="quarter" idx="11"/>
          </p:nvPr>
        </p:nvSpPr>
        <p:spPr/>
        <p:txBody>
          <a:bodyPr/>
          <a:lstStyle/>
          <a:p>
            <a:r>
              <a:rPr lang="fr-FR"/>
              <a:t>8</a:t>
            </a:r>
          </a:p>
        </p:txBody>
      </p:sp>
      <p:sp>
        <p:nvSpPr>
          <p:cNvPr id="7" name="Slide Number Placeholder 6"/>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760280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C7D792D-313A-459C-B365-6AB8F0015AFD}"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949992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4DBA67-89BF-4952-99BB-6FF9F2262C65}"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066599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0FB1C12-E62B-4526-97BB-3735577E40BD}"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61028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D3F1F60-69B6-4DD3-A48D-28BB3317B699}"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1673564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BED8817-92D8-4C51-B25B-44938671C5A6}"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229877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FB729C3-03EE-424A-BF05-3E500076174C}"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494194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F982519-CDEB-4018-AA52-0AC867F69E1C}" type="datetime1">
              <a:rPr lang="fr-FR" smtClean="0"/>
              <a:t>10/04/2025</a:t>
            </a:fld>
            <a:endParaRPr lang="fr-FR"/>
          </a:p>
        </p:txBody>
      </p:sp>
      <p:sp>
        <p:nvSpPr>
          <p:cNvPr id="5" name="Footer Placeholder 4"/>
          <p:cNvSpPr>
            <a:spLocks noGrp="1"/>
          </p:cNvSpPr>
          <p:nvPr>
            <p:ph type="ftr" sz="quarter" idx="11"/>
          </p:nvPr>
        </p:nvSpPr>
        <p:spPr/>
        <p:txBody>
          <a:bodyPr/>
          <a:lstStyle/>
          <a:p>
            <a:r>
              <a:rPr lang="fr-FR"/>
              <a:t>8</a:t>
            </a:r>
          </a:p>
        </p:txBody>
      </p:sp>
      <p:sp>
        <p:nvSpPr>
          <p:cNvPr id="6" name="Slide Number Placeholder 5"/>
          <p:cNvSpPr>
            <a:spLocks noGrp="1"/>
          </p:cNvSpPr>
          <p:nvPr>
            <p:ph type="sldNum" sz="quarter" idx="12"/>
          </p:nvPr>
        </p:nvSpPr>
        <p:spPr/>
        <p:txBody>
          <a:bodyPr/>
          <a:lstStyle/>
          <a:p>
            <a:fld id="{A3401A20-A1E0-4E43-B782-1D8AAEB2FCB1}" type="slidenum">
              <a:rPr lang="fr-FR" smtClean="0"/>
              <a:t>‹N°›</a:t>
            </a:fld>
            <a:endParaRPr lang="fr-FR"/>
          </a:p>
        </p:txBody>
      </p:sp>
    </p:spTree>
    <p:extLst>
      <p:ext uri="{BB962C8B-B14F-4D97-AF65-F5344CB8AC3E}">
        <p14:creationId xmlns:p14="http://schemas.microsoft.com/office/powerpoint/2010/main" val="2013434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846E09-7239-4270-AC2E-81255EAC129B}" type="datetime1">
              <a:rPr lang="fr-FR" smtClean="0"/>
              <a:t>10/04/2025</a:t>
            </a:fld>
            <a:endParaRPr lang="fr-FR"/>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fr-FR"/>
              <a:t>8</a:t>
            </a:r>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3401A20-A1E0-4E43-B782-1D8AAEB2FCB1}" type="slidenum">
              <a:rPr lang="fr-FR" smtClean="0"/>
              <a:t>‹N°›</a:t>
            </a:fld>
            <a:endParaRPr lang="fr-FR"/>
          </a:p>
        </p:txBody>
      </p:sp>
    </p:spTree>
    <p:extLst>
      <p:ext uri="{BB962C8B-B14F-4D97-AF65-F5344CB8AC3E}">
        <p14:creationId xmlns:p14="http://schemas.microsoft.com/office/powerpoint/2010/main" val="4242818373"/>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1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6.svg"/></Relationships>
</file>

<file path=ppt/slides/_rels/slide32.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1B82E7-C527-F062-4A6C-DF9A1EB13A5C}"/>
              </a:ext>
            </a:extLst>
          </p:cNvPr>
          <p:cNvSpPr>
            <a:spLocks noGrp="1"/>
          </p:cNvSpPr>
          <p:nvPr>
            <p:ph type="ctrTitle"/>
          </p:nvPr>
        </p:nvSpPr>
        <p:spPr>
          <a:xfrm>
            <a:off x="1474238" y="2173323"/>
            <a:ext cx="9283958" cy="1881881"/>
          </a:xfrm>
          <a:solidFill>
            <a:schemeClr val="bg2"/>
          </a:solidFill>
          <a:ln>
            <a:noFill/>
          </a:ln>
          <a:effectLst>
            <a:glow rad="139700">
              <a:schemeClr val="accent3">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fontScale="90000"/>
          </a:bodyPr>
          <a:lstStyle/>
          <a:p>
            <a:pPr algn="ctr"/>
            <a:r>
              <a:rPr lang="fr-FR" sz="4000" b="1" dirty="0">
                <a:latin typeface="+mn-lt"/>
              </a:rPr>
              <a:t>Étude et Implémentation des Méthodes de Machine Learning (Ensemble </a:t>
            </a:r>
            <a:r>
              <a:rPr lang="fr-FR" sz="4000" b="1" dirty="0" err="1">
                <a:latin typeface="+mn-lt"/>
              </a:rPr>
              <a:t>methods</a:t>
            </a:r>
            <a:r>
              <a:rPr lang="fr-FR" sz="4000" b="1" dirty="0">
                <a:latin typeface="+mn-lt"/>
              </a:rPr>
              <a:t> &amp; </a:t>
            </a:r>
            <a:r>
              <a:rPr lang="fr-FR" sz="4000" b="1" dirty="0" err="1">
                <a:latin typeface="+mn-lt"/>
              </a:rPr>
              <a:t>Generated</a:t>
            </a:r>
            <a:r>
              <a:rPr lang="fr-FR" sz="4000" b="1" dirty="0">
                <a:latin typeface="+mn-lt"/>
              </a:rPr>
              <a:t> </a:t>
            </a:r>
            <a:r>
              <a:rPr lang="fr-FR" sz="4000" b="1" dirty="0" err="1">
                <a:latin typeface="+mn-lt"/>
              </a:rPr>
              <a:t>datasets</a:t>
            </a:r>
            <a:r>
              <a:rPr lang="fr-FR" sz="4000" b="1" dirty="0">
                <a:latin typeface="+mn-lt"/>
              </a:rPr>
              <a:t>)</a:t>
            </a:r>
          </a:p>
        </p:txBody>
      </p:sp>
      <p:sp>
        <p:nvSpPr>
          <p:cNvPr id="3" name="Sous-titre 2">
            <a:extLst>
              <a:ext uri="{FF2B5EF4-FFF2-40B4-BE49-F238E27FC236}">
                <a16:creationId xmlns:a16="http://schemas.microsoft.com/office/drawing/2014/main" id="{29B60EEB-04E7-D109-0DF6-DBB747AD279E}"/>
              </a:ext>
            </a:extLst>
          </p:cNvPr>
          <p:cNvSpPr>
            <a:spLocks noGrp="1"/>
          </p:cNvSpPr>
          <p:nvPr>
            <p:ph type="subTitle" idx="1"/>
          </p:nvPr>
        </p:nvSpPr>
        <p:spPr>
          <a:xfrm>
            <a:off x="2839233" y="4124667"/>
            <a:ext cx="6513534" cy="448081"/>
          </a:xfrm>
        </p:spPr>
        <p:txBody>
          <a:bodyPr/>
          <a:lstStyle/>
          <a:p>
            <a:pPr algn="ctr"/>
            <a:r>
              <a:rPr lang="fr-FR" dirty="0"/>
              <a:t>réalisé par El </a:t>
            </a:r>
            <a:r>
              <a:rPr lang="fr-FR" dirty="0" err="1"/>
              <a:t>Akkaoui</a:t>
            </a:r>
            <a:r>
              <a:rPr lang="fr-FR" dirty="0"/>
              <a:t> Adam</a:t>
            </a:r>
          </a:p>
        </p:txBody>
      </p:sp>
      <p:sp>
        <p:nvSpPr>
          <p:cNvPr id="5" name="Rectangle 4">
            <a:extLst>
              <a:ext uri="{FF2B5EF4-FFF2-40B4-BE49-F238E27FC236}">
                <a16:creationId xmlns:a16="http://schemas.microsoft.com/office/drawing/2014/main" id="{82B1EA8A-0B8C-04DE-E027-72F45E77EC9E}"/>
              </a:ext>
            </a:extLst>
          </p:cNvPr>
          <p:cNvSpPr/>
          <p:nvPr/>
        </p:nvSpPr>
        <p:spPr>
          <a:xfrm>
            <a:off x="7620821" y="5582762"/>
            <a:ext cx="3710073" cy="369332"/>
          </a:xfrm>
          <a:prstGeom prst="rect">
            <a:avLst/>
          </a:prstGeom>
        </p:spPr>
        <p:txBody>
          <a:bodyPr wrap="square">
            <a:spAutoFit/>
          </a:bodyPr>
          <a:lstStyle/>
          <a:p>
            <a:pPr algn="ctr"/>
            <a:r>
              <a:rPr lang="fr-FR" b="1" dirty="0">
                <a:solidFill>
                  <a:schemeClr val="accent2"/>
                </a:solidFill>
              </a:rPr>
              <a:t>Présenté le : </a:t>
            </a:r>
            <a:r>
              <a:rPr lang="fr-FR">
                <a:solidFill>
                  <a:schemeClr val="accent1">
                    <a:lumMod val="75000"/>
                  </a:schemeClr>
                </a:solidFill>
              </a:rPr>
              <a:t>	</a:t>
            </a:r>
            <a:r>
              <a:rPr lang="fr-FR" b="1"/>
              <a:t>10/04/2025</a:t>
            </a:r>
            <a:endParaRPr lang="en-US" b="1" dirty="0"/>
          </a:p>
        </p:txBody>
      </p:sp>
      <p:sp>
        <p:nvSpPr>
          <p:cNvPr id="6" name="Subtitle 2">
            <a:extLst>
              <a:ext uri="{FF2B5EF4-FFF2-40B4-BE49-F238E27FC236}">
                <a16:creationId xmlns:a16="http://schemas.microsoft.com/office/drawing/2014/main" id="{F40EFCA7-F949-DF4F-66D8-C2404AC7E69C}"/>
              </a:ext>
            </a:extLst>
          </p:cNvPr>
          <p:cNvSpPr txBox="1">
            <a:spLocks/>
          </p:cNvSpPr>
          <p:nvPr/>
        </p:nvSpPr>
        <p:spPr>
          <a:xfrm>
            <a:off x="0" y="4809754"/>
            <a:ext cx="6513534" cy="1888902"/>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None/>
            </a:pPr>
            <a:r>
              <a:rPr lang="fr-FR" sz="1800" dirty="0">
                <a:solidFill>
                  <a:schemeClr val="accent1">
                    <a:lumMod val="75000"/>
                  </a:schemeClr>
                </a:solidFill>
              </a:rPr>
              <a:t>		</a:t>
            </a:r>
            <a:r>
              <a:rPr lang="fr-FR" sz="1800" b="1" dirty="0">
                <a:solidFill>
                  <a:schemeClr val="accent2"/>
                </a:solidFill>
              </a:rPr>
              <a:t>Module : </a:t>
            </a:r>
            <a:r>
              <a:rPr lang="fr-FR" sz="1800" b="1" dirty="0">
                <a:ea typeface="Open Sans Light" panose="020B0306030504020204" pitchFamily="34" charset="0"/>
                <a:cs typeface="Open Sans Light" panose="020B0306030504020204" pitchFamily="34" charset="0"/>
              </a:rPr>
              <a:t>Probabilités et statistiques pour l’IA</a:t>
            </a:r>
            <a:r>
              <a:rPr lang="fr-FR" sz="1800" b="1" dirty="0">
                <a:solidFill>
                  <a:schemeClr val="accent2"/>
                </a:solidFill>
              </a:rPr>
              <a:t> </a:t>
            </a:r>
          </a:p>
        </p:txBody>
      </p:sp>
      <p:sp>
        <p:nvSpPr>
          <p:cNvPr id="7" name="TextBox 3">
            <a:extLst>
              <a:ext uri="{FF2B5EF4-FFF2-40B4-BE49-F238E27FC236}">
                <a16:creationId xmlns:a16="http://schemas.microsoft.com/office/drawing/2014/main" id="{5B028938-D734-4527-522E-1CCC2B3E0752}"/>
              </a:ext>
            </a:extLst>
          </p:cNvPr>
          <p:cNvSpPr txBox="1"/>
          <p:nvPr/>
        </p:nvSpPr>
        <p:spPr>
          <a:xfrm>
            <a:off x="2766029" y="179463"/>
            <a:ext cx="6906126" cy="1846659"/>
          </a:xfrm>
          <a:prstGeom prst="rect">
            <a:avLst/>
          </a:prstGeom>
          <a:noFill/>
        </p:spPr>
        <p:txBody>
          <a:bodyPr wrap="square" rtlCol="0">
            <a:spAutoFit/>
          </a:bodyPr>
          <a:lstStyle/>
          <a:p>
            <a:pPr algn="ctr"/>
            <a:r>
              <a:rPr lang="fr-FR" sz="1600" dirty="0">
                <a:ea typeface="Open Sans Light" panose="020B0306030504020204" pitchFamily="34" charset="0"/>
                <a:cs typeface="Open Sans Light" panose="020B0306030504020204" pitchFamily="34" charset="0"/>
              </a:rPr>
              <a:t>UNIVERSITE IBN  TOFAIL</a:t>
            </a:r>
          </a:p>
          <a:p>
            <a:pPr algn="ctr"/>
            <a:r>
              <a:rPr lang="fr-FR" sz="1600" dirty="0">
                <a:ea typeface="Open Sans Light" panose="020B0306030504020204" pitchFamily="34" charset="0"/>
                <a:cs typeface="Open Sans Light" panose="020B0306030504020204" pitchFamily="34" charset="0"/>
              </a:rPr>
              <a:t>FACULTE DES SCIENCES</a:t>
            </a:r>
          </a:p>
          <a:p>
            <a:pPr algn="ctr"/>
            <a:r>
              <a:rPr lang="fr-FR" dirty="0"/>
              <a:t>Département d’Informatique</a:t>
            </a:r>
            <a:endParaRPr lang="fr-FR" sz="2000" dirty="0">
              <a:ea typeface="Open Sans Light" panose="020B0306030504020204" pitchFamily="34" charset="0"/>
              <a:cs typeface="Open Sans Light" panose="020B0306030504020204" pitchFamily="34" charset="0"/>
            </a:endParaRPr>
          </a:p>
          <a:p>
            <a:pPr algn="ctr"/>
            <a:r>
              <a:rPr lang="fr-FR" sz="2400" b="1" dirty="0">
                <a:ea typeface="Open Sans Light" panose="020B0306030504020204" pitchFamily="34" charset="0"/>
                <a:cs typeface="Open Sans Light" panose="020B0306030504020204" pitchFamily="34" charset="0"/>
              </a:rPr>
              <a:t>Filière Ingénierie des Systèmes Intelligents (ISI)</a:t>
            </a:r>
          </a:p>
          <a:p>
            <a:pPr algn="ctr"/>
            <a:r>
              <a:rPr lang="fr-FR" sz="2000" b="1" dirty="0">
                <a:ea typeface="Open Sans Light" panose="020B0306030504020204" pitchFamily="34" charset="0"/>
                <a:cs typeface="Open Sans Light" panose="020B0306030504020204" pitchFamily="34" charset="0"/>
              </a:rPr>
              <a:t>Mini-Projet</a:t>
            </a:r>
            <a:endParaRPr lang="fr-FR" sz="2000" dirty="0">
              <a:ea typeface="Open Sans Light" panose="020B0306030504020204" pitchFamily="34" charset="0"/>
              <a:cs typeface="Open Sans Light" panose="020B0306030504020204" pitchFamily="34" charset="0"/>
            </a:endParaRPr>
          </a:p>
          <a:p>
            <a:pPr algn="ctr"/>
            <a:r>
              <a:rPr lang="fr-FR" sz="2000" dirty="0">
                <a:ea typeface="Open Sans Light" panose="020B0306030504020204" pitchFamily="34" charset="0"/>
                <a:cs typeface="Open Sans Light" panose="020B0306030504020204" pitchFamily="34" charset="0"/>
              </a:rPr>
              <a:t>intitulé</a:t>
            </a:r>
            <a:endParaRPr lang="en-US" dirty="0">
              <a:ea typeface="Open Sans Light" panose="020B0306030504020204" pitchFamily="34" charset="0"/>
              <a:cs typeface="Open Sans Light" panose="020B0306030504020204" pitchFamily="34" charset="0"/>
            </a:endParaRPr>
          </a:p>
        </p:txBody>
      </p:sp>
      <p:sp>
        <p:nvSpPr>
          <p:cNvPr id="8" name="TextBox 6">
            <a:extLst>
              <a:ext uri="{FF2B5EF4-FFF2-40B4-BE49-F238E27FC236}">
                <a16:creationId xmlns:a16="http://schemas.microsoft.com/office/drawing/2014/main" id="{79CB1A6F-544A-5A55-B117-19AE393C2E32}"/>
              </a:ext>
            </a:extLst>
          </p:cNvPr>
          <p:cNvSpPr txBox="1"/>
          <p:nvPr/>
        </p:nvSpPr>
        <p:spPr>
          <a:xfrm>
            <a:off x="9672155" y="6481101"/>
            <a:ext cx="2432032" cy="369332"/>
          </a:xfrm>
          <a:prstGeom prst="rect">
            <a:avLst/>
          </a:prstGeom>
          <a:noFill/>
        </p:spPr>
        <p:txBody>
          <a:bodyPr wrap="square" rtlCol="0">
            <a:spAutoFit/>
          </a:bodyPr>
          <a:lstStyle/>
          <a:p>
            <a:r>
              <a:rPr lang="fr-FR" dirty="0"/>
              <a:t>Semestre 1 : 2024/2025</a:t>
            </a:r>
            <a:endParaRPr lang="en-US" dirty="0"/>
          </a:p>
        </p:txBody>
      </p:sp>
      <p:pic>
        <p:nvPicPr>
          <p:cNvPr id="1026" name="Picture 2" descr="Université Ibn Tofaïl | Kenitra">
            <a:extLst>
              <a:ext uri="{FF2B5EF4-FFF2-40B4-BE49-F238E27FC236}">
                <a16:creationId xmlns:a16="http://schemas.microsoft.com/office/drawing/2014/main" id="{3CE3394D-A119-A8A3-4C23-012629378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131" y="138730"/>
            <a:ext cx="1785821" cy="1723427"/>
          </a:xfrm>
          <a:prstGeom prst="roundRect">
            <a:avLst>
              <a:gd name="adj" fmla="val 23265"/>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9" name="Picture 2" descr="وزارة التربية الوطنية والتعليم الأولي والرياضة (المغرب) - ويكيبيديا">
            <a:extLst>
              <a:ext uri="{FF2B5EF4-FFF2-40B4-BE49-F238E27FC236}">
                <a16:creationId xmlns:a16="http://schemas.microsoft.com/office/drawing/2014/main" id="{F6DF54B6-6DB4-57C8-698F-105D57028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0048" y="138730"/>
            <a:ext cx="1785821" cy="1723427"/>
          </a:xfrm>
          <a:prstGeom prst="roundRect">
            <a:avLst>
              <a:gd name="adj" fmla="val 16667"/>
            </a:avLst>
          </a:prstGeom>
          <a:solidFill>
            <a:schemeClr val="tx1"/>
          </a:solidFill>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2211803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Box 19">
            <a:extLst>
              <a:ext uri="{FF2B5EF4-FFF2-40B4-BE49-F238E27FC236}">
                <a16:creationId xmlns:a16="http://schemas.microsoft.com/office/drawing/2014/main" id="{02182153-3792-7697-C528-4F1680D234CB}"/>
              </a:ext>
            </a:extLst>
          </p:cNvPr>
          <p:cNvSpPr txBox="1"/>
          <p:nvPr/>
        </p:nvSpPr>
        <p:spPr>
          <a:xfrm>
            <a:off x="5310589" y="108372"/>
            <a:ext cx="2893939" cy="923330"/>
          </a:xfrm>
          <a:prstGeom prst="rect">
            <a:avLst/>
          </a:prstGeom>
          <a:noFill/>
        </p:spPr>
        <p:txBody>
          <a:bodyPr wrap="square" rtlCol="0" anchor="ctr">
            <a:spAutoFit/>
          </a:bodyPr>
          <a:lstStyle/>
          <a:p>
            <a:r>
              <a:rPr lang="en-US" altLang="ko-KR" sz="5400" dirty="0">
                <a:cs typeface="Arial" pitchFamily="34" charset="0"/>
              </a:rPr>
              <a:t>Plan</a:t>
            </a:r>
            <a:endParaRPr lang="ko-KR" altLang="en-US" sz="5400" dirty="0">
              <a:cs typeface="Arial" pitchFamily="34" charset="0"/>
            </a:endParaRPr>
          </a:p>
        </p:txBody>
      </p:sp>
      <p:grpSp>
        <p:nvGrpSpPr>
          <p:cNvPr id="91" name="Group 28">
            <a:extLst>
              <a:ext uri="{FF2B5EF4-FFF2-40B4-BE49-F238E27FC236}">
                <a16:creationId xmlns:a16="http://schemas.microsoft.com/office/drawing/2014/main" id="{605405ED-ABC7-BD52-237E-6C0ABFF11049}"/>
              </a:ext>
            </a:extLst>
          </p:cNvPr>
          <p:cNvGrpSpPr/>
          <p:nvPr/>
        </p:nvGrpSpPr>
        <p:grpSpPr>
          <a:xfrm>
            <a:off x="805722" y="1766093"/>
            <a:ext cx="4574057" cy="1067019"/>
            <a:chOff x="7691620" y="783218"/>
            <a:chExt cx="4136075" cy="1067019"/>
          </a:xfrm>
        </p:grpSpPr>
        <p:sp>
          <p:nvSpPr>
            <p:cNvPr id="92" name="TextBox 5">
              <a:extLst>
                <a:ext uri="{FF2B5EF4-FFF2-40B4-BE49-F238E27FC236}">
                  <a16:creationId xmlns:a16="http://schemas.microsoft.com/office/drawing/2014/main" id="{98D4D10D-8435-BF63-061F-7FF652569BB2}"/>
                </a:ext>
              </a:extLst>
            </p:cNvPr>
            <p:cNvSpPr txBox="1"/>
            <p:nvPr/>
          </p:nvSpPr>
          <p:spPr>
            <a:xfrm>
              <a:off x="7709198" y="1573238"/>
              <a:ext cx="3733865" cy="276999"/>
            </a:xfrm>
            <a:prstGeom prst="rect">
              <a:avLst/>
            </a:prstGeom>
            <a:noFill/>
          </p:spPr>
          <p:txBody>
            <a:bodyPr wrap="square" rtlCol="0">
              <a:spAutoFit/>
            </a:bodyPr>
            <a:lstStyle/>
            <a:p>
              <a:r>
                <a:rPr lang="fr-FR" altLang="ko-KR" sz="1200" dirty="0">
                  <a:cs typeface="Arial" pitchFamily="34" charset="0"/>
                </a:rPr>
                <a:t>Présentation générale des concepts abordés dans ce travail.</a:t>
              </a:r>
            </a:p>
          </p:txBody>
        </p:sp>
        <p:sp>
          <p:nvSpPr>
            <p:cNvPr id="93" name="TextBox 7">
              <a:extLst>
                <a:ext uri="{FF2B5EF4-FFF2-40B4-BE49-F238E27FC236}">
                  <a16:creationId xmlns:a16="http://schemas.microsoft.com/office/drawing/2014/main" id="{7288A9FF-C395-3356-C366-A6D53FE7CFB5}"/>
                </a:ext>
              </a:extLst>
            </p:cNvPr>
            <p:cNvSpPr txBox="1"/>
            <p:nvPr/>
          </p:nvSpPr>
          <p:spPr>
            <a:xfrm>
              <a:off x="7691620" y="1085014"/>
              <a:ext cx="3751443" cy="400110"/>
            </a:xfrm>
            <a:prstGeom prst="rect">
              <a:avLst/>
            </a:prstGeom>
            <a:noFill/>
          </p:spPr>
          <p:txBody>
            <a:bodyPr wrap="square" lIns="108000" rIns="108000" rtlCol="0">
              <a:spAutoFit/>
            </a:bodyPr>
            <a:lstStyle/>
            <a:p>
              <a:r>
                <a:rPr lang="en-US" altLang="ko-KR" sz="2000" b="1" dirty="0">
                  <a:solidFill>
                    <a:schemeClr val="accent2"/>
                  </a:solidFill>
                  <a:cs typeface="Arial" pitchFamily="34" charset="0"/>
                </a:rPr>
                <a:t>Introduction</a:t>
              </a:r>
            </a:p>
          </p:txBody>
        </p:sp>
        <p:sp>
          <p:nvSpPr>
            <p:cNvPr id="94" name="TextBox 8">
              <a:extLst>
                <a:ext uri="{FF2B5EF4-FFF2-40B4-BE49-F238E27FC236}">
                  <a16:creationId xmlns:a16="http://schemas.microsoft.com/office/drawing/2014/main" id="{37385169-E155-59EE-5271-E6E6BA43B55C}"/>
                </a:ext>
              </a:extLst>
            </p:cNvPr>
            <p:cNvSpPr txBox="1"/>
            <p:nvPr/>
          </p:nvSpPr>
          <p:spPr>
            <a:xfrm>
              <a:off x="10566725" y="783218"/>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01</a:t>
              </a:r>
              <a:endParaRPr lang="ko-KR" altLang="en-US" sz="6000" b="1" dirty="0">
                <a:solidFill>
                  <a:schemeClr val="accent2">
                    <a:alpha val="20000"/>
                  </a:schemeClr>
                </a:solidFill>
                <a:cs typeface="Arial" pitchFamily="34" charset="0"/>
              </a:endParaRPr>
            </a:p>
          </p:txBody>
        </p:sp>
      </p:grpSp>
      <p:grpSp>
        <p:nvGrpSpPr>
          <p:cNvPr id="95" name="Group 26">
            <a:extLst>
              <a:ext uri="{FF2B5EF4-FFF2-40B4-BE49-F238E27FC236}">
                <a16:creationId xmlns:a16="http://schemas.microsoft.com/office/drawing/2014/main" id="{03E92E86-1299-434D-7FA3-CAAEE40E96EA}"/>
              </a:ext>
            </a:extLst>
          </p:cNvPr>
          <p:cNvGrpSpPr/>
          <p:nvPr/>
        </p:nvGrpSpPr>
        <p:grpSpPr>
          <a:xfrm>
            <a:off x="805722" y="3569507"/>
            <a:ext cx="4583121" cy="1240384"/>
            <a:chOff x="7691620" y="2011683"/>
            <a:chExt cx="4091089" cy="1240384"/>
          </a:xfrm>
        </p:grpSpPr>
        <p:sp>
          <p:nvSpPr>
            <p:cNvPr id="96" name="TextBox 10">
              <a:extLst>
                <a:ext uri="{FF2B5EF4-FFF2-40B4-BE49-F238E27FC236}">
                  <a16:creationId xmlns:a16="http://schemas.microsoft.com/office/drawing/2014/main" id="{A0535B21-C076-2E67-DF8A-74D089BD17AF}"/>
                </a:ext>
              </a:extLst>
            </p:cNvPr>
            <p:cNvSpPr txBox="1"/>
            <p:nvPr/>
          </p:nvSpPr>
          <p:spPr>
            <a:xfrm>
              <a:off x="7709198" y="2790402"/>
              <a:ext cx="3733865" cy="461665"/>
            </a:xfrm>
            <a:prstGeom prst="rect">
              <a:avLst/>
            </a:prstGeom>
            <a:noFill/>
          </p:spPr>
          <p:txBody>
            <a:bodyPr wrap="square" rtlCol="0">
              <a:spAutoFit/>
            </a:bodyPr>
            <a:lstStyle/>
            <a:p>
              <a:r>
                <a:rPr lang="fr-FR" altLang="ko-KR" sz="1200" dirty="0">
                  <a:cs typeface="Arial" pitchFamily="34" charset="0"/>
                </a:rPr>
                <a:t>Présentation des méthodes d’ensemble en apprentissage supervisé et focus sur </a:t>
              </a:r>
              <a:r>
                <a:rPr lang="fr-FR" altLang="ko-KR" sz="1200" dirty="0" err="1">
                  <a:cs typeface="Arial" pitchFamily="34" charset="0"/>
                </a:rPr>
                <a:t>Random</a:t>
              </a:r>
              <a:r>
                <a:rPr lang="fr-FR" altLang="ko-KR" sz="1200" dirty="0">
                  <a:cs typeface="Arial" pitchFamily="34" charset="0"/>
                </a:rPr>
                <a:t> Forest et Gradient </a:t>
              </a:r>
              <a:r>
                <a:rPr lang="fr-FR" altLang="ko-KR" sz="1200" dirty="0" err="1">
                  <a:cs typeface="Arial" pitchFamily="34" charset="0"/>
                </a:rPr>
                <a:t>Boosting</a:t>
              </a:r>
              <a:r>
                <a:rPr lang="fr-FR" altLang="ko-KR" sz="1200" dirty="0">
                  <a:cs typeface="Arial" pitchFamily="34" charset="0"/>
                </a:rPr>
                <a:t>.</a:t>
              </a:r>
              <a:endParaRPr lang="en-US" altLang="ko-KR" sz="1200" dirty="0">
                <a:cs typeface="Arial" pitchFamily="34" charset="0"/>
              </a:endParaRPr>
            </a:p>
          </p:txBody>
        </p:sp>
        <p:sp>
          <p:nvSpPr>
            <p:cNvPr id="97" name="TextBox 12">
              <a:extLst>
                <a:ext uri="{FF2B5EF4-FFF2-40B4-BE49-F238E27FC236}">
                  <a16:creationId xmlns:a16="http://schemas.microsoft.com/office/drawing/2014/main" id="{3D105E4C-5F12-4544-C3A2-D505B020D8BA}"/>
                </a:ext>
              </a:extLst>
            </p:cNvPr>
            <p:cNvSpPr txBox="1"/>
            <p:nvPr/>
          </p:nvSpPr>
          <p:spPr>
            <a:xfrm>
              <a:off x="7691620" y="2302178"/>
              <a:ext cx="3751443" cy="400110"/>
            </a:xfrm>
            <a:prstGeom prst="rect">
              <a:avLst/>
            </a:prstGeom>
            <a:noFill/>
          </p:spPr>
          <p:txBody>
            <a:bodyPr wrap="square" lIns="108000" rIns="108000" rtlCol="0">
              <a:spAutoFit/>
            </a:bodyPr>
            <a:lstStyle/>
            <a:p>
              <a:r>
                <a:rPr lang="en-US" altLang="ko-KR" sz="2000" b="1" dirty="0">
                  <a:solidFill>
                    <a:schemeClr val="accent2"/>
                  </a:solidFill>
                  <a:cs typeface="Arial" pitchFamily="34" charset="0"/>
                </a:rPr>
                <a:t>Ensemble Methods</a:t>
              </a:r>
            </a:p>
          </p:txBody>
        </p:sp>
        <p:sp>
          <p:nvSpPr>
            <p:cNvPr id="98" name="TextBox 13">
              <a:extLst>
                <a:ext uri="{FF2B5EF4-FFF2-40B4-BE49-F238E27FC236}">
                  <a16:creationId xmlns:a16="http://schemas.microsoft.com/office/drawing/2014/main" id="{7533AE38-1CC2-6561-22B9-A50B39244B43}"/>
                </a:ext>
              </a:extLst>
            </p:cNvPr>
            <p:cNvSpPr txBox="1"/>
            <p:nvPr/>
          </p:nvSpPr>
          <p:spPr>
            <a:xfrm>
              <a:off x="10521739" y="2011683"/>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02</a:t>
              </a:r>
              <a:endParaRPr lang="ko-KR" altLang="en-US" sz="6000" b="1" dirty="0">
                <a:solidFill>
                  <a:schemeClr val="accent2">
                    <a:alpha val="20000"/>
                  </a:schemeClr>
                </a:solidFill>
                <a:cs typeface="Arial" pitchFamily="34" charset="0"/>
              </a:endParaRPr>
            </a:p>
          </p:txBody>
        </p:sp>
      </p:grpSp>
      <p:grpSp>
        <p:nvGrpSpPr>
          <p:cNvPr id="104" name="Group 30">
            <a:extLst>
              <a:ext uri="{FF2B5EF4-FFF2-40B4-BE49-F238E27FC236}">
                <a16:creationId xmlns:a16="http://schemas.microsoft.com/office/drawing/2014/main" id="{CF787328-E078-1CBD-C6FF-FE24F3CB7BBB}"/>
              </a:ext>
            </a:extLst>
          </p:cNvPr>
          <p:cNvGrpSpPr/>
          <p:nvPr/>
        </p:nvGrpSpPr>
        <p:grpSpPr>
          <a:xfrm>
            <a:off x="6698430" y="3569507"/>
            <a:ext cx="4542085" cy="1240384"/>
            <a:chOff x="7691620" y="4446010"/>
            <a:chExt cx="4091089" cy="1240384"/>
          </a:xfrm>
        </p:grpSpPr>
        <p:grpSp>
          <p:nvGrpSpPr>
            <p:cNvPr id="105" name="Group 3">
              <a:extLst>
                <a:ext uri="{FF2B5EF4-FFF2-40B4-BE49-F238E27FC236}">
                  <a16:creationId xmlns:a16="http://schemas.microsoft.com/office/drawing/2014/main" id="{18483DA4-47F9-A805-B9CC-BEC44985FE2F}"/>
                </a:ext>
              </a:extLst>
            </p:cNvPr>
            <p:cNvGrpSpPr/>
            <p:nvPr/>
          </p:nvGrpSpPr>
          <p:grpSpPr>
            <a:xfrm>
              <a:off x="7691620" y="4736505"/>
              <a:ext cx="3751443" cy="949889"/>
              <a:chOff x="7691620" y="4736505"/>
              <a:chExt cx="3751443" cy="949889"/>
            </a:xfrm>
          </p:grpSpPr>
          <p:sp>
            <p:nvSpPr>
              <p:cNvPr id="107" name="TextBox 21">
                <a:extLst>
                  <a:ext uri="{FF2B5EF4-FFF2-40B4-BE49-F238E27FC236}">
                    <a16:creationId xmlns:a16="http://schemas.microsoft.com/office/drawing/2014/main" id="{62AA8F16-8200-CD94-A677-AE1491CAAA49}"/>
                  </a:ext>
                </a:extLst>
              </p:cNvPr>
              <p:cNvSpPr txBox="1"/>
              <p:nvPr/>
            </p:nvSpPr>
            <p:spPr>
              <a:xfrm>
                <a:off x="7709198" y="5224729"/>
                <a:ext cx="3733865" cy="461665"/>
              </a:xfrm>
              <a:prstGeom prst="rect">
                <a:avLst/>
              </a:prstGeom>
              <a:noFill/>
            </p:spPr>
            <p:txBody>
              <a:bodyPr wrap="square" rtlCol="0">
                <a:spAutoFit/>
              </a:bodyPr>
              <a:lstStyle/>
              <a:p>
                <a:r>
                  <a:rPr lang="fr-FR" altLang="ko-KR" sz="1200" dirty="0">
                    <a:cs typeface="Arial" pitchFamily="34" charset="0"/>
                  </a:rPr>
                  <a:t>Synthèse des résultats et réflexion sur l’importance des méthodes étudiées.</a:t>
                </a:r>
              </a:p>
            </p:txBody>
          </p:sp>
          <p:sp>
            <p:nvSpPr>
              <p:cNvPr id="108" name="TextBox 23">
                <a:extLst>
                  <a:ext uri="{FF2B5EF4-FFF2-40B4-BE49-F238E27FC236}">
                    <a16:creationId xmlns:a16="http://schemas.microsoft.com/office/drawing/2014/main" id="{9FFEF552-BBBC-2518-9966-86258C90E35F}"/>
                  </a:ext>
                </a:extLst>
              </p:cNvPr>
              <p:cNvSpPr txBox="1"/>
              <p:nvPr/>
            </p:nvSpPr>
            <p:spPr>
              <a:xfrm>
                <a:off x="7691620" y="4736505"/>
                <a:ext cx="3751443" cy="400110"/>
              </a:xfrm>
              <a:prstGeom prst="rect">
                <a:avLst/>
              </a:prstGeom>
              <a:noFill/>
            </p:spPr>
            <p:txBody>
              <a:bodyPr wrap="square" lIns="108000" rIns="108000" rtlCol="0">
                <a:spAutoFit/>
              </a:bodyPr>
              <a:lstStyle/>
              <a:p>
                <a:r>
                  <a:rPr lang="en-US" altLang="ko-KR" sz="2000" b="1" dirty="0">
                    <a:solidFill>
                      <a:schemeClr val="accent2"/>
                    </a:solidFill>
                    <a:cs typeface="Arial" pitchFamily="34" charset="0"/>
                  </a:rPr>
                  <a:t>Conclusion</a:t>
                </a:r>
              </a:p>
            </p:txBody>
          </p:sp>
        </p:grpSp>
        <p:sp>
          <p:nvSpPr>
            <p:cNvPr id="106" name="TextBox 24">
              <a:extLst>
                <a:ext uri="{FF2B5EF4-FFF2-40B4-BE49-F238E27FC236}">
                  <a16:creationId xmlns:a16="http://schemas.microsoft.com/office/drawing/2014/main" id="{C3CF75CE-50E9-6F56-1B55-38C1B7D696CD}"/>
                </a:ext>
              </a:extLst>
            </p:cNvPr>
            <p:cNvSpPr txBox="1"/>
            <p:nvPr/>
          </p:nvSpPr>
          <p:spPr>
            <a:xfrm>
              <a:off x="10521739" y="4446010"/>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04</a:t>
              </a:r>
              <a:endParaRPr lang="ko-KR" altLang="en-US" sz="6000" b="1" dirty="0">
                <a:solidFill>
                  <a:schemeClr val="accent2">
                    <a:alpha val="20000"/>
                  </a:schemeClr>
                </a:solidFill>
                <a:cs typeface="Arial" pitchFamily="34" charset="0"/>
              </a:endParaRPr>
            </a:p>
          </p:txBody>
        </p:sp>
      </p:grpSp>
      <p:sp>
        <p:nvSpPr>
          <p:cNvPr id="6" name="Espace réservé du numéro de diapositive 5">
            <a:extLst>
              <a:ext uri="{FF2B5EF4-FFF2-40B4-BE49-F238E27FC236}">
                <a16:creationId xmlns:a16="http://schemas.microsoft.com/office/drawing/2014/main" id="{DA6F11AE-024E-2464-7632-8E60F5505441}"/>
              </a:ext>
            </a:extLst>
          </p:cNvPr>
          <p:cNvSpPr>
            <a:spLocks noGrp="1"/>
          </p:cNvSpPr>
          <p:nvPr>
            <p:ph type="sldNum" sz="quarter" idx="12"/>
          </p:nvPr>
        </p:nvSpPr>
        <p:spPr>
          <a:xfrm>
            <a:off x="0" y="6480175"/>
            <a:ext cx="245643" cy="377825"/>
          </a:xfrm>
        </p:spPr>
        <p:txBody>
          <a:bodyPr/>
          <a:lstStyle/>
          <a:p>
            <a:fld id="{A3401A20-A1E0-4E43-B782-1D8AAEB2FCB1}" type="slidenum">
              <a:rPr lang="fr-FR" smtClean="0"/>
              <a:t>2</a:t>
            </a:fld>
            <a:endParaRPr lang="fr-FR" dirty="0"/>
          </a:p>
        </p:txBody>
      </p:sp>
      <p:grpSp>
        <p:nvGrpSpPr>
          <p:cNvPr id="2" name="Group 29">
            <a:extLst>
              <a:ext uri="{FF2B5EF4-FFF2-40B4-BE49-F238E27FC236}">
                <a16:creationId xmlns:a16="http://schemas.microsoft.com/office/drawing/2014/main" id="{2BE82E41-9D28-BF9A-82CB-84841FB27A69}"/>
              </a:ext>
            </a:extLst>
          </p:cNvPr>
          <p:cNvGrpSpPr/>
          <p:nvPr/>
        </p:nvGrpSpPr>
        <p:grpSpPr>
          <a:xfrm>
            <a:off x="6677086" y="1726038"/>
            <a:ext cx="4563429" cy="1240384"/>
            <a:chOff x="7691620" y="3228847"/>
            <a:chExt cx="4091089" cy="1240384"/>
          </a:xfrm>
        </p:grpSpPr>
        <p:grpSp>
          <p:nvGrpSpPr>
            <p:cNvPr id="3" name="Group 25">
              <a:extLst>
                <a:ext uri="{FF2B5EF4-FFF2-40B4-BE49-F238E27FC236}">
                  <a16:creationId xmlns:a16="http://schemas.microsoft.com/office/drawing/2014/main" id="{F3E43CAC-DA88-79FC-F21F-A4AAED2F7D26}"/>
                </a:ext>
              </a:extLst>
            </p:cNvPr>
            <p:cNvGrpSpPr/>
            <p:nvPr/>
          </p:nvGrpSpPr>
          <p:grpSpPr>
            <a:xfrm>
              <a:off x="7691620" y="3519342"/>
              <a:ext cx="3751443" cy="949889"/>
              <a:chOff x="7691620" y="3519342"/>
              <a:chExt cx="3751443" cy="949889"/>
            </a:xfrm>
          </p:grpSpPr>
          <p:sp>
            <p:nvSpPr>
              <p:cNvPr id="5" name="TextBox 15">
                <a:extLst>
                  <a:ext uri="{FF2B5EF4-FFF2-40B4-BE49-F238E27FC236}">
                    <a16:creationId xmlns:a16="http://schemas.microsoft.com/office/drawing/2014/main" id="{E813F3E3-0621-83C4-B6AD-F7261A51724F}"/>
                  </a:ext>
                </a:extLst>
              </p:cNvPr>
              <p:cNvSpPr txBox="1"/>
              <p:nvPr/>
            </p:nvSpPr>
            <p:spPr>
              <a:xfrm>
                <a:off x="7709198" y="4007566"/>
                <a:ext cx="3733865" cy="461665"/>
              </a:xfrm>
              <a:prstGeom prst="rect">
                <a:avLst/>
              </a:prstGeom>
              <a:noFill/>
            </p:spPr>
            <p:txBody>
              <a:bodyPr wrap="square" rtlCol="0">
                <a:spAutoFit/>
              </a:bodyPr>
              <a:lstStyle/>
              <a:p>
                <a:r>
                  <a:rPr lang="fr-FR" altLang="ko-KR" sz="1200" dirty="0">
                    <a:cs typeface="Arial" pitchFamily="34" charset="0"/>
                  </a:rPr>
                  <a:t>Présentation des jeux de données générés artificiellement et exemple d’application en classification</a:t>
                </a:r>
              </a:p>
            </p:txBody>
          </p:sp>
          <p:sp>
            <p:nvSpPr>
              <p:cNvPr id="7" name="TextBox 17">
                <a:extLst>
                  <a:ext uri="{FF2B5EF4-FFF2-40B4-BE49-F238E27FC236}">
                    <a16:creationId xmlns:a16="http://schemas.microsoft.com/office/drawing/2014/main" id="{2127D04D-58B0-DA67-017C-29C9E9E1B7B0}"/>
                  </a:ext>
                </a:extLst>
              </p:cNvPr>
              <p:cNvSpPr txBox="1"/>
              <p:nvPr/>
            </p:nvSpPr>
            <p:spPr>
              <a:xfrm>
                <a:off x="7691620" y="3519342"/>
                <a:ext cx="3751443" cy="400110"/>
              </a:xfrm>
              <a:prstGeom prst="rect">
                <a:avLst/>
              </a:prstGeom>
              <a:noFill/>
            </p:spPr>
            <p:txBody>
              <a:bodyPr wrap="square" lIns="108000" rIns="108000" rtlCol="0">
                <a:spAutoFit/>
              </a:bodyPr>
              <a:lstStyle/>
              <a:p>
                <a:r>
                  <a:rPr lang="en-US" altLang="ko-KR" sz="2000" b="1" dirty="0">
                    <a:solidFill>
                      <a:schemeClr val="accent2"/>
                    </a:solidFill>
                    <a:cs typeface="Arial" pitchFamily="34" charset="0"/>
                  </a:rPr>
                  <a:t>Generated Datasets</a:t>
                </a:r>
              </a:p>
            </p:txBody>
          </p:sp>
        </p:grpSp>
        <p:sp>
          <p:nvSpPr>
            <p:cNvPr id="4" name="TextBox 18">
              <a:extLst>
                <a:ext uri="{FF2B5EF4-FFF2-40B4-BE49-F238E27FC236}">
                  <a16:creationId xmlns:a16="http://schemas.microsoft.com/office/drawing/2014/main" id="{20D9ABDC-E0BF-64D4-5EE1-EDF82329F36D}"/>
                </a:ext>
              </a:extLst>
            </p:cNvPr>
            <p:cNvSpPr txBox="1"/>
            <p:nvPr/>
          </p:nvSpPr>
          <p:spPr>
            <a:xfrm>
              <a:off x="10521739" y="3228847"/>
              <a:ext cx="1260970" cy="1015663"/>
            </a:xfrm>
            <a:prstGeom prst="rect">
              <a:avLst/>
            </a:prstGeom>
            <a:noFill/>
          </p:spPr>
          <p:txBody>
            <a:bodyPr wrap="square" lIns="108000" rIns="108000" rtlCol="0">
              <a:spAutoFit/>
            </a:bodyPr>
            <a:lstStyle/>
            <a:p>
              <a:pPr algn="ctr"/>
              <a:r>
                <a:rPr lang="en-US" altLang="ko-KR" sz="6000" b="1" dirty="0">
                  <a:solidFill>
                    <a:schemeClr val="accent2">
                      <a:alpha val="20000"/>
                    </a:schemeClr>
                  </a:solidFill>
                  <a:cs typeface="Arial" pitchFamily="34" charset="0"/>
                </a:rPr>
                <a:t>03</a:t>
              </a:r>
              <a:endParaRPr lang="ko-KR" altLang="en-US" sz="6000" b="1" dirty="0">
                <a:solidFill>
                  <a:schemeClr val="accent2">
                    <a:alpha val="20000"/>
                  </a:schemeClr>
                </a:solidFill>
                <a:cs typeface="Arial" pitchFamily="34" charset="0"/>
              </a:endParaRPr>
            </a:p>
          </p:txBody>
        </p:sp>
      </p:grpSp>
    </p:spTree>
    <p:extLst>
      <p:ext uri="{BB962C8B-B14F-4D97-AF65-F5344CB8AC3E}">
        <p14:creationId xmlns:p14="http://schemas.microsoft.com/office/powerpoint/2010/main" val="271937536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ZoneTexte 87">
            <a:extLst>
              <a:ext uri="{FF2B5EF4-FFF2-40B4-BE49-F238E27FC236}">
                <a16:creationId xmlns:a16="http://schemas.microsoft.com/office/drawing/2014/main" id="{9DBC806D-DFEC-DE02-C8C8-5CD3A5EC03F1}"/>
              </a:ext>
            </a:extLst>
          </p:cNvPr>
          <p:cNvSpPr txBox="1"/>
          <p:nvPr/>
        </p:nvSpPr>
        <p:spPr>
          <a:xfrm>
            <a:off x="3163033" y="302253"/>
            <a:ext cx="6094602" cy="584775"/>
          </a:xfrm>
          <a:prstGeom prst="rect">
            <a:avLst/>
          </a:prstGeom>
          <a:noFill/>
        </p:spPr>
        <p:txBody>
          <a:bodyPr wrap="square">
            <a:spAutoFit/>
          </a:bodyPr>
          <a:lstStyle/>
          <a:p>
            <a:pPr algn="ctr"/>
            <a:r>
              <a:rPr lang="fr-FR" sz="3200" b="1" dirty="0"/>
              <a:t>Introduction</a:t>
            </a:r>
          </a:p>
        </p:txBody>
      </p:sp>
      <p:sp>
        <p:nvSpPr>
          <p:cNvPr id="89" name="Rectangle : coins arrondis 88">
            <a:extLst>
              <a:ext uri="{FF2B5EF4-FFF2-40B4-BE49-F238E27FC236}">
                <a16:creationId xmlns:a16="http://schemas.microsoft.com/office/drawing/2014/main" id="{1A73D2CE-4D13-D9ED-AF6F-35C4B95F1C8B}"/>
              </a:ext>
            </a:extLst>
          </p:cNvPr>
          <p:cNvSpPr/>
          <p:nvPr/>
        </p:nvSpPr>
        <p:spPr>
          <a:xfrm>
            <a:off x="4479505" y="1240973"/>
            <a:ext cx="3461658" cy="995323"/>
          </a:xfrm>
          <a:prstGeom prst="roundRect">
            <a:avLst/>
          </a:prstGeom>
          <a:noFill/>
          <a:ln>
            <a:solidFill>
              <a:schemeClr val="accent2"/>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b="1" dirty="0">
                <a:solidFill>
                  <a:schemeClr val="tx1"/>
                </a:solidFill>
              </a:rPr>
              <a:t>Machine Learning</a:t>
            </a:r>
          </a:p>
          <a:p>
            <a:pPr algn="ctr"/>
            <a:endParaRPr lang="fr-FR" sz="1200" dirty="0">
              <a:solidFill>
                <a:schemeClr val="bg1"/>
              </a:solidFill>
            </a:endParaRPr>
          </a:p>
        </p:txBody>
      </p:sp>
      <p:sp>
        <p:nvSpPr>
          <p:cNvPr id="90" name="Rectangle : coins arrondis 89">
            <a:extLst>
              <a:ext uri="{FF2B5EF4-FFF2-40B4-BE49-F238E27FC236}">
                <a16:creationId xmlns:a16="http://schemas.microsoft.com/office/drawing/2014/main" id="{5157F7DD-7141-9D0D-A346-4C82B11E6952}"/>
              </a:ext>
            </a:extLst>
          </p:cNvPr>
          <p:cNvSpPr/>
          <p:nvPr/>
        </p:nvSpPr>
        <p:spPr>
          <a:xfrm>
            <a:off x="6699117" y="2799049"/>
            <a:ext cx="4888367" cy="2239479"/>
          </a:xfrm>
          <a:prstGeom prst="roundRect">
            <a:avLst/>
          </a:prstGeom>
          <a:noFill/>
          <a:ln>
            <a:solidFill>
              <a:schemeClr val="accent2"/>
            </a:solidFill>
          </a:ln>
        </p:spPr>
        <p:style>
          <a:lnRef idx="1">
            <a:schemeClr val="dk1"/>
          </a:lnRef>
          <a:fillRef idx="2">
            <a:schemeClr val="dk1"/>
          </a:fillRef>
          <a:effectRef idx="1">
            <a:schemeClr val="dk1"/>
          </a:effectRef>
          <a:fontRef idx="minor">
            <a:schemeClr val="dk1"/>
          </a:fontRef>
        </p:style>
        <p:txBody>
          <a:bodyPr rtlCol="0" anchor="ctr"/>
          <a:lstStyle/>
          <a:p>
            <a:r>
              <a:rPr lang="fr-FR" b="1" dirty="0">
                <a:solidFill>
                  <a:schemeClr val="tx1"/>
                </a:solidFill>
              </a:rPr>
              <a:t>Les méthodes d’apprentissage supervisé (</a:t>
            </a:r>
            <a:r>
              <a:rPr lang="fr-FR" b="1" dirty="0" err="1">
                <a:solidFill>
                  <a:schemeClr val="tx1"/>
                </a:solidFill>
              </a:rPr>
              <a:t>Supervised</a:t>
            </a:r>
            <a:r>
              <a:rPr lang="fr-FR" b="1" dirty="0">
                <a:solidFill>
                  <a:schemeClr val="tx1"/>
                </a:solidFill>
              </a:rPr>
              <a:t> </a:t>
            </a:r>
            <a:r>
              <a:rPr lang="fr-FR" b="1" dirty="0" err="1">
                <a:solidFill>
                  <a:schemeClr val="tx1"/>
                </a:solidFill>
              </a:rPr>
              <a:t>learning</a:t>
            </a:r>
            <a:r>
              <a:rPr lang="fr-FR" b="1" dirty="0">
                <a:solidFill>
                  <a:schemeClr val="tx1"/>
                </a:solidFill>
              </a:rPr>
              <a:t>)</a:t>
            </a:r>
          </a:p>
          <a:p>
            <a:r>
              <a:rPr lang="fr-FR" sz="1200" dirty="0">
                <a:solidFill>
                  <a:schemeClr val="tx1"/>
                </a:solidFill>
              </a:rPr>
              <a:t>L’apprentissage supervisé est l’un des principaux paradigmes du Machine Learning, où un modèle apprend à partir de données étiquetées. Chaque exemple du jeu de données est composé d’un ensemble de caractéristiques (</a:t>
            </a:r>
            <a:r>
              <a:rPr lang="fr-FR" sz="1200" dirty="0" err="1">
                <a:solidFill>
                  <a:schemeClr val="tx1"/>
                </a:solidFill>
              </a:rPr>
              <a:t>features</a:t>
            </a:r>
            <a:r>
              <a:rPr lang="fr-FR" sz="1200" dirty="0">
                <a:solidFill>
                  <a:schemeClr val="tx1"/>
                </a:solidFill>
              </a:rPr>
              <a:t>) et d’une étiquette cible (label), qui représente la valeur attendue. L’objectif du modèle est d’apprendre une fonction d’association entre les entrées et les sorties afin de pouvoir faire des prédictions précises sur de nouvelles données. </a:t>
            </a:r>
          </a:p>
        </p:txBody>
      </p:sp>
      <p:sp>
        <p:nvSpPr>
          <p:cNvPr id="91" name="Rectangle : coins arrondis 90">
            <a:extLst>
              <a:ext uri="{FF2B5EF4-FFF2-40B4-BE49-F238E27FC236}">
                <a16:creationId xmlns:a16="http://schemas.microsoft.com/office/drawing/2014/main" id="{9456DD80-7659-35F7-4068-FA372864455A}"/>
              </a:ext>
            </a:extLst>
          </p:cNvPr>
          <p:cNvSpPr/>
          <p:nvPr/>
        </p:nvSpPr>
        <p:spPr>
          <a:xfrm>
            <a:off x="245963" y="2799050"/>
            <a:ext cx="5766318" cy="2239479"/>
          </a:xfrm>
          <a:prstGeom prst="roundRect">
            <a:avLst/>
          </a:prstGeom>
          <a:noFill/>
          <a:ln>
            <a:solidFill>
              <a:schemeClr val="accent2"/>
            </a:solidFill>
          </a:ln>
        </p:spPr>
        <p:style>
          <a:lnRef idx="1">
            <a:schemeClr val="dk1"/>
          </a:lnRef>
          <a:fillRef idx="2">
            <a:schemeClr val="dk1"/>
          </a:fillRef>
          <a:effectRef idx="1">
            <a:schemeClr val="dk1"/>
          </a:effectRef>
          <a:fontRef idx="minor">
            <a:schemeClr val="dk1"/>
          </a:fontRef>
        </p:style>
        <p:txBody>
          <a:bodyPr rtlCol="0" anchor="ctr"/>
          <a:lstStyle/>
          <a:p>
            <a:r>
              <a:rPr lang="fr-FR" b="1" dirty="0">
                <a:solidFill>
                  <a:schemeClr val="tx1"/>
                </a:solidFill>
              </a:rPr>
              <a:t>Les utilitaires de chargement de jeux de données (</a:t>
            </a:r>
            <a:r>
              <a:rPr lang="fr-FR" b="1" dirty="0" err="1">
                <a:solidFill>
                  <a:schemeClr val="tx1"/>
                </a:solidFill>
              </a:rPr>
              <a:t>Dataset</a:t>
            </a:r>
            <a:r>
              <a:rPr lang="fr-FR" b="1" dirty="0">
                <a:solidFill>
                  <a:schemeClr val="tx1"/>
                </a:solidFill>
              </a:rPr>
              <a:t> </a:t>
            </a:r>
            <a:r>
              <a:rPr lang="fr-FR" b="1" dirty="0" err="1">
                <a:solidFill>
                  <a:schemeClr val="tx1"/>
                </a:solidFill>
              </a:rPr>
              <a:t>loading</a:t>
            </a:r>
            <a:r>
              <a:rPr lang="fr-FR" b="1" dirty="0">
                <a:solidFill>
                  <a:schemeClr val="tx1"/>
                </a:solidFill>
              </a:rPr>
              <a:t> utilities)</a:t>
            </a:r>
          </a:p>
          <a:p>
            <a:r>
              <a:rPr lang="fr-FR" sz="1200" dirty="0">
                <a:solidFill>
                  <a:schemeClr val="tx1"/>
                </a:solidFill>
              </a:rPr>
              <a:t>En Machine Learning, le choix des données est un élément fondamental pour entraîner et évaluer un modèle. La bibliothèque scikit-learn propose une série d’outils regroupés sous </a:t>
            </a:r>
            <a:r>
              <a:rPr lang="fr-FR" sz="1200" dirty="0" err="1">
                <a:solidFill>
                  <a:schemeClr val="tx1"/>
                </a:solidFill>
              </a:rPr>
              <a:t>Dataset</a:t>
            </a:r>
            <a:r>
              <a:rPr lang="fr-FR" sz="1200" dirty="0">
                <a:solidFill>
                  <a:schemeClr val="tx1"/>
                </a:solidFill>
              </a:rPr>
              <a:t> </a:t>
            </a:r>
            <a:r>
              <a:rPr lang="fr-FR" sz="1200" dirty="0" err="1">
                <a:solidFill>
                  <a:schemeClr val="tx1"/>
                </a:solidFill>
              </a:rPr>
              <a:t>Loading</a:t>
            </a:r>
            <a:r>
              <a:rPr lang="fr-FR" sz="1200" dirty="0">
                <a:solidFill>
                  <a:schemeClr val="tx1"/>
                </a:solidFill>
              </a:rPr>
              <a:t> Utilities, qui permettent de charger facilement différents types de jeux de données adaptés a des besoins spécifiques.</a:t>
            </a:r>
          </a:p>
        </p:txBody>
      </p:sp>
      <p:sp>
        <p:nvSpPr>
          <p:cNvPr id="6" name="Espace réservé du numéro de diapositive 5">
            <a:extLst>
              <a:ext uri="{FF2B5EF4-FFF2-40B4-BE49-F238E27FC236}">
                <a16:creationId xmlns:a16="http://schemas.microsoft.com/office/drawing/2014/main" id="{779AB3AF-2E09-F63C-82BF-E88448A653A4}"/>
              </a:ext>
            </a:extLst>
          </p:cNvPr>
          <p:cNvSpPr>
            <a:spLocks noGrp="1"/>
          </p:cNvSpPr>
          <p:nvPr>
            <p:ph type="sldNum" sz="quarter" idx="12"/>
          </p:nvPr>
        </p:nvSpPr>
        <p:spPr>
          <a:xfrm>
            <a:off x="-29620" y="6477680"/>
            <a:ext cx="275583" cy="377825"/>
          </a:xfrm>
        </p:spPr>
        <p:txBody>
          <a:bodyPr/>
          <a:lstStyle/>
          <a:p>
            <a:fld id="{A3401A20-A1E0-4E43-B782-1D8AAEB2FCB1}" type="slidenum">
              <a:rPr lang="fr-FR" smtClean="0"/>
              <a:t>3</a:t>
            </a:fld>
            <a:endParaRPr lang="fr-FR" dirty="0"/>
          </a:p>
        </p:txBody>
      </p:sp>
      <p:sp>
        <p:nvSpPr>
          <p:cNvPr id="2" name="ZoneTexte 1">
            <a:extLst>
              <a:ext uri="{FF2B5EF4-FFF2-40B4-BE49-F238E27FC236}">
                <a16:creationId xmlns:a16="http://schemas.microsoft.com/office/drawing/2014/main" id="{458EDD00-8B6E-EF6B-C7F4-010F62098F4F}"/>
              </a:ext>
            </a:extLst>
          </p:cNvPr>
          <p:cNvSpPr txBox="1"/>
          <p:nvPr/>
        </p:nvSpPr>
        <p:spPr>
          <a:xfrm>
            <a:off x="7302454" y="5617026"/>
            <a:ext cx="1511427" cy="646331"/>
          </a:xfrm>
          <a:prstGeom prst="rect">
            <a:avLst/>
          </a:prstGeom>
          <a:noFill/>
        </p:spPr>
        <p:txBody>
          <a:bodyPr wrap="square" rtlCol="0">
            <a:spAutoFit/>
          </a:bodyPr>
          <a:lstStyle/>
          <a:p>
            <a:r>
              <a:rPr lang="fr-FR" b="1" dirty="0"/>
              <a:t>La régression</a:t>
            </a:r>
            <a:endParaRPr lang="fr-FR" b="1" dirty="0">
              <a:solidFill>
                <a:schemeClr val="tx1"/>
              </a:solidFill>
            </a:endParaRPr>
          </a:p>
          <a:p>
            <a:endParaRPr lang="fr-FR" dirty="0"/>
          </a:p>
        </p:txBody>
      </p:sp>
      <p:sp>
        <p:nvSpPr>
          <p:cNvPr id="3" name="ZoneTexte 2">
            <a:extLst>
              <a:ext uri="{FF2B5EF4-FFF2-40B4-BE49-F238E27FC236}">
                <a16:creationId xmlns:a16="http://schemas.microsoft.com/office/drawing/2014/main" id="{3B650451-B664-46A2-C6EA-D8A10E8F4DCC}"/>
              </a:ext>
            </a:extLst>
          </p:cNvPr>
          <p:cNvSpPr txBox="1"/>
          <p:nvPr/>
        </p:nvSpPr>
        <p:spPr>
          <a:xfrm>
            <a:off x="9822026" y="5617025"/>
            <a:ext cx="1681484" cy="646331"/>
          </a:xfrm>
          <a:prstGeom prst="rect">
            <a:avLst/>
          </a:prstGeom>
          <a:noFill/>
        </p:spPr>
        <p:txBody>
          <a:bodyPr wrap="square" rtlCol="0">
            <a:spAutoFit/>
          </a:bodyPr>
          <a:lstStyle/>
          <a:p>
            <a:r>
              <a:rPr lang="fr-FR" b="1" dirty="0"/>
              <a:t>La classification</a:t>
            </a:r>
            <a:endParaRPr lang="fr-FR" b="1" dirty="0">
              <a:solidFill>
                <a:schemeClr val="tx1"/>
              </a:solidFill>
            </a:endParaRPr>
          </a:p>
          <a:p>
            <a:endParaRPr lang="fr-FR" dirty="0"/>
          </a:p>
        </p:txBody>
      </p:sp>
      <p:sp>
        <p:nvSpPr>
          <p:cNvPr id="5" name="ZoneTexte 4">
            <a:extLst>
              <a:ext uri="{FF2B5EF4-FFF2-40B4-BE49-F238E27FC236}">
                <a16:creationId xmlns:a16="http://schemas.microsoft.com/office/drawing/2014/main" id="{81E41B05-4C81-3635-CB44-672DC9411FA7}"/>
              </a:ext>
            </a:extLst>
          </p:cNvPr>
          <p:cNvSpPr txBox="1"/>
          <p:nvPr/>
        </p:nvSpPr>
        <p:spPr>
          <a:xfrm>
            <a:off x="52478" y="5617028"/>
            <a:ext cx="1433805" cy="646331"/>
          </a:xfrm>
          <a:prstGeom prst="rect">
            <a:avLst/>
          </a:prstGeom>
          <a:noFill/>
        </p:spPr>
        <p:txBody>
          <a:bodyPr wrap="square" rtlCol="0">
            <a:spAutoFit/>
          </a:bodyPr>
          <a:lstStyle/>
          <a:p>
            <a:r>
              <a:rPr lang="fr-FR" b="1" dirty="0">
                <a:solidFill>
                  <a:schemeClr val="tx1"/>
                </a:solidFill>
              </a:rPr>
              <a:t>Toy </a:t>
            </a:r>
            <a:r>
              <a:rPr lang="fr-FR" b="1" dirty="0" err="1">
                <a:solidFill>
                  <a:schemeClr val="tx1"/>
                </a:solidFill>
              </a:rPr>
              <a:t>Datasets</a:t>
            </a:r>
            <a:endParaRPr lang="fr-FR" b="1" dirty="0">
              <a:solidFill>
                <a:schemeClr val="tx1"/>
              </a:solidFill>
            </a:endParaRPr>
          </a:p>
          <a:p>
            <a:endParaRPr lang="fr-FR" dirty="0"/>
          </a:p>
        </p:txBody>
      </p:sp>
      <p:sp>
        <p:nvSpPr>
          <p:cNvPr id="7" name="ZoneTexte 6">
            <a:extLst>
              <a:ext uri="{FF2B5EF4-FFF2-40B4-BE49-F238E27FC236}">
                <a16:creationId xmlns:a16="http://schemas.microsoft.com/office/drawing/2014/main" id="{D2004785-5999-3533-6420-5384447E6F69}"/>
              </a:ext>
            </a:extLst>
          </p:cNvPr>
          <p:cNvSpPr txBox="1"/>
          <p:nvPr/>
        </p:nvSpPr>
        <p:spPr>
          <a:xfrm>
            <a:off x="1658965" y="5617028"/>
            <a:ext cx="2219460" cy="646331"/>
          </a:xfrm>
          <a:prstGeom prst="rect">
            <a:avLst/>
          </a:prstGeom>
          <a:noFill/>
        </p:spPr>
        <p:txBody>
          <a:bodyPr wrap="square" rtlCol="0">
            <a:spAutoFit/>
          </a:bodyPr>
          <a:lstStyle/>
          <a:p>
            <a:r>
              <a:rPr lang="fr-FR" b="1" dirty="0"/>
              <a:t>Real World </a:t>
            </a:r>
            <a:r>
              <a:rPr lang="fr-FR" b="1" dirty="0" err="1"/>
              <a:t>Datasets</a:t>
            </a:r>
            <a:endParaRPr lang="fr-FR" b="1" dirty="0">
              <a:solidFill>
                <a:schemeClr val="tx1"/>
              </a:solidFill>
            </a:endParaRPr>
          </a:p>
          <a:p>
            <a:endParaRPr lang="fr-FR" dirty="0"/>
          </a:p>
        </p:txBody>
      </p:sp>
      <p:sp>
        <p:nvSpPr>
          <p:cNvPr id="8" name="ZoneTexte 7">
            <a:extLst>
              <a:ext uri="{FF2B5EF4-FFF2-40B4-BE49-F238E27FC236}">
                <a16:creationId xmlns:a16="http://schemas.microsoft.com/office/drawing/2014/main" id="{A6DEE677-B91B-2634-5D92-2AB0B4EB6495}"/>
              </a:ext>
            </a:extLst>
          </p:cNvPr>
          <p:cNvSpPr txBox="1"/>
          <p:nvPr/>
        </p:nvSpPr>
        <p:spPr>
          <a:xfrm>
            <a:off x="3990873" y="5617027"/>
            <a:ext cx="2219461" cy="646331"/>
          </a:xfrm>
          <a:prstGeom prst="rect">
            <a:avLst/>
          </a:prstGeom>
          <a:noFill/>
        </p:spPr>
        <p:txBody>
          <a:bodyPr wrap="square" rtlCol="0">
            <a:spAutoFit/>
          </a:bodyPr>
          <a:lstStyle/>
          <a:p>
            <a:r>
              <a:rPr lang="fr-FR" b="1" dirty="0" err="1"/>
              <a:t>Generated</a:t>
            </a:r>
            <a:r>
              <a:rPr lang="fr-FR" b="1" dirty="0"/>
              <a:t> </a:t>
            </a:r>
            <a:r>
              <a:rPr lang="fr-FR" b="1" dirty="0" err="1">
                <a:solidFill>
                  <a:schemeClr val="tx1"/>
                </a:solidFill>
              </a:rPr>
              <a:t>Datasets</a:t>
            </a:r>
            <a:endParaRPr lang="fr-FR" b="1" dirty="0">
              <a:solidFill>
                <a:schemeClr val="tx1"/>
              </a:solidFill>
            </a:endParaRPr>
          </a:p>
          <a:p>
            <a:endParaRPr lang="fr-FR" dirty="0"/>
          </a:p>
        </p:txBody>
      </p:sp>
      <p:cxnSp>
        <p:nvCxnSpPr>
          <p:cNvPr id="10" name="Connecteur : en angle 9">
            <a:extLst>
              <a:ext uri="{FF2B5EF4-FFF2-40B4-BE49-F238E27FC236}">
                <a16:creationId xmlns:a16="http://schemas.microsoft.com/office/drawing/2014/main" id="{E7C86D7D-0F74-DD19-5E0E-077581009AF7}"/>
              </a:ext>
            </a:extLst>
          </p:cNvPr>
          <p:cNvCxnSpPr>
            <a:stCxn id="90" idx="2"/>
            <a:endCxn id="2" idx="0"/>
          </p:cNvCxnSpPr>
          <p:nvPr/>
        </p:nvCxnSpPr>
        <p:spPr>
          <a:xfrm rot="5400000">
            <a:off x="8311486" y="4785211"/>
            <a:ext cx="578498" cy="1085133"/>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Connecteur : en angle 11">
            <a:extLst>
              <a:ext uri="{FF2B5EF4-FFF2-40B4-BE49-F238E27FC236}">
                <a16:creationId xmlns:a16="http://schemas.microsoft.com/office/drawing/2014/main" id="{D390FBD6-852B-3CDA-8179-AD8336E40C43}"/>
              </a:ext>
            </a:extLst>
          </p:cNvPr>
          <p:cNvCxnSpPr>
            <a:stCxn id="90" idx="2"/>
            <a:endCxn id="3" idx="0"/>
          </p:cNvCxnSpPr>
          <p:nvPr/>
        </p:nvCxnSpPr>
        <p:spPr>
          <a:xfrm rot="16200000" flipH="1">
            <a:off x="9613786" y="4568042"/>
            <a:ext cx="578497" cy="1519467"/>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Connecteur : en angle 13">
            <a:extLst>
              <a:ext uri="{FF2B5EF4-FFF2-40B4-BE49-F238E27FC236}">
                <a16:creationId xmlns:a16="http://schemas.microsoft.com/office/drawing/2014/main" id="{A86E48B0-DDB2-4D22-4755-C34BCC0506CA}"/>
              </a:ext>
            </a:extLst>
          </p:cNvPr>
          <p:cNvCxnSpPr>
            <a:stCxn id="91" idx="2"/>
            <a:endCxn id="8" idx="0"/>
          </p:cNvCxnSpPr>
          <p:nvPr/>
        </p:nvCxnSpPr>
        <p:spPr>
          <a:xfrm rot="16200000" flipH="1">
            <a:off x="3825614" y="4342037"/>
            <a:ext cx="578498" cy="1971482"/>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Connecteur : en angle 15">
            <a:extLst>
              <a:ext uri="{FF2B5EF4-FFF2-40B4-BE49-F238E27FC236}">
                <a16:creationId xmlns:a16="http://schemas.microsoft.com/office/drawing/2014/main" id="{97BEE8D8-601F-21E0-B475-712582DF5FDC}"/>
              </a:ext>
            </a:extLst>
          </p:cNvPr>
          <p:cNvCxnSpPr>
            <a:stCxn id="91" idx="2"/>
            <a:endCxn id="5" idx="0"/>
          </p:cNvCxnSpPr>
          <p:nvPr/>
        </p:nvCxnSpPr>
        <p:spPr>
          <a:xfrm rot="5400000">
            <a:off x="1660003" y="4147908"/>
            <a:ext cx="578499" cy="2359741"/>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Connecteur : en angle 17">
            <a:extLst>
              <a:ext uri="{FF2B5EF4-FFF2-40B4-BE49-F238E27FC236}">
                <a16:creationId xmlns:a16="http://schemas.microsoft.com/office/drawing/2014/main" id="{348F7B5B-9C84-DF2A-BB91-DF5B3DF5852A}"/>
              </a:ext>
            </a:extLst>
          </p:cNvPr>
          <p:cNvCxnSpPr>
            <a:stCxn id="91" idx="2"/>
            <a:endCxn id="7" idx="0"/>
          </p:cNvCxnSpPr>
          <p:nvPr/>
        </p:nvCxnSpPr>
        <p:spPr>
          <a:xfrm rot="5400000">
            <a:off x="2659660" y="5147565"/>
            <a:ext cx="578499" cy="360427"/>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2" name="Connecteur : en angle 21">
            <a:extLst>
              <a:ext uri="{FF2B5EF4-FFF2-40B4-BE49-F238E27FC236}">
                <a16:creationId xmlns:a16="http://schemas.microsoft.com/office/drawing/2014/main" id="{5638B5E6-F22E-8678-9377-6AB731617374}"/>
              </a:ext>
            </a:extLst>
          </p:cNvPr>
          <p:cNvCxnSpPr>
            <a:cxnSpLocks/>
            <a:stCxn id="89" idx="3"/>
            <a:endCxn id="90" idx="0"/>
          </p:cNvCxnSpPr>
          <p:nvPr/>
        </p:nvCxnSpPr>
        <p:spPr>
          <a:xfrm>
            <a:off x="7941163" y="1738635"/>
            <a:ext cx="1202138" cy="1060414"/>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Connecteur : en angle 23">
            <a:extLst>
              <a:ext uri="{FF2B5EF4-FFF2-40B4-BE49-F238E27FC236}">
                <a16:creationId xmlns:a16="http://schemas.microsoft.com/office/drawing/2014/main" id="{26257518-E8A8-DF24-724F-C0842AF248BB}"/>
              </a:ext>
            </a:extLst>
          </p:cNvPr>
          <p:cNvCxnSpPr>
            <a:cxnSpLocks/>
            <a:stCxn id="89" idx="1"/>
            <a:endCxn id="91" idx="0"/>
          </p:cNvCxnSpPr>
          <p:nvPr/>
        </p:nvCxnSpPr>
        <p:spPr>
          <a:xfrm rot="10800000" flipV="1">
            <a:off x="3129123" y="1738634"/>
            <a:ext cx="1350383" cy="1060415"/>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5946704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DF6C17E8-CFB6-F7DB-0A89-26636D898EA7}"/>
              </a:ext>
            </a:extLst>
          </p:cNvPr>
          <p:cNvSpPr/>
          <p:nvPr/>
        </p:nvSpPr>
        <p:spPr>
          <a:xfrm>
            <a:off x="1793650" y="2871132"/>
            <a:ext cx="8321879" cy="1115736"/>
          </a:xfrm>
          <a:prstGeom prst="roundRect">
            <a:avLst>
              <a:gd name="adj" fmla="val 41101"/>
            </a:avLst>
          </a:prstGeom>
          <a:solidFill>
            <a:srgbClr val="0070C0"/>
          </a:solidFill>
          <a:effectLst>
            <a:outerShdw blurRad="57150" dist="19050" dir="5400000" algn="ctr" rotWithShape="0">
              <a:srgbClr val="000000">
                <a:alpha val="63000"/>
              </a:srgbClr>
            </a:outerShdw>
            <a:softEdge rad="63500"/>
          </a:effectLst>
        </p:spPr>
        <p:style>
          <a:lnRef idx="0">
            <a:schemeClr val="dk1"/>
          </a:lnRef>
          <a:fillRef idx="3">
            <a:schemeClr val="dk1"/>
          </a:fillRef>
          <a:effectRef idx="3">
            <a:schemeClr val="dk1"/>
          </a:effectRef>
          <a:fontRef idx="minor">
            <a:schemeClr val="lt1"/>
          </a:fontRef>
        </p:style>
        <p:txBody>
          <a:bodyPr rtlCol="0" anchor="ctr"/>
          <a:lstStyle/>
          <a:p>
            <a:pPr algn="ctr"/>
            <a:r>
              <a:rPr lang="fr-FR" sz="3200" b="1" dirty="0"/>
              <a:t>Ensemble </a:t>
            </a:r>
            <a:r>
              <a:rPr lang="fr-FR" sz="3200" b="1" dirty="0" err="1"/>
              <a:t>Methodes</a:t>
            </a:r>
            <a:endParaRPr lang="fr-FR" sz="3200" b="1" dirty="0"/>
          </a:p>
        </p:txBody>
      </p:sp>
      <p:pic>
        <p:nvPicPr>
          <p:cNvPr id="3" name="Graphique 2" descr="Diagramme de Venn">
            <a:extLst>
              <a:ext uri="{FF2B5EF4-FFF2-40B4-BE49-F238E27FC236}">
                <a16:creationId xmlns:a16="http://schemas.microsoft.com/office/drawing/2014/main" id="{B6AA2916-9ED3-492C-07D3-7E4E92842D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61118" y="2971800"/>
            <a:ext cx="914400" cy="914400"/>
          </a:xfrm>
          <a:prstGeom prst="rect">
            <a:avLst/>
          </a:prstGeom>
        </p:spPr>
      </p:pic>
    </p:spTree>
    <p:extLst>
      <p:ext uri="{BB962C8B-B14F-4D97-AF65-F5344CB8AC3E}">
        <p14:creationId xmlns:p14="http://schemas.microsoft.com/office/powerpoint/2010/main" val="44704933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ZoneTexte 12">
            <a:extLst>
              <a:ext uri="{FF2B5EF4-FFF2-40B4-BE49-F238E27FC236}">
                <a16:creationId xmlns:a16="http://schemas.microsoft.com/office/drawing/2014/main" id="{0F364AD4-0208-259A-4259-2E4C4040EECC}"/>
              </a:ext>
            </a:extLst>
          </p:cNvPr>
          <p:cNvSpPr txBox="1"/>
          <p:nvPr/>
        </p:nvSpPr>
        <p:spPr>
          <a:xfrm>
            <a:off x="139815" y="842461"/>
            <a:ext cx="11912370" cy="461665"/>
          </a:xfrm>
          <a:prstGeom prst="rect">
            <a:avLst/>
          </a:prstGeom>
          <a:noFill/>
        </p:spPr>
        <p:txBody>
          <a:bodyPr wrap="square">
            <a:spAutoFit/>
          </a:bodyPr>
          <a:lstStyle/>
          <a:p>
            <a:pPr defTabSz="914400"/>
            <a:r>
              <a:rPr lang="fr-FR" sz="1200" dirty="0">
                <a:solidFill>
                  <a:prstClr val="white"/>
                </a:solidFill>
                <a:latin typeface="Arial"/>
              </a:rPr>
              <a:t>Les méthodes d’ensemble sont une famille de techniques qui combinent plusieurs modèles pour améliorer la performance d’un système d’apprentissage automatique. L’idée principale est que l’agrégation de plusieurs prédictions permet de réduire les erreurs et d’améliorer la robustesse et la précision du modèle.</a:t>
            </a:r>
          </a:p>
        </p:txBody>
      </p:sp>
      <p:grpSp>
        <p:nvGrpSpPr>
          <p:cNvPr id="14" name="Group 19">
            <a:extLst>
              <a:ext uri="{FF2B5EF4-FFF2-40B4-BE49-F238E27FC236}">
                <a16:creationId xmlns:a16="http://schemas.microsoft.com/office/drawing/2014/main" id="{5A34ED42-5BAD-F4A3-06E2-F7BACBFBDD55}"/>
              </a:ext>
            </a:extLst>
          </p:cNvPr>
          <p:cNvGrpSpPr/>
          <p:nvPr/>
        </p:nvGrpSpPr>
        <p:grpSpPr>
          <a:xfrm>
            <a:off x="924870" y="2456127"/>
            <a:ext cx="1967654" cy="1751377"/>
            <a:chOff x="1114004" y="1047420"/>
            <a:chExt cx="2139899" cy="1794335"/>
          </a:xfrm>
        </p:grpSpPr>
        <p:sp>
          <p:nvSpPr>
            <p:cNvPr id="15" name="TextBox 1">
              <a:extLst>
                <a:ext uri="{FF2B5EF4-FFF2-40B4-BE49-F238E27FC236}">
                  <a16:creationId xmlns:a16="http://schemas.microsoft.com/office/drawing/2014/main" id="{151F0356-6DEF-F141-32CD-5FBA83392BA5}"/>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16" name="TextBox 12">
              <a:extLst>
                <a:ext uri="{FF2B5EF4-FFF2-40B4-BE49-F238E27FC236}">
                  <a16:creationId xmlns:a16="http://schemas.microsoft.com/office/drawing/2014/main" id="{3B20D7CD-65B3-9592-D67D-DC5FFCBFBD8F}"/>
                </a:ext>
              </a:extLst>
            </p:cNvPr>
            <p:cNvSpPr txBox="1"/>
            <p:nvPr/>
          </p:nvSpPr>
          <p:spPr>
            <a:xfrm>
              <a:off x="1114004" y="1990375"/>
              <a:ext cx="2119047" cy="851380"/>
            </a:xfrm>
            <a:prstGeom prst="rect">
              <a:avLst/>
            </a:prstGeom>
            <a:noFill/>
          </p:spPr>
          <p:txBody>
            <a:bodyPr wrap="square" rtlCol="0">
              <a:spAutoFit/>
            </a:bodyPr>
            <a:lstStyle/>
            <a:p>
              <a:r>
                <a:rPr lang="fr-FR" altLang="ko-KR" sz="1200" dirty="0">
                  <a:cs typeface="Arial" pitchFamily="34" charset="0"/>
                </a:rPr>
                <a:t>qui entraîne plusieurs modèles indépendants sur des échantillons différents et agrège leurs prédictions. </a:t>
              </a:r>
              <a:endParaRPr lang="en-US" altLang="ko-KR" sz="1200" dirty="0">
                <a:cs typeface="Arial" pitchFamily="34" charset="0"/>
              </a:endParaRPr>
            </a:p>
          </p:txBody>
        </p:sp>
        <p:sp>
          <p:nvSpPr>
            <p:cNvPr id="17" name="TextBox 14">
              <a:extLst>
                <a:ext uri="{FF2B5EF4-FFF2-40B4-BE49-F238E27FC236}">
                  <a16:creationId xmlns:a16="http://schemas.microsoft.com/office/drawing/2014/main" id="{C474D67F-FB8F-E912-C41E-926B5086CAF4}"/>
                </a:ext>
              </a:extLst>
            </p:cNvPr>
            <p:cNvSpPr txBox="1"/>
            <p:nvPr/>
          </p:nvSpPr>
          <p:spPr>
            <a:xfrm>
              <a:off x="1134856" y="1047420"/>
              <a:ext cx="2119047" cy="536054"/>
            </a:xfrm>
            <a:prstGeom prst="rect">
              <a:avLst/>
            </a:prstGeom>
            <a:noFill/>
          </p:spPr>
          <p:txBody>
            <a:bodyPr wrap="square" rtlCol="0">
              <a:spAutoFit/>
            </a:bodyPr>
            <a:lstStyle/>
            <a:p>
              <a:r>
                <a:rPr lang="fr-FR" altLang="ko-KR" sz="1400" b="1" dirty="0">
                  <a:cs typeface="Arial" pitchFamily="34" charset="0"/>
                </a:rPr>
                <a:t>Le bagging (Bootstrap </a:t>
              </a:r>
              <a:r>
                <a:rPr lang="fr-FR" altLang="ko-KR" sz="1400" b="1" dirty="0" err="1">
                  <a:cs typeface="Arial" pitchFamily="34" charset="0"/>
                </a:rPr>
                <a:t>Aggregating</a:t>
              </a:r>
              <a:r>
                <a:rPr lang="fr-FR" altLang="ko-KR" sz="1400" b="1" dirty="0">
                  <a:cs typeface="Arial" pitchFamily="34" charset="0"/>
                </a:rPr>
                <a:t>)</a:t>
              </a:r>
              <a:endParaRPr lang="ko-KR" altLang="en-US" sz="1400" b="1" dirty="0">
                <a:cs typeface="Arial" pitchFamily="34" charset="0"/>
              </a:endParaRPr>
            </a:p>
          </p:txBody>
        </p:sp>
      </p:grpSp>
      <p:sp>
        <p:nvSpPr>
          <p:cNvPr id="18" name="TextBox 7">
            <a:extLst>
              <a:ext uri="{FF2B5EF4-FFF2-40B4-BE49-F238E27FC236}">
                <a16:creationId xmlns:a16="http://schemas.microsoft.com/office/drawing/2014/main" id="{043CA354-7E1D-57F6-FCE4-1AC6DEB7483B}"/>
              </a:ext>
            </a:extLst>
          </p:cNvPr>
          <p:cNvSpPr txBox="1"/>
          <p:nvPr/>
        </p:nvSpPr>
        <p:spPr>
          <a:xfrm>
            <a:off x="1035400" y="234598"/>
            <a:ext cx="10133901" cy="523220"/>
          </a:xfrm>
          <a:prstGeom prst="rect">
            <a:avLst/>
          </a:prstGeom>
          <a:noFill/>
        </p:spPr>
        <p:txBody>
          <a:bodyPr wrap="square" rtlCol="0" anchor="ctr">
            <a:spAutoFit/>
          </a:bodyPr>
          <a:lstStyle/>
          <a:p>
            <a:pPr algn="ctr"/>
            <a:r>
              <a:rPr lang="fr-FR" altLang="ko-KR" sz="2800" b="1" dirty="0">
                <a:cs typeface="Arial" pitchFamily="34" charset="0"/>
              </a:rPr>
              <a:t>Ensemble </a:t>
            </a:r>
            <a:r>
              <a:rPr lang="fr-FR" altLang="ko-KR" sz="2800" b="1" dirty="0" err="1">
                <a:cs typeface="Arial" pitchFamily="34" charset="0"/>
              </a:rPr>
              <a:t>Methodes</a:t>
            </a:r>
            <a:endParaRPr lang="ko-KR" altLang="en-US" sz="2800" b="1" dirty="0">
              <a:cs typeface="Arial" pitchFamily="34" charset="0"/>
            </a:endParaRPr>
          </a:p>
        </p:txBody>
      </p:sp>
      <p:sp>
        <p:nvSpPr>
          <p:cNvPr id="20" name="Rectangle: Rounded Corners 15">
            <a:extLst>
              <a:ext uri="{FF2B5EF4-FFF2-40B4-BE49-F238E27FC236}">
                <a16:creationId xmlns:a16="http://schemas.microsoft.com/office/drawing/2014/main" id="{797186C0-FD77-4B1F-4C13-32F355D374DB}"/>
              </a:ext>
            </a:extLst>
          </p:cNvPr>
          <p:cNvSpPr/>
          <p:nvPr/>
        </p:nvSpPr>
        <p:spPr>
          <a:xfrm>
            <a:off x="807621" y="2346609"/>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Rectangle: Rounded Corners 15">
            <a:extLst>
              <a:ext uri="{FF2B5EF4-FFF2-40B4-BE49-F238E27FC236}">
                <a16:creationId xmlns:a16="http://schemas.microsoft.com/office/drawing/2014/main" id="{DD5DF304-4296-5CC6-DF59-DD6A8A5F0154}"/>
              </a:ext>
            </a:extLst>
          </p:cNvPr>
          <p:cNvSpPr/>
          <p:nvPr/>
        </p:nvSpPr>
        <p:spPr>
          <a:xfrm>
            <a:off x="4985337" y="2365327"/>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19">
            <a:extLst>
              <a:ext uri="{FF2B5EF4-FFF2-40B4-BE49-F238E27FC236}">
                <a16:creationId xmlns:a16="http://schemas.microsoft.com/office/drawing/2014/main" id="{4AE2BB5B-FA08-99DE-2064-0B2B5CF5A99B}"/>
              </a:ext>
            </a:extLst>
          </p:cNvPr>
          <p:cNvGrpSpPr/>
          <p:nvPr/>
        </p:nvGrpSpPr>
        <p:grpSpPr>
          <a:xfrm>
            <a:off x="5029395" y="2515896"/>
            <a:ext cx="2040846" cy="1973902"/>
            <a:chOff x="1114004" y="1108655"/>
            <a:chExt cx="2219499" cy="2302127"/>
          </a:xfrm>
        </p:grpSpPr>
        <p:sp>
          <p:nvSpPr>
            <p:cNvPr id="23" name="TextBox 1">
              <a:extLst>
                <a:ext uri="{FF2B5EF4-FFF2-40B4-BE49-F238E27FC236}">
                  <a16:creationId xmlns:a16="http://schemas.microsoft.com/office/drawing/2014/main" id="{8727E566-8F91-3014-A745-D433AF8F8C40}"/>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24" name="TextBox 12">
              <a:extLst>
                <a:ext uri="{FF2B5EF4-FFF2-40B4-BE49-F238E27FC236}">
                  <a16:creationId xmlns:a16="http://schemas.microsoft.com/office/drawing/2014/main" id="{463D73B6-C2B8-20C6-4B2D-8AC9620E3219}"/>
                </a:ext>
              </a:extLst>
            </p:cNvPr>
            <p:cNvSpPr txBox="1"/>
            <p:nvPr/>
          </p:nvSpPr>
          <p:spPr>
            <a:xfrm>
              <a:off x="1214455" y="1795486"/>
              <a:ext cx="2119047" cy="1615296"/>
            </a:xfrm>
            <a:prstGeom prst="rect">
              <a:avLst/>
            </a:prstGeom>
            <a:noFill/>
          </p:spPr>
          <p:txBody>
            <a:bodyPr wrap="square" rtlCol="0">
              <a:spAutoFit/>
            </a:bodyPr>
            <a:lstStyle/>
            <a:p>
              <a:r>
                <a:rPr lang="fr-FR" altLang="ko-KR" sz="1200" dirty="0">
                  <a:cs typeface="Arial" pitchFamily="34" charset="0"/>
                </a:rPr>
                <a:t>qui entraîne séquentiellement plusieurs modèles, en mettant l’accent sur les erreurs des modèles précédents pour améliorer progressivement la performance. </a:t>
              </a:r>
              <a:endParaRPr lang="en-US" altLang="ko-KR" sz="1200" dirty="0">
                <a:cs typeface="Arial" pitchFamily="34" charset="0"/>
              </a:endParaRPr>
            </a:p>
          </p:txBody>
        </p:sp>
        <p:sp>
          <p:nvSpPr>
            <p:cNvPr id="25" name="TextBox 14">
              <a:extLst>
                <a:ext uri="{FF2B5EF4-FFF2-40B4-BE49-F238E27FC236}">
                  <a16:creationId xmlns:a16="http://schemas.microsoft.com/office/drawing/2014/main" id="{2DE8E555-9DBB-1C47-D78F-3338DCA6A81E}"/>
                </a:ext>
              </a:extLst>
            </p:cNvPr>
            <p:cNvSpPr txBox="1"/>
            <p:nvPr/>
          </p:nvSpPr>
          <p:spPr>
            <a:xfrm>
              <a:off x="1214456" y="1164583"/>
              <a:ext cx="2119047" cy="358955"/>
            </a:xfrm>
            <a:prstGeom prst="rect">
              <a:avLst/>
            </a:prstGeom>
            <a:noFill/>
          </p:spPr>
          <p:txBody>
            <a:bodyPr wrap="square" rtlCol="0">
              <a:spAutoFit/>
            </a:bodyPr>
            <a:lstStyle/>
            <a:p>
              <a:r>
                <a:rPr lang="fr-FR" altLang="ko-KR" sz="1400" b="1" dirty="0">
                  <a:cs typeface="Arial" pitchFamily="34" charset="0"/>
                </a:rPr>
                <a:t>Le </a:t>
              </a:r>
              <a:r>
                <a:rPr lang="fr-FR" altLang="ko-KR" sz="1400" b="1" dirty="0" err="1">
                  <a:cs typeface="Arial" pitchFamily="34" charset="0"/>
                </a:rPr>
                <a:t>boosting</a:t>
              </a:r>
              <a:endParaRPr lang="ko-KR" altLang="en-US" sz="1400" b="1" dirty="0">
                <a:cs typeface="Arial" pitchFamily="34" charset="0"/>
              </a:endParaRPr>
            </a:p>
          </p:txBody>
        </p:sp>
      </p:grpSp>
      <p:sp>
        <p:nvSpPr>
          <p:cNvPr id="30" name="Rectangle: Rounded Corners 15">
            <a:extLst>
              <a:ext uri="{FF2B5EF4-FFF2-40B4-BE49-F238E27FC236}">
                <a16:creationId xmlns:a16="http://schemas.microsoft.com/office/drawing/2014/main" id="{FD51F931-6F0E-9358-2B7A-4395567591BC}"/>
              </a:ext>
            </a:extLst>
          </p:cNvPr>
          <p:cNvSpPr/>
          <p:nvPr/>
        </p:nvSpPr>
        <p:spPr>
          <a:xfrm>
            <a:off x="9163053" y="2365327"/>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19">
            <a:extLst>
              <a:ext uri="{FF2B5EF4-FFF2-40B4-BE49-F238E27FC236}">
                <a16:creationId xmlns:a16="http://schemas.microsoft.com/office/drawing/2014/main" id="{F9C10CF4-223C-7D51-1B30-A4A05541EF9D}"/>
              </a:ext>
            </a:extLst>
          </p:cNvPr>
          <p:cNvGrpSpPr/>
          <p:nvPr/>
        </p:nvGrpSpPr>
        <p:grpSpPr>
          <a:xfrm>
            <a:off x="9299476" y="2318716"/>
            <a:ext cx="1948480" cy="1981120"/>
            <a:chOff x="1114004" y="1108655"/>
            <a:chExt cx="2119047" cy="2029714"/>
          </a:xfrm>
        </p:grpSpPr>
        <p:sp>
          <p:nvSpPr>
            <p:cNvPr id="32" name="TextBox 1">
              <a:extLst>
                <a:ext uri="{FF2B5EF4-FFF2-40B4-BE49-F238E27FC236}">
                  <a16:creationId xmlns:a16="http://schemas.microsoft.com/office/drawing/2014/main" id="{645D95AE-EE8E-104F-3DA4-D165DBFA81A6}"/>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33" name="TextBox 12">
              <a:extLst>
                <a:ext uri="{FF2B5EF4-FFF2-40B4-BE49-F238E27FC236}">
                  <a16:creationId xmlns:a16="http://schemas.microsoft.com/office/drawing/2014/main" id="{0A8C2D9E-77DD-7163-9D8D-41698FCC7A3F}"/>
                </a:ext>
              </a:extLst>
            </p:cNvPr>
            <p:cNvSpPr txBox="1"/>
            <p:nvPr/>
          </p:nvSpPr>
          <p:spPr>
            <a:xfrm>
              <a:off x="1114004" y="2097793"/>
              <a:ext cx="2119047" cy="1040576"/>
            </a:xfrm>
            <a:prstGeom prst="rect">
              <a:avLst/>
            </a:prstGeom>
            <a:noFill/>
          </p:spPr>
          <p:txBody>
            <a:bodyPr wrap="square" rtlCol="0">
              <a:spAutoFit/>
            </a:bodyPr>
            <a:lstStyle/>
            <a:p>
              <a:r>
                <a:rPr lang="fr-FR" altLang="ko-KR" sz="1200" dirty="0">
                  <a:cs typeface="Arial" pitchFamily="34" charset="0"/>
                </a:rPr>
                <a:t>qui combine plusieurs modèles de base et entraîne un modèle supérieur (</a:t>
              </a:r>
              <a:r>
                <a:rPr lang="fr-FR" altLang="ko-KR" sz="1200" dirty="0" err="1">
                  <a:cs typeface="Arial" pitchFamily="34" charset="0"/>
                </a:rPr>
                <a:t>meta</a:t>
              </a:r>
              <a:r>
                <a:rPr lang="fr-FR" altLang="ko-KR" sz="1200" dirty="0">
                  <a:cs typeface="Arial" pitchFamily="34" charset="0"/>
                </a:rPr>
                <a:t>-model) pour prendre la décision finale.</a:t>
              </a:r>
              <a:endParaRPr lang="en-US" altLang="ko-KR" sz="1200" dirty="0">
                <a:cs typeface="Arial" pitchFamily="34" charset="0"/>
              </a:endParaRPr>
            </a:p>
          </p:txBody>
        </p:sp>
        <p:sp>
          <p:nvSpPr>
            <p:cNvPr id="34" name="TextBox 14">
              <a:extLst>
                <a:ext uri="{FF2B5EF4-FFF2-40B4-BE49-F238E27FC236}">
                  <a16:creationId xmlns:a16="http://schemas.microsoft.com/office/drawing/2014/main" id="{A801C83D-C3CC-9F89-5802-22AC5CC75096}"/>
                </a:ext>
              </a:extLst>
            </p:cNvPr>
            <p:cNvSpPr txBox="1"/>
            <p:nvPr/>
          </p:nvSpPr>
          <p:spPr>
            <a:xfrm>
              <a:off x="1114004" y="1359801"/>
              <a:ext cx="2119047" cy="315326"/>
            </a:xfrm>
            <a:prstGeom prst="rect">
              <a:avLst/>
            </a:prstGeom>
            <a:noFill/>
          </p:spPr>
          <p:txBody>
            <a:bodyPr wrap="square" rtlCol="0">
              <a:spAutoFit/>
            </a:bodyPr>
            <a:lstStyle/>
            <a:p>
              <a:r>
                <a:rPr lang="fr-FR" altLang="ko-KR" sz="1400" b="1" dirty="0">
                  <a:cs typeface="Arial" pitchFamily="34" charset="0"/>
                </a:rPr>
                <a:t>Le </a:t>
              </a:r>
              <a:r>
                <a:rPr lang="fr-FR" altLang="ko-KR" sz="1400" b="1" dirty="0" err="1">
                  <a:cs typeface="Arial" pitchFamily="34" charset="0"/>
                </a:rPr>
                <a:t>stacking</a:t>
              </a:r>
              <a:endParaRPr lang="ko-KR" altLang="en-US" sz="1400" b="1" dirty="0">
                <a:cs typeface="Arial" pitchFamily="34" charset="0"/>
              </a:endParaRPr>
            </a:p>
          </p:txBody>
        </p:sp>
      </p:grpSp>
      <p:sp>
        <p:nvSpPr>
          <p:cNvPr id="6" name="Espace réservé du numéro de diapositive 5">
            <a:extLst>
              <a:ext uri="{FF2B5EF4-FFF2-40B4-BE49-F238E27FC236}">
                <a16:creationId xmlns:a16="http://schemas.microsoft.com/office/drawing/2014/main" id="{32330E45-1F1F-F6C2-9BDA-262E873F7A4A}"/>
              </a:ext>
            </a:extLst>
          </p:cNvPr>
          <p:cNvSpPr>
            <a:spLocks noGrp="1"/>
          </p:cNvSpPr>
          <p:nvPr>
            <p:ph type="sldNum" sz="quarter" idx="12"/>
          </p:nvPr>
        </p:nvSpPr>
        <p:spPr>
          <a:xfrm>
            <a:off x="3561" y="6470606"/>
            <a:ext cx="199606" cy="377825"/>
          </a:xfrm>
        </p:spPr>
        <p:txBody>
          <a:bodyPr/>
          <a:lstStyle/>
          <a:p>
            <a:fld id="{A3401A20-A1E0-4E43-B782-1D8AAEB2FCB1}" type="slidenum">
              <a:rPr lang="fr-FR" smtClean="0"/>
              <a:t>5</a:t>
            </a:fld>
            <a:endParaRPr lang="fr-FR" dirty="0"/>
          </a:p>
        </p:txBody>
      </p:sp>
      <p:cxnSp>
        <p:nvCxnSpPr>
          <p:cNvPr id="3" name="Connecteur : en angle 2">
            <a:extLst>
              <a:ext uri="{FF2B5EF4-FFF2-40B4-BE49-F238E27FC236}">
                <a16:creationId xmlns:a16="http://schemas.microsoft.com/office/drawing/2014/main" id="{AF63C733-F4A9-28AA-FA48-25E422CE88A0}"/>
              </a:ext>
            </a:extLst>
          </p:cNvPr>
          <p:cNvCxnSpPr>
            <a:stCxn id="13" idx="2"/>
            <a:endCxn id="20" idx="0"/>
          </p:cNvCxnSpPr>
          <p:nvPr/>
        </p:nvCxnSpPr>
        <p:spPr>
          <a:xfrm rot="5400000">
            <a:off x="3485901" y="-263491"/>
            <a:ext cx="1042483" cy="4177716"/>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 name="Connecteur : en angle 4">
            <a:extLst>
              <a:ext uri="{FF2B5EF4-FFF2-40B4-BE49-F238E27FC236}">
                <a16:creationId xmlns:a16="http://schemas.microsoft.com/office/drawing/2014/main" id="{57D55E81-D226-76AC-5B37-7BBACF50BF80}"/>
              </a:ext>
            </a:extLst>
          </p:cNvPr>
          <p:cNvCxnSpPr>
            <a:stCxn id="13" idx="2"/>
            <a:endCxn id="21" idx="0"/>
          </p:cNvCxnSpPr>
          <p:nvPr/>
        </p:nvCxnSpPr>
        <p:spPr>
          <a:xfrm rot="5400000">
            <a:off x="5565400" y="1834726"/>
            <a:ext cx="1061201" cy="12700"/>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 name="Connecteur : en angle 7">
            <a:extLst>
              <a:ext uri="{FF2B5EF4-FFF2-40B4-BE49-F238E27FC236}">
                <a16:creationId xmlns:a16="http://schemas.microsoft.com/office/drawing/2014/main" id="{BDC825AF-8567-C815-DAA3-56D2F6B7F452}"/>
              </a:ext>
            </a:extLst>
          </p:cNvPr>
          <p:cNvCxnSpPr>
            <a:stCxn id="13" idx="2"/>
            <a:endCxn id="30" idx="0"/>
          </p:cNvCxnSpPr>
          <p:nvPr/>
        </p:nvCxnSpPr>
        <p:spPr>
          <a:xfrm rot="16200000" flipH="1">
            <a:off x="7654258" y="-254132"/>
            <a:ext cx="1061201" cy="4177716"/>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ZoneTexte 9">
            <a:extLst>
              <a:ext uri="{FF2B5EF4-FFF2-40B4-BE49-F238E27FC236}">
                <a16:creationId xmlns:a16="http://schemas.microsoft.com/office/drawing/2014/main" id="{07B99646-3B7E-E0B2-31C8-E25E914781FD}"/>
              </a:ext>
            </a:extLst>
          </p:cNvPr>
          <p:cNvSpPr txBox="1"/>
          <p:nvPr/>
        </p:nvSpPr>
        <p:spPr>
          <a:xfrm>
            <a:off x="2441999" y="5646207"/>
            <a:ext cx="3130285" cy="369332"/>
          </a:xfrm>
          <a:prstGeom prst="rect">
            <a:avLst/>
          </a:prstGeom>
          <a:noFill/>
        </p:spPr>
        <p:txBody>
          <a:bodyPr wrap="square">
            <a:spAutoFit/>
          </a:bodyPr>
          <a:lstStyle/>
          <a:p>
            <a:r>
              <a:rPr lang="fr-FR" altLang="ko-KR" sz="1800" b="1" dirty="0" err="1">
                <a:cs typeface="Arial" pitchFamily="34" charset="0"/>
              </a:rPr>
              <a:t>Random</a:t>
            </a:r>
            <a:r>
              <a:rPr lang="fr-FR" altLang="ko-KR" sz="1800" b="1" dirty="0">
                <a:cs typeface="Arial" pitchFamily="34" charset="0"/>
              </a:rPr>
              <a:t> Forest (Classification)</a:t>
            </a:r>
            <a:endParaRPr lang="ko-KR" altLang="en-US" sz="1800" b="1" dirty="0">
              <a:cs typeface="Arial" pitchFamily="34" charset="0"/>
            </a:endParaRPr>
          </a:p>
        </p:txBody>
      </p:sp>
      <p:sp>
        <p:nvSpPr>
          <p:cNvPr id="12" name="ZoneTexte 11">
            <a:extLst>
              <a:ext uri="{FF2B5EF4-FFF2-40B4-BE49-F238E27FC236}">
                <a16:creationId xmlns:a16="http://schemas.microsoft.com/office/drawing/2014/main" id="{DBCC0A2C-9145-59F2-EFE1-B1EAAB11017D}"/>
              </a:ext>
            </a:extLst>
          </p:cNvPr>
          <p:cNvSpPr txBox="1"/>
          <p:nvPr/>
        </p:nvSpPr>
        <p:spPr>
          <a:xfrm>
            <a:off x="6619715" y="5646207"/>
            <a:ext cx="3130285" cy="369332"/>
          </a:xfrm>
          <a:prstGeom prst="rect">
            <a:avLst/>
          </a:prstGeom>
          <a:noFill/>
        </p:spPr>
        <p:txBody>
          <a:bodyPr wrap="square">
            <a:spAutoFit/>
          </a:bodyPr>
          <a:lstStyle/>
          <a:p>
            <a:r>
              <a:rPr lang="fr-FR" altLang="ko-KR" sz="1800" b="1" dirty="0">
                <a:cs typeface="Arial" pitchFamily="34" charset="0"/>
              </a:rPr>
              <a:t>Gradient </a:t>
            </a:r>
            <a:r>
              <a:rPr lang="fr-FR" altLang="ko-KR" sz="1800" b="1" dirty="0" err="1">
                <a:cs typeface="Arial" pitchFamily="34" charset="0"/>
              </a:rPr>
              <a:t>Boosting</a:t>
            </a:r>
            <a:r>
              <a:rPr lang="fr-FR" altLang="ko-KR" sz="1800" b="1" dirty="0">
                <a:cs typeface="Arial" pitchFamily="34" charset="0"/>
              </a:rPr>
              <a:t> (</a:t>
            </a:r>
            <a:r>
              <a:rPr lang="fr-FR" altLang="ko-KR" sz="1800" b="1" dirty="0" err="1">
                <a:cs typeface="Arial" pitchFamily="34" charset="0"/>
              </a:rPr>
              <a:t>Regression</a:t>
            </a:r>
            <a:r>
              <a:rPr lang="fr-FR" altLang="ko-KR" sz="1800" b="1" dirty="0">
                <a:cs typeface="Arial" pitchFamily="34" charset="0"/>
              </a:rPr>
              <a:t>)</a:t>
            </a:r>
            <a:endParaRPr lang="ko-KR" altLang="en-US" sz="1800" b="1" dirty="0">
              <a:cs typeface="Arial" pitchFamily="34" charset="0"/>
            </a:endParaRPr>
          </a:p>
        </p:txBody>
      </p:sp>
    </p:spTree>
    <p:extLst>
      <p:ext uri="{BB962C8B-B14F-4D97-AF65-F5344CB8AC3E}">
        <p14:creationId xmlns:p14="http://schemas.microsoft.com/office/powerpoint/2010/main" val="232472383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Placeholder 1">
            <a:extLst>
              <a:ext uri="{FF2B5EF4-FFF2-40B4-BE49-F238E27FC236}">
                <a16:creationId xmlns:a16="http://schemas.microsoft.com/office/drawing/2014/main" id="{2C3236AB-1FBB-0A50-AB08-81471BFA9DF1}"/>
              </a:ext>
            </a:extLst>
          </p:cNvPr>
          <p:cNvSpPr txBox="1">
            <a:spLocks/>
          </p:cNvSpPr>
          <p:nvPr/>
        </p:nvSpPr>
        <p:spPr>
          <a:xfrm>
            <a:off x="3967841" y="105603"/>
            <a:ext cx="4256315" cy="724247"/>
          </a:xfrm>
          <a:prstGeom prst="rect">
            <a:avLst/>
          </a:prstGeom>
          <a:solidFill>
            <a:schemeClr val="bg2">
              <a:lumMod val="60000"/>
              <a:lumOff val="40000"/>
            </a:schemeClr>
          </a:solidFill>
          <a:effectLst>
            <a:softEdge rad="63500"/>
          </a:effectLst>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cs typeface="Arial" pitchFamily="34" charset="0"/>
              </a:rPr>
              <a:t>Random Forest</a:t>
            </a:r>
          </a:p>
        </p:txBody>
      </p:sp>
      <p:sp>
        <p:nvSpPr>
          <p:cNvPr id="45" name="Espace réservé du numéro de diapositive 44">
            <a:extLst>
              <a:ext uri="{FF2B5EF4-FFF2-40B4-BE49-F238E27FC236}">
                <a16:creationId xmlns:a16="http://schemas.microsoft.com/office/drawing/2014/main" id="{2CC06B79-149A-7EE9-69A2-0559C7A494A1}"/>
              </a:ext>
            </a:extLst>
          </p:cNvPr>
          <p:cNvSpPr>
            <a:spLocks noGrp="1"/>
          </p:cNvSpPr>
          <p:nvPr>
            <p:ph type="sldNum" sz="quarter" idx="12"/>
          </p:nvPr>
        </p:nvSpPr>
        <p:spPr>
          <a:xfrm>
            <a:off x="0" y="6480175"/>
            <a:ext cx="217651" cy="377825"/>
          </a:xfrm>
        </p:spPr>
        <p:txBody>
          <a:bodyPr/>
          <a:lstStyle/>
          <a:p>
            <a:fld id="{A3401A20-A1E0-4E43-B782-1D8AAEB2FCB1}" type="slidenum">
              <a:rPr lang="fr-FR" smtClean="0"/>
              <a:t>6</a:t>
            </a:fld>
            <a:endParaRPr lang="fr-FR" dirty="0"/>
          </a:p>
        </p:txBody>
      </p:sp>
      <p:sp>
        <p:nvSpPr>
          <p:cNvPr id="11" name="ZoneTexte 10">
            <a:extLst>
              <a:ext uri="{FF2B5EF4-FFF2-40B4-BE49-F238E27FC236}">
                <a16:creationId xmlns:a16="http://schemas.microsoft.com/office/drawing/2014/main" id="{1AED7B13-B298-E3B6-33F6-8945C3B9612D}"/>
              </a:ext>
            </a:extLst>
          </p:cNvPr>
          <p:cNvSpPr txBox="1"/>
          <p:nvPr/>
        </p:nvSpPr>
        <p:spPr>
          <a:xfrm>
            <a:off x="139814" y="905135"/>
            <a:ext cx="11912370" cy="461665"/>
          </a:xfrm>
          <a:prstGeom prst="rect">
            <a:avLst/>
          </a:prstGeom>
          <a:noFill/>
        </p:spPr>
        <p:txBody>
          <a:bodyPr wrap="square">
            <a:spAutoFit/>
          </a:bodyPr>
          <a:lstStyle/>
          <a:p>
            <a:pPr defTabSz="914400"/>
            <a:r>
              <a:rPr lang="fr-FR" sz="1200" dirty="0">
                <a:solidFill>
                  <a:prstClr val="white"/>
                </a:solidFill>
                <a:latin typeface="Arial"/>
              </a:rPr>
              <a:t>La Forêt Aléatoire est une méthode d’ensemble basée sur le principe du bagging (Bootstrap </a:t>
            </a:r>
            <a:r>
              <a:rPr lang="fr-FR" sz="1200" dirty="0" err="1">
                <a:solidFill>
                  <a:prstClr val="white"/>
                </a:solidFill>
                <a:latin typeface="Arial"/>
              </a:rPr>
              <a:t>Aggregating</a:t>
            </a:r>
            <a:r>
              <a:rPr lang="fr-FR" sz="1200" dirty="0">
                <a:solidFill>
                  <a:prstClr val="white"/>
                </a:solidFill>
                <a:latin typeface="Arial"/>
              </a:rPr>
              <a:t>), qui combine plusieurs arbres de décision pour améliorer la précision et la robustesse du modèle.</a:t>
            </a:r>
          </a:p>
        </p:txBody>
      </p:sp>
      <p:grpSp>
        <p:nvGrpSpPr>
          <p:cNvPr id="12" name="Group 19">
            <a:extLst>
              <a:ext uri="{FF2B5EF4-FFF2-40B4-BE49-F238E27FC236}">
                <a16:creationId xmlns:a16="http://schemas.microsoft.com/office/drawing/2014/main" id="{54A5D982-85DB-3E03-323F-D80BCBF8DB43}"/>
              </a:ext>
            </a:extLst>
          </p:cNvPr>
          <p:cNvGrpSpPr/>
          <p:nvPr/>
        </p:nvGrpSpPr>
        <p:grpSpPr>
          <a:xfrm>
            <a:off x="924870" y="2456127"/>
            <a:ext cx="1967654" cy="1751377"/>
            <a:chOff x="1114004" y="1047420"/>
            <a:chExt cx="2139899" cy="1794335"/>
          </a:xfrm>
        </p:grpSpPr>
        <p:sp>
          <p:nvSpPr>
            <p:cNvPr id="13" name="TextBox 1">
              <a:extLst>
                <a:ext uri="{FF2B5EF4-FFF2-40B4-BE49-F238E27FC236}">
                  <a16:creationId xmlns:a16="http://schemas.microsoft.com/office/drawing/2014/main" id="{D9A2D9C6-745C-4842-E7FA-7FBE290B5673}"/>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14" name="TextBox 12">
              <a:extLst>
                <a:ext uri="{FF2B5EF4-FFF2-40B4-BE49-F238E27FC236}">
                  <a16:creationId xmlns:a16="http://schemas.microsoft.com/office/drawing/2014/main" id="{C1AD8092-AEDB-A08C-955C-AE4BF58977AD}"/>
                </a:ext>
              </a:extLst>
            </p:cNvPr>
            <p:cNvSpPr txBox="1"/>
            <p:nvPr/>
          </p:nvSpPr>
          <p:spPr>
            <a:xfrm>
              <a:off x="1114004" y="1990375"/>
              <a:ext cx="2119047" cy="851380"/>
            </a:xfrm>
            <a:prstGeom prst="rect">
              <a:avLst/>
            </a:prstGeom>
            <a:noFill/>
          </p:spPr>
          <p:txBody>
            <a:bodyPr wrap="square" rtlCol="0">
              <a:spAutoFit/>
            </a:bodyPr>
            <a:lstStyle/>
            <a:p>
              <a:r>
                <a:rPr lang="fr-FR" altLang="ko-KR" sz="1200" dirty="0">
                  <a:cs typeface="Arial" pitchFamily="34" charset="0"/>
                </a:rPr>
                <a:t>A partir du jeu de données original, plusieurs sous-échantillons sont générés avec remise.</a:t>
              </a:r>
              <a:endParaRPr lang="en-US" altLang="ko-KR" sz="1200" dirty="0">
                <a:cs typeface="Arial" pitchFamily="34" charset="0"/>
              </a:endParaRPr>
            </a:p>
          </p:txBody>
        </p:sp>
        <p:sp>
          <p:nvSpPr>
            <p:cNvPr id="15" name="TextBox 14">
              <a:extLst>
                <a:ext uri="{FF2B5EF4-FFF2-40B4-BE49-F238E27FC236}">
                  <a16:creationId xmlns:a16="http://schemas.microsoft.com/office/drawing/2014/main" id="{E2F2CC73-192F-36F1-67B6-DEBE170D4201}"/>
                </a:ext>
              </a:extLst>
            </p:cNvPr>
            <p:cNvSpPr txBox="1"/>
            <p:nvPr/>
          </p:nvSpPr>
          <p:spPr>
            <a:xfrm>
              <a:off x="1134856" y="1047420"/>
              <a:ext cx="2119047" cy="536054"/>
            </a:xfrm>
            <a:prstGeom prst="rect">
              <a:avLst/>
            </a:prstGeom>
            <a:noFill/>
          </p:spPr>
          <p:txBody>
            <a:bodyPr wrap="square" rtlCol="0">
              <a:spAutoFit/>
            </a:bodyPr>
            <a:lstStyle/>
            <a:p>
              <a:r>
                <a:rPr lang="fr-FR" altLang="ko-KR" sz="1400" b="1" dirty="0">
                  <a:cs typeface="Arial" pitchFamily="34" charset="0"/>
                </a:rPr>
                <a:t>1- Échantillonnage Bootstrap :</a:t>
              </a:r>
              <a:endParaRPr lang="ko-KR" altLang="en-US" sz="1400" b="1" dirty="0">
                <a:cs typeface="Arial" pitchFamily="34" charset="0"/>
              </a:endParaRPr>
            </a:p>
          </p:txBody>
        </p:sp>
      </p:grpSp>
      <p:sp>
        <p:nvSpPr>
          <p:cNvPr id="16" name="Rectangle: Rounded Corners 15">
            <a:extLst>
              <a:ext uri="{FF2B5EF4-FFF2-40B4-BE49-F238E27FC236}">
                <a16:creationId xmlns:a16="http://schemas.microsoft.com/office/drawing/2014/main" id="{FBF18F23-5003-544A-544E-EB79FA60DD5C}"/>
              </a:ext>
            </a:extLst>
          </p:cNvPr>
          <p:cNvSpPr/>
          <p:nvPr/>
        </p:nvSpPr>
        <p:spPr>
          <a:xfrm>
            <a:off x="807621" y="2346609"/>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Rounded Corners 15">
            <a:extLst>
              <a:ext uri="{FF2B5EF4-FFF2-40B4-BE49-F238E27FC236}">
                <a16:creationId xmlns:a16="http://schemas.microsoft.com/office/drawing/2014/main" id="{2F6F6F84-E294-C4CD-D7D0-4562E0DE13F2}"/>
              </a:ext>
            </a:extLst>
          </p:cNvPr>
          <p:cNvSpPr/>
          <p:nvPr/>
        </p:nvSpPr>
        <p:spPr>
          <a:xfrm>
            <a:off x="4985337" y="2365327"/>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9">
            <a:extLst>
              <a:ext uri="{FF2B5EF4-FFF2-40B4-BE49-F238E27FC236}">
                <a16:creationId xmlns:a16="http://schemas.microsoft.com/office/drawing/2014/main" id="{93C84432-C488-C37E-DBD4-1BDB7BAC11C5}"/>
              </a:ext>
            </a:extLst>
          </p:cNvPr>
          <p:cNvGrpSpPr/>
          <p:nvPr/>
        </p:nvGrpSpPr>
        <p:grpSpPr>
          <a:xfrm>
            <a:off x="5029395" y="2515896"/>
            <a:ext cx="2040846" cy="1836032"/>
            <a:chOff x="1114004" y="1108655"/>
            <a:chExt cx="2219499" cy="2141333"/>
          </a:xfrm>
        </p:grpSpPr>
        <p:sp>
          <p:nvSpPr>
            <p:cNvPr id="35" name="TextBox 1">
              <a:extLst>
                <a:ext uri="{FF2B5EF4-FFF2-40B4-BE49-F238E27FC236}">
                  <a16:creationId xmlns:a16="http://schemas.microsoft.com/office/drawing/2014/main" id="{5F3D3E07-1442-0342-8216-2A3E869DDF43}"/>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37" name="TextBox 12">
              <a:extLst>
                <a:ext uri="{FF2B5EF4-FFF2-40B4-BE49-F238E27FC236}">
                  <a16:creationId xmlns:a16="http://schemas.microsoft.com/office/drawing/2014/main" id="{7E5A1C55-5020-DCDB-DE25-14FB6D1993F7}"/>
                </a:ext>
              </a:extLst>
            </p:cNvPr>
            <p:cNvSpPr txBox="1"/>
            <p:nvPr/>
          </p:nvSpPr>
          <p:spPr>
            <a:xfrm>
              <a:off x="1214456" y="2065438"/>
              <a:ext cx="2119047" cy="1184550"/>
            </a:xfrm>
            <a:prstGeom prst="rect">
              <a:avLst/>
            </a:prstGeom>
            <a:noFill/>
          </p:spPr>
          <p:txBody>
            <a:bodyPr wrap="square" rtlCol="0">
              <a:spAutoFit/>
            </a:bodyPr>
            <a:lstStyle/>
            <a:p>
              <a:r>
                <a:rPr lang="fr-FR" altLang="ko-KR" sz="1200" dirty="0">
                  <a:cs typeface="Arial" pitchFamily="34" charset="0"/>
                </a:rPr>
                <a:t>Chaque arbre est construit indépendamment sur un sous-échantillon, avec une sélection aléatoire des variables a chaque nœud.</a:t>
              </a:r>
              <a:endParaRPr lang="en-US" altLang="ko-KR" sz="1200" dirty="0">
                <a:cs typeface="Arial" pitchFamily="34" charset="0"/>
              </a:endParaRPr>
            </a:p>
          </p:txBody>
        </p:sp>
        <p:sp>
          <p:nvSpPr>
            <p:cNvPr id="38" name="TextBox 14">
              <a:extLst>
                <a:ext uri="{FF2B5EF4-FFF2-40B4-BE49-F238E27FC236}">
                  <a16:creationId xmlns:a16="http://schemas.microsoft.com/office/drawing/2014/main" id="{E93F3E34-F666-C9CD-AF62-9F1983B8EB14}"/>
                </a:ext>
              </a:extLst>
            </p:cNvPr>
            <p:cNvSpPr txBox="1"/>
            <p:nvPr/>
          </p:nvSpPr>
          <p:spPr>
            <a:xfrm>
              <a:off x="1214456" y="1164583"/>
              <a:ext cx="2119047" cy="610222"/>
            </a:xfrm>
            <a:prstGeom prst="rect">
              <a:avLst/>
            </a:prstGeom>
            <a:noFill/>
          </p:spPr>
          <p:txBody>
            <a:bodyPr wrap="square" rtlCol="0">
              <a:spAutoFit/>
            </a:bodyPr>
            <a:lstStyle/>
            <a:p>
              <a:r>
                <a:rPr lang="fr-FR" altLang="ko-KR" sz="1400" b="1" dirty="0">
                  <a:cs typeface="Arial" pitchFamily="34" charset="0"/>
                </a:rPr>
                <a:t>2- Construction des arbres de décision :</a:t>
              </a:r>
              <a:endParaRPr lang="ko-KR" altLang="en-US" sz="1400" b="1" dirty="0">
                <a:cs typeface="Arial" pitchFamily="34" charset="0"/>
              </a:endParaRPr>
            </a:p>
          </p:txBody>
        </p:sp>
      </p:grpSp>
      <p:sp>
        <p:nvSpPr>
          <p:cNvPr id="39" name="Rectangle: Rounded Corners 15">
            <a:extLst>
              <a:ext uri="{FF2B5EF4-FFF2-40B4-BE49-F238E27FC236}">
                <a16:creationId xmlns:a16="http://schemas.microsoft.com/office/drawing/2014/main" id="{64E14EA0-0955-A0F8-9117-2206A2431147}"/>
              </a:ext>
            </a:extLst>
          </p:cNvPr>
          <p:cNvSpPr/>
          <p:nvPr/>
        </p:nvSpPr>
        <p:spPr>
          <a:xfrm>
            <a:off x="9163053" y="2365327"/>
            <a:ext cx="2221326" cy="2560123"/>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19">
            <a:extLst>
              <a:ext uri="{FF2B5EF4-FFF2-40B4-BE49-F238E27FC236}">
                <a16:creationId xmlns:a16="http://schemas.microsoft.com/office/drawing/2014/main" id="{18C5A195-7B5B-AFA2-BA50-26F9416E19C6}"/>
              </a:ext>
            </a:extLst>
          </p:cNvPr>
          <p:cNvGrpSpPr/>
          <p:nvPr/>
        </p:nvGrpSpPr>
        <p:grpSpPr>
          <a:xfrm>
            <a:off x="9299476" y="2318716"/>
            <a:ext cx="1948480" cy="1981120"/>
            <a:chOff x="1114004" y="1108655"/>
            <a:chExt cx="2119047" cy="2029714"/>
          </a:xfrm>
        </p:grpSpPr>
        <p:sp>
          <p:nvSpPr>
            <p:cNvPr id="41" name="TextBox 1">
              <a:extLst>
                <a:ext uri="{FF2B5EF4-FFF2-40B4-BE49-F238E27FC236}">
                  <a16:creationId xmlns:a16="http://schemas.microsoft.com/office/drawing/2014/main" id="{928DFAEF-E92A-1361-A8B1-53B4A03E03F2}"/>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46" name="TextBox 12">
              <a:extLst>
                <a:ext uri="{FF2B5EF4-FFF2-40B4-BE49-F238E27FC236}">
                  <a16:creationId xmlns:a16="http://schemas.microsoft.com/office/drawing/2014/main" id="{C26312F9-E405-57F1-065C-D302895AD24F}"/>
                </a:ext>
              </a:extLst>
            </p:cNvPr>
            <p:cNvSpPr txBox="1"/>
            <p:nvPr/>
          </p:nvSpPr>
          <p:spPr>
            <a:xfrm>
              <a:off x="1114004" y="2097793"/>
              <a:ext cx="2119047" cy="1040576"/>
            </a:xfrm>
            <a:prstGeom prst="rect">
              <a:avLst/>
            </a:prstGeom>
            <a:noFill/>
          </p:spPr>
          <p:txBody>
            <a:bodyPr wrap="square" rtlCol="0">
              <a:spAutoFit/>
            </a:bodyPr>
            <a:lstStyle/>
            <a:p>
              <a:r>
                <a:rPr lang="fr-FR" altLang="ko-KR" sz="1200" dirty="0">
                  <a:cs typeface="Arial" pitchFamily="34" charset="0"/>
                </a:rPr>
                <a:t>Pour une nouvelle donnée, chaque arbre prédit une classe et la classe la plus fréquente est retenue comme prédiction finale.</a:t>
              </a:r>
              <a:endParaRPr lang="en-US" altLang="ko-KR" sz="1200" dirty="0">
                <a:cs typeface="Arial" pitchFamily="34" charset="0"/>
              </a:endParaRPr>
            </a:p>
          </p:txBody>
        </p:sp>
        <p:sp>
          <p:nvSpPr>
            <p:cNvPr id="47" name="TextBox 14">
              <a:extLst>
                <a:ext uri="{FF2B5EF4-FFF2-40B4-BE49-F238E27FC236}">
                  <a16:creationId xmlns:a16="http://schemas.microsoft.com/office/drawing/2014/main" id="{80125034-DD7C-2935-51D7-FCEB90C06A03}"/>
                </a:ext>
              </a:extLst>
            </p:cNvPr>
            <p:cNvSpPr txBox="1"/>
            <p:nvPr/>
          </p:nvSpPr>
          <p:spPr>
            <a:xfrm>
              <a:off x="1114004" y="1359801"/>
              <a:ext cx="2119047" cy="315326"/>
            </a:xfrm>
            <a:prstGeom prst="rect">
              <a:avLst/>
            </a:prstGeom>
            <a:noFill/>
          </p:spPr>
          <p:txBody>
            <a:bodyPr wrap="square" rtlCol="0">
              <a:spAutoFit/>
            </a:bodyPr>
            <a:lstStyle/>
            <a:p>
              <a:r>
                <a:rPr lang="fr-FR" altLang="ko-KR" sz="1400" b="1" dirty="0">
                  <a:cs typeface="Arial" pitchFamily="34" charset="0"/>
                </a:rPr>
                <a:t>3- Vote majoritaire :</a:t>
              </a:r>
              <a:endParaRPr lang="ko-KR" altLang="en-US" sz="1400" b="1" dirty="0">
                <a:cs typeface="Arial" pitchFamily="34" charset="0"/>
              </a:endParaRPr>
            </a:p>
          </p:txBody>
        </p:sp>
      </p:grpSp>
      <p:cxnSp>
        <p:nvCxnSpPr>
          <p:cNvPr id="51" name="Connecteur droit avec flèche 50">
            <a:extLst>
              <a:ext uri="{FF2B5EF4-FFF2-40B4-BE49-F238E27FC236}">
                <a16:creationId xmlns:a16="http://schemas.microsoft.com/office/drawing/2014/main" id="{93BBCDCE-05F0-225A-06D3-D3B3D7633F6B}"/>
              </a:ext>
            </a:extLst>
          </p:cNvPr>
          <p:cNvCxnSpPr>
            <a:cxnSpLocks/>
            <a:stCxn id="17" idx="3"/>
            <a:endCxn id="39" idx="1"/>
          </p:cNvCxnSpPr>
          <p:nvPr/>
        </p:nvCxnSpPr>
        <p:spPr>
          <a:xfrm>
            <a:off x="7206663" y="3645389"/>
            <a:ext cx="195639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6" name="Connecteur droit avec flèche 55">
            <a:extLst>
              <a:ext uri="{FF2B5EF4-FFF2-40B4-BE49-F238E27FC236}">
                <a16:creationId xmlns:a16="http://schemas.microsoft.com/office/drawing/2014/main" id="{8B401C60-1D62-B44F-0F03-A05C9AB5FEDE}"/>
              </a:ext>
            </a:extLst>
          </p:cNvPr>
          <p:cNvCxnSpPr>
            <a:stCxn id="16" idx="3"/>
            <a:endCxn id="17" idx="1"/>
          </p:cNvCxnSpPr>
          <p:nvPr/>
        </p:nvCxnSpPr>
        <p:spPr>
          <a:xfrm>
            <a:off x="3028947" y="3626671"/>
            <a:ext cx="1956390" cy="187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37152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barn(inVertical)">
                                      <p:cBhvr>
                                        <p:cTn id="19" dur="50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barn(inVertical)">
                                      <p:cBhvr>
                                        <p:cTn id="36" dur="500"/>
                                        <p:tgtEl>
                                          <p:spTgt spid="51"/>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1000"/>
                                        <p:tgtEl>
                                          <p:spTgt spid="39"/>
                                        </p:tgtEl>
                                      </p:cBhvr>
                                    </p:animEffect>
                                    <p:anim calcmode="lin" valueType="num">
                                      <p:cBhvr>
                                        <p:cTn id="42" dur="1000" fill="hold"/>
                                        <p:tgtEl>
                                          <p:spTgt spid="39"/>
                                        </p:tgtEl>
                                        <p:attrNameLst>
                                          <p:attrName>ppt_x</p:attrName>
                                        </p:attrNameLst>
                                      </p:cBhvr>
                                      <p:tavLst>
                                        <p:tav tm="0">
                                          <p:val>
                                            <p:strVal val="#ppt_x"/>
                                          </p:val>
                                        </p:tav>
                                        <p:tav tm="100000">
                                          <p:val>
                                            <p:strVal val="#ppt_x"/>
                                          </p:val>
                                        </p:tav>
                                      </p:tavLst>
                                    </p:anim>
                                    <p:anim calcmode="lin" valueType="num">
                                      <p:cBhvr>
                                        <p:cTn id="43" dur="1000" fill="hold"/>
                                        <p:tgtEl>
                                          <p:spTgt spid="3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42A6BC9F-6BAB-C8C2-5D65-497AEF3A5A76}"/>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Calcul de l'Impureté de Gini</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B9DDB0B6-20AF-2875-C39F-AAEEAC2E18D7}"/>
              </a:ext>
            </a:extLst>
          </p:cNvPr>
          <p:cNvSpPr>
            <a:spLocks noGrp="1"/>
          </p:cNvSpPr>
          <p:nvPr>
            <p:ph type="sldNum" sz="quarter" idx="12"/>
          </p:nvPr>
        </p:nvSpPr>
        <p:spPr>
          <a:xfrm>
            <a:off x="0" y="6480175"/>
            <a:ext cx="226982" cy="377825"/>
          </a:xfrm>
        </p:spPr>
        <p:txBody>
          <a:bodyPr/>
          <a:lstStyle/>
          <a:p>
            <a:fld id="{A3401A20-A1E0-4E43-B782-1D8AAEB2FCB1}" type="slidenum">
              <a:rPr lang="fr-FR" smtClean="0"/>
              <a:t>7</a:t>
            </a:fld>
            <a:endParaRPr lang="fr-FR" dirty="0"/>
          </a:p>
        </p:txBody>
      </p:sp>
      <p:pic>
        <p:nvPicPr>
          <p:cNvPr id="6" name="Image 5">
            <a:extLst>
              <a:ext uri="{FF2B5EF4-FFF2-40B4-BE49-F238E27FC236}">
                <a16:creationId xmlns:a16="http://schemas.microsoft.com/office/drawing/2014/main" id="{D9B44FAB-0D38-AF21-D58E-6D048DBEAFCD}"/>
              </a:ext>
            </a:extLst>
          </p:cNvPr>
          <p:cNvPicPr>
            <a:picLocks noChangeAspect="1"/>
          </p:cNvPicPr>
          <p:nvPr/>
        </p:nvPicPr>
        <p:blipFill>
          <a:blip r:embed="rId2">
            <a:duotone>
              <a:prstClr val="black"/>
              <a:srgbClr val="00B0F0">
                <a:tint val="45000"/>
                <a:satMod val="400000"/>
              </a:srgbClr>
            </a:duotone>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270449" y="1035763"/>
            <a:ext cx="7651101" cy="340560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0" name="Image 9">
            <a:extLst>
              <a:ext uri="{FF2B5EF4-FFF2-40B4-BE49-F238E27FC236}">
                <a16:creationId xmlns:a16="http://schemas.microsoft.com/office/drawing/2014/main" id="{A3A43962-606D-AF14-6BE9-98F3158155D0}"/>
              </a:ext>
            </a:extLst>
          </p:cNvPr>
          <p:cNvPicPr>
            <a:picLocks noChangeAspect="1"/>
          </p:cNvPicPr>
          <p:nvPr/>
        </p:nvPicPr>
        <p:blipFill>
          <a:blip r:embed="rId4"/>
          <a:stretch>
            <a:fillRect/>
          </a:stretch>
        </p:blipFill>
        <p:spPr>
          <a:xfrm>
            <a:off x="2270449" y="4800303"/>
            <a:ext cx="7651101" cy="167987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120734398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a:extLst>
              <a:ext uri="{FF2B5EF4-FFF2-40B4-BE49-F238E27FC236}">
                <a16:creationId xmlns:a16="http://schemas.microsoft.com/office/drawing/2014/main" id="{517C8826-46DE-21E1-A083-D6E41A8F9360}"/>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Division des données en fonction d'un seuil</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pic>
        <p:nvPicPr>
          <p:cNvPr id="8" name="Image 7">
            <a:extLst>
              <a:ext uri="{FF2B5EF4-FFF2-40B4-BE49-F238E27FC236}">
                <a16:creationId xmlns:a16="http://schemas.microsoft.com/office/drawing/2014/main" id="{8FE68B44-5130-616C-1460-F40CECB4EB09}"/>
              </a:ext>
            </a:extLst>
          </p:cNvPr>
          <p:cNvPicPr>
            <a:picLocks noChangeAspect="1"/>
          </p:cNvPicPr>
          <p:nvPr/>
        </p:nvPicPr>
        <p:blipFill>
          <a:blip r:embed="rId2">
            <a:duotone>
              <a:prstClr val="black"/>
              <a:srgbClr val="00B0F0">
                <a:tint val="45000"/>
                <a:satMod val="400000"/>
              </a:srgbClr>
            </a:duotone>
          </a:blip>
          <a:stretch>
            <a:fillRect/>
          </a:stretch>
        </p:blipFill>
        <p:spPr>
          <a:xfrm>
            <a:off x="2142571" y="1177978"/>
            <a:ext cx="7906853" cy="295316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0" name="Image 9">
            <a:extLst>
              <a:ext uri="{FF2B5EF4-FFF2-40B4-BE49-F238E27FC236}">
                <a16:creationId xmlns:a16="http://schemas.microsoft.com/office/drawing/2014/main" id="{25459CE4-D0A0-5196-DDD6-F49B816EF8D2}"/>
              </a:ext>
            </a:extLst>
          </p:cNvPr>
          <p:cNvPicPr>
            <a:picLocks noChangeAspect="1"/>
          </p:cNvPicPr>
          <p:nvPr/>
        </p:nvPicPr>
        <p:blipFill>
          <a:blip r:embed="rId3"/>
          <a:stretch>
            <a:fillRect/>
          </a:stretch>
        </p:blipFill>
        <p:spPr>
          <a:xfrm>
            <a:off x="2142570" y="4644324"/>
            <a:ext cx="7906853" cy="144520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4" name="Espace réservé du numéro de diapositive 3">
            <a:extLst>
              <a:ext uri="{FF2B5EF4-FFF2-40B4-BE49-F238E27FC236}">
                <a16:creationId xmlns:a16="http://schemas.microsoft.com/office/drawing/2014/main" id="{120D782F-4B9B-990D-88C5-4769A002302C}"/>
              </a:ext>
            </a:extLst>
          </p:cNvPr>
          <p:cNvSpPr>
            <a:spLocks noGrp="1"/>
          </p:cNvSpPr>
          <p:nvPr>
            <p:ph type="sldNum" sz="quarter" idx="12"/>
          </p:nvPr>
        </p:nvSpPr>
        <p:spPr>
          <a:xfrm>
            <a:off x="0" y="6522098"/>
            <a:ext cx="244085" cy="335902"/>
          </a:xfrm>
        </p:spPr>
        <p:txBody>
          <a:bodyPr/>
          <a:lstStyle/>
          <a:p>
            <a:fld id="{A3401A20-A1E0-4E43-B782-1D8AAEB2FCB1}" type="slidenum">
              <a:rPr lang="fr-FR" smtClean="0"/>
              <a:t>8</a:t>
            </a:fld>
            <a:endParaRPr lang="fr-FR" dirty="0"/>
          </a:p>
        </p:txBody>
      </p:sp>
    </p:spTree>
    <p:extLst>
      <p:ext uri="{BB962C8B-B14F-4D97-AF65-F5344CB8AC3E}">
        <p14:creationId xmlns:p14="http://schemas.microsoft.com/office/powerpoint/2010/main" val="49383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2849701-4C2E-1B80-FAF7-AFE9851DB686}"/>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Sélection du meilleur seuil de division</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pic>
        <p:nvPicPr>
          <p:cNvPr id="6" name="Image 5">
            <a:extLst>
              <a:ext uri="{FF2B5EF4-FFF2-40B4-BE49-F238E27FC236}">
                <a16:creationId xmlns:a16="http://schemas.microsoft.com/office/drawing/2014/main" id="{8C38024B-C621-D012-D7D3-2287D1031861}"/>
              </a:ext>
            </a:extLst>
          </p:cNvPr>
          <p:cNvPicPr>
            <a:picLocks noChangeAspect="1"/>
          </p:cNvPicPr>
          <p:nvPr/>
        </p:nvPicPr>
        <p:blipFill>
          <a:blip r:embed="rId2">
            <a:duotone>
              <a:prstClr val="black"/>
              <a:srgbClr val="00B0F0">
                <a:tint val="45000"/>
                <a:satMod val="400000"/>
              </a:srgbClr>
            </a:duotone>
          </a:blip>
          <a:stretch>
            <a:fillRect/>
          </a:stretch>
        </p:blipFill>
        <p:spPr>
          <a:xfrm>
            <a:off x="2006081" y="1001654"/>
            <a:ext cx="8164285" cy="276528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8" name="Image 7">
            <a:extLst>
              <a:ext uri="{FF2B5EF4-FFF2-40B4-BE49-F238E27FC236}">
                <a16:creationId xmlns:a16="http://schemas.microsoft.com/office/drawing/2014/main" id="{B2CA10EE-CC36-9419-BEE0-B15ED33E2D46}"/>
              </a:ext>
            </a:extLst>
          </p:cNvPr>
          <p:cNvPicPr>
            <a:picLocks noChangeAspect="1"/>
          </p:cNvPicPr>
          <p:nvPr/>
        </p:nvPicPr>
        <p:blipFill>
          <a:blip r:embed="rId3"/>
          <a:stretch>
            <a:fillRect/>
          </a:stretch>
        </p:blipFill>
        <p:spPr>
          <a:xfrm>
            <a:off x="2006082" y="4021494"/>
            <a:ext cx="8164285" cy="249127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Espace réservé du numéro de diapositive 4">
            <a:extLst>
              <a:ext uri="{FF2B5EF4-FFF2-40B4-BE49-F238E27FC236}">
                <a16:creationId xmlns:a16="http://schemas.microsoft.com/office/drawing/2014/main" id="{535AC247-8BF2-3124-5C44-9DEDABFE8241}"/>
              </a:ext>
            </a:extLst>
          </p:cNvPr>
          <p:cNvSpPr>
            <a:spLocks noGrp="1"/>
          </p:cNvSpPr>
          <p:nvPr>
            <p:ph type="sldNum" sz="quarter" idx="12"/>
          </p:nvPr>
        </p:nvSpPr>
        <p:spPr>
          <a:xfrm>
            <a:off x="0" y="6480175"/>
            <a:ext cx="226982" cy="377825"/>
          </a:xfrm>
        </p:spPr>
        <p:txBody>
          <a:bodyPr/>
          <a:lstStyle/>
          <a:p>
            <a:fld id="{A3401A20-A1E0-4E43-B782-1D8AAEB2FCB1}" type="slidenum">
              <a:rPr lang="fr-FR" smtClean="0"/>
              <a:t>9</a:t>
            </a:fld>
            <a:endParaRPr lang="fr-FR" dirty="0"/>
          </a:p>
        </p:txBody>
      </p:sp>
    </p:spTree>
    <p:extLst>
      <p:ext uri="{BB962C8B-B14F-4D97-AF65-F5344CB8AC3E}">
        <p14:creationId xmlns:p14="http://schemas.microsoft.com/office/powerpoint/2010/main" val="426670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6D414F66-752E-CAFB-133C-8A6241BDEE3B}"/>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Construction de l'arbre de décision </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pic>
        <p:nvPicPr>
          <p:cNvPr id="6" name="Image 5">
            <a:extLst>
              <a:ext uri="{FF2B5EF4-FFF2-40B4-BE49-F238E27FC236}">
                <a16:creationId xmlns:a16="http://schemas.microsoft.com/office/drawing/2014/main" id="{6F116A57-A11F-EAE6-EB46-9DA92C2BE58B}"/>
              </a:ext>
            </a:extLst>
          </p:cNvPr>
          <p:cNvPicPr>
            <a:picLocks noChangeAspect="1"/>
          </p:cNvPicPr>
          <p:nvPr/>
        </p:nvPicPr>
        <p:blipFill>
          <a:blip r:embed="rId2">
            <a:duotone>
              <a:prstClr val="black"/>
              <a:srgbClr val="00B0F0">
                <a:tint val="45000"/>
                <a:satMod val="400000"/>
              </a:srgbClr>
            </a:duotone>
          </a:blip>
          <a:stretch>
            <a:fillRect/>
          </a:stretch>
        </p:blipFill>
        <p:spPr>
          <a:xfrm>
            <a:off x="153888" y="1604198"/>
            <a:ext cx="5942110" cy="364960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8" name="Image 7">
            <a:extLst>
              <a:ext uri="{FF2B5EF4-FFF2-40B4-BE49-F238E27FC236}">
                <a16:creationId xmlns:a16="http://schemas.microsoft.com/office/drawing/2014/main" id="{9E2E21D9-390B-9604-ACCD-D2285856D132}"/>
              </a:ext>
            </a:extLst>
          </p:cNvPr>
          <p:cNvPicPr>
            <a:picLocks noChangeAspect="1"/>
          </p:cNvPicPr>
          <p:nvPr/>
        </p:nvPicPr>
        <p:blipFill>
          <a:blip r:embed="rId3"/>
          <a:stretch>
            <a:fillRect/>
          </a:stretch>
        </p:blipFill>
        <p:spPr>
          <a:xfrm>
            <a:off x="6251510" y="1604198"/>
            <a:ext cx="5786602" cy="364960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Espace réservé du numéro de diapositive 4">
            <a:extLst>
              <a:ext uri="{FF2B5EF4-FFF2-40B4-BE49-F238E27FC236}">
                <a16:creationId xmlns:a16="http://schemas.microsoft.com/office/drawing/2014/main" id="{6F705725-1E17-0722-C2FD-DBB8183CAAE3}"/>
              </a:ext>
            </a:extLst>
          </p:cNvPr>
          <p:cNvSpPr>
            <a:spLocks noGrp="1"/>
          </p:cNvSpPr>
          <p:nvPr>
            <p:ph type="sldNum" sz="quarter" idx="12"/>
          </p:nvPr>
        </p:nvSpPr>
        <p:spPr>
          <a:xfrm>
            <a:off x="-15587" y="6480175"/>
            <a:ext cx="338949" cy="377825"/>
          </a:xfrm>
        </p:spPr>
        <p:txBody>
          <a:bodyPr/>
          <a:lstStyle/>
          <a:p>
            <a:fld id="{A3401A20-A1E0-4E43-B782-1D8AAEB2FCB1}" type="slidenum">
              <a:rPr lang="fr-FR" smtClean="0"/>
              <a:t>10</a:t>
            </a:fld>
            <a:endParaRPr lang="fr-FR" dirty="0"/>
          </a:p>
        </p:txBody>
      </p:sp>
      <p:sp>
        <p:nvSpPr>
          <p:cNvPr id="2" name="Rectangle 1">
            <a:extLst>
              <a:ext uri="{FF2B5EF4-FFF2-40B4-BE49-F238E27FC236}">
                <a16:creationId xmlns:a16="http://schemas.microsoft.com/office/drawing/2014/main" id="{03BD421E-C3CE-432F-BA03-379AA9C45C79}"/>
              </a:ext>
            </a:extLst>
          </p:cNvPr>
          <p:cNvSpPr/>
          <p:nvPr/>
        </p:nvSpPr>
        <p:spPr>
          <a:xfrm>
            <a:off x="5019870" y="4786604"/>
            <a:ext cx="933061" cy="307910"/>
          </a:xfrm>
          <a:prstGeom prst="rect">
            <a:avLst/>
          </a:prstGeom>
          <a:solidFill>
            <a:srgbClr val="75E6FF"/>
          </a:solidFill>
          <a:ln>
            <a:solidFill>
              <a:srgbClr val="75E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a:solidFill>
                  <a:srgbClr val="75E6FF"/>
                </a:solidFill>
              </a:ln>
            </a:endParaRPr>
          </a:p>
        </p:txBody>
      </p:sp>
    </p:spTree>
    <p:extLst>
      <p:ext uri="{BB962C8B-B14F-4D97-AF65-F5344CB8AC3E}">
        <p14:creationId xmlns:p14="http://schemas.microsoft.com/office/powerpoint/2010/main" val="372599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72847E1C-9C0D-5D3F-2B9C-3FBAD5C5D599}"/>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Construction de la Forêt Aléatoire (</a:t>
            </a:r>
            <a:r>
              <a:rPr kumimoji="0" lang="fr-FR" sz="3200" b="1" i="0" u="none" strike="noStrike" kern="1200" cap="none" spc="0" normalizeH="0" baseline="0" noProof="0" dirty="0" err="1">
                <a:ln>
                  <a:noFill/>
                </a:ln>
                <a:solidFill>
                  <a:schemeClr val="tx1"/>
                </a:solidFill>
                <a:effectLst/>
                <a:uLnTx/>
                <a:uFillTx/>
                <a:latin typeface="+mn-lt"/>
                <a:cs typeface="Arial" pitchFamily="34" charset="0"/>
              </a:rPr>
              <a:t>Random</a:t>
            </a:r>
            <a:r>
              <a:rPr kumimoji="0" lang="fr-FR" sz="3200" b="1" i="0" u="none" strike="noStrike" kern="1200" cap="none" spc="0" normalizeH="0" baseline="0" noProof="0" dirty="0">
                <a:ln>
                  <a:noFill/>
                </a:ln>
                <a:solidFill>
                  <a:schemeClr val="tx1"/>
                </a:solidFill>
                <a:effectLst/>
                <a:uLnTx/>
                <a:uFillTx/>
                <a:latin typeface="+mn-lt"/>
                <a:cs typeface="Arial" pitchFamily="34" charset="0"/>
              </a:rPr>
              <a:t> Forest) </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pic>
        <p:nvPicPr>
          <p:cNvPr id="6" name="Image 5">
            <a:extLst>
              <a:ext uri="{FF2B5EF4-FFF2-40B4-BE49-F238E27FC236}">
                <a16:creationId xmlns:a16="http://schemas.microsoft.com/office/drawing/2014/main" id="{C9EBF3A0-F58D-497A-8EFB-1D7037A94BAD}"/>
              </a:ext>
            </a:extLst>
          </p:cNvPr>
          <p:cNvPicPr>
            <a:picLocks noChangeAspect="1"/>
          </p:cNvPicPr>
          <p:nvPr/>
        </p:nvPicPr>
        <p:blipFill>
          <a:blip r:embed="rId2">
            <a:duotone>
              <a:prstClr val="black"/>
              <a:srgbClr val="00B0F0">
                <a:tint val="45000"/>
                <a:satMod val="400000"/>
              </a:srgbClr>
            </a:duotone>
          </a:blip>
          <a:stretch>
            <a:fillRect/>
          </a:stretch>
        </p:blipFill>
        <p:spPr>
          <a:xfrm>
            <a:off x="2033018" y="1275853"/>
            <a:ext cx="8125959" cy="296268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8" name="Image 7">
            <a:extLst>
              <a:ext uri="{FF2B5EF4-FFF2-40B4-BE49-F238E27FC236}">
                <a16:creationId xmlns:a16="http://schemas.microsoft.com/office/drawing/2014/main" id="{0FFA62BC-867A-50FA-9E53-7678082DAD6F}"/>
              </a:ext>
            </a:extLst>
          </p:cNvPr>
          <p:cNvPicPr>
            <a:picLocks noChangeAspect="1"/>
          </p:cNvPicPr>
          <p:nvPr/>
        </p:nvPicPr>
        <p:blipFill>
          <a:blip r:embed="rId3"/>
          <a:stretch>
            <a:fillRect/>
          </a:stretch>
        </p:blipFill>
        <p:spPr>
          <a:xfrm>
            <a:off x="2033019" y="4581513"/>
            <a:ext cx="8125958" cy="174464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Espace réservé du numéro de diapositive 4">
            <a:extLst>
              <a:ext uri="{FF2B5EF4-FFF2-40B4-BE49-F238E27FC236}">
                <a16:creationId xmlns:a16="http://schemas.microsoft.com/office/drawing/2014/main" id="{D77B1751-C698-2F6F-F7EF-C9A81549BA02}"/>
              </a:ext>
            </a:extLst>
          </p:cNvPr>
          <p:cNvSpPr>
            <a:spLocks noGrp="1"/>
          </p:cNvSpPr>
          <p:nvPr>
            <p:ph type="sldNum" sz="quarter" idx="12"/>
          </p:nvPr>
        </p:nvSpPr>
        <p:spPr>
          <a:xfrm>
            <a:off x="0" y="6480175"/>
            <a:ext cx="348280" cy="377825"/>
          </a:xfrm>
        </p:spPr>
        <p:txBody>
          <a:bodyPr/>
          <a:lstStyle/>
          <a:p>
            <a:fld id="{A3401A20-A1E0-4E43-B782-1D8AAEB2FCB1}" type="slidenum">
              <a:rPr lang="fr-FR" smtClean="0"/>
              <a:t>11</a:t>
            </a:fld>
            <a:endParaRPr lang="fr-FR" dirty="0"/>
          </a:p>
        </p:txBody>
      </p:sp>
    </p:spTree>
    <p:extLst>
      <p:ext uri="{BB962C8B-B14F-4D97-AF65-F5344CB8AC3E}">
        <p14:creationId xmlns:p14="http://schemas.microsoft.com/office/powerpoint/2010/main" val="377447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82D2-6656-C1C5-B164-F332F7ECF65F}"/>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2AD4591E-0CC2-E0AB-65B1-F66573B4CD0D}"/>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Prédiction avec la Forêt </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pic>
        <p:nvPicPr>
          <p:cNvPr id="3" name="Image 2">
            <a:extLst>
              <a:ext uri="{FF2B5EF4-FFF2-40B4-BE49-F238E27FC236}">
                <a16:creationId xmlns:a16="http://schemas.microsoft.com/office/drawing/2014/main" id="{A5158157-25F4-75C3-FD8C-A84E807EC48F}"/>
              </a:ext>
            </a:extLst>
          </p:cNvPr>
          <p:cNvPicPr>
            <a:picLocks noChangeAspect="1"/>
          </p:cNvPicPr>
          <p:nvPr/>
        </p:nvPicPr>
        <p:blipFill>
          <a:blip r:embed="rId2">
            <a:duotone>
              <a:prstClr val="black"/>
              <a:srgbClr val="00B0F0">
                <a:tint val="45000"/>
                <a:satMod val="400000"/>
              </a:srgbClr>
            </a:duotone>
          </a:blip>
          <a:stretch>
            <a:fillRect/>
          </a:stretch>
        </p:blipFill>
        <p:spPr>
          <a:xfrm>
            <a:off x="2304660" y="1210603"/>
            <a:ext cx="7529804" cy="170521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 name="Image 6">
            <a:extLst>
              <a:ext uri="{FF2B5EF4-FFF2-40B4-BE49-F238E27FC236}">
                <a16:creationId xmlns:a16="http://schemas.microsoft.com/office/drawing/2014/main" id="{6BA37645-DF1E-F1D9-6B7A-A32945DACD28}"/>
              </a:ext>
            </a:extLst>
          </p:cNvPr>
          <p:cNvPicPr>
            <a:picLocks noChangeAspect="1"/>
          </p:cNvPicPr>
          <p:nvPr/>
        </p:nvPicPr>
        <p:blipFill>
          <a:blip r:embed="rId3"/>
          <a:stretch>
            <a:fillRect/>
          </a:stretch>
        </p:blipFill>
        <p:spPr>
          <a:xfrm>
            <a:off x="2304661" y="3136194"/>
            <a:ext cx="7529803" cy="195696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0" name="Image 9">
            <a:extLst>
              <a:ext uri="{FF2B5EF4-FFF2-40B4-BE49-F238E27FC236}">
                <a16:creationId xmlns:a16="http://schemas.microsoft.com/office/drawing/2014/main" id="{F177BC71-A227-3E29-CA12-3E6E23ED2CEA}"/>
              </a:ext>
            </a:extLst>
          </p:cNvPr>
          <p:cNvPicPr>
            <a:picLocks noChangeAspect="1"/>
          </p:cNvPicPr>
          <p:nvPr/>
        </p:nvPicPr>
        <p:blipFill>
          <a:blip r:embed="rId4"/>
          <a:stretch>
            <a:fillRect/>
          </a:stretch>
        </p:blipFill>
        <p:spPr>
          <a:xfrm>
            <a:off x="2304661" y="5313532"/>
            <a:ext cx="7529802" cy="123655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6" name="Espace réservé du numéro de diapositive 5">
            <a:extLst>
              <a:ext uri="{FF2B5EF4-FFF2-40B4-BE49-F238E27FC236}">
                <a16:creationId xmlns:a16="http://schemas.microsoft.com/office/drawing/2014/main" id="{1F95EAC7-82EF-45EE-65C8-D518D4A90F9F}"/>
              </a:ext>
            </a:extLst>
          </p:cNvPr>
          <p:cNvSpPr>
            <a:spLocks noGrp="1"/>
          </p:cNvSpPr>
          <p:nvPr>
            <p:ph type="sldNum" sz="quarter" idx="12"/>
          </p:nvPr>
        </p:nvSpPr>
        <p:spPr>
          <a:xfrm>
            <a:off x="0" y="6460453"/>
            <a:ext cx="348280" cy="377825"/>
          </a:xfrm>
        </p:spPr>
        <p:txBody>
          <a:bodyPr/>
          <a:lstStyle/>
          <a:p>
            <a:fld id="{A3401A20-A1E0-4E43-B782-1D8AAEB2FCB1}" type="slidenum">
              <a:rPr lang="fr-FR" smtClean="0"/>
              <a:t>12</a:t>
            </a:fld>
            <a:endParaRPr lang="fr-FR"/>
          </a:p>
        </p:txBody>
      </p:sp>
    </p:spTree>
    <p:extLst>
      <p:ext uri="{BB962C8B-B14F-4D97-AF65-F5344CB8AC3E}">
        <p14:creationId xmlns:p14="http://schemas.microsoft.com/office/powerpoint/2010/main" val="248162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52C20-810B-36A5-FE04-53609B1D0CDB}"/>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0C38CBED-1329-CCF7-47C6-D3F3D8E3225E}"/>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Comparaison avec </a:t>
            </a:r>
            <a:r>
              <a:rPr kumimoji="0" lang="fr-FR" sz="3200" b="1" i="0" u="none" strike="noStrike" kern="1200" cap="none" spc="0" normalizeH="0" baseline="0" noProof="0" dirty="0" err="1">
                <a:ln>
                  <a:noFill/>
                </a:ln>
                <a:solidFill>
                  <a:schemeClr val="tx1"/>
                </a:solidFill>
                <a:effectLst/>
                <a:uLnTx/>
                <a:uFillTx/>
                <a:latin typeface="+mn-lt"/>
                <a:cs typeface="Arial" pitchFamily="34" charset="0"/>
              </a:rPr>
              <a:t>sklearn</a:t>
            </a:r>
            <a:r>
              <a:rPr kumimoji="0" lang="fr-FR" sz="3200" b="1" i="0" u="none" strike="noStrike" kern="1200" cap="none" spc="0" normalizeH="0" baseline="0" noProof="0" dirty="0">
                <a:ln>
                  <a:noFill/>
                </a:ln>
                <a:solidFill>
                  <a:schemeClr val="tx1"/>
                </a:solidFill>
                <a:effectLst/>
                <a:uLnTx/>
                <a:uFillTx/>
                <a:latin typeface="+mn-lt"/>
                <a:cs typeface="Arial" pitchFamily="34" charset="0"/>
              </a:rPr>
              <a:t> et Visualisation</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pic>
        <p:nvPicPr>
          <p:cNvPr id="5" name="Image 4">
            <a:extLst>
              <a:ext uri="{FF2B5EF4-FFF2-40B4-BE49-F238E27FC236}">
                <a16:creationId xmlns:a16="http://schemas.microsoft.com/office/drawing/2014/main" id="{C5AC4E7D-C84E-7F41-A410-FF30A75083DF}"/>
              </a:ext>
            </a:extLst>
          </p:cNvPr>
          <p:cNvPicPr>
            <a:picLocks noChangeAspect="1"/>
          </p:cNvPicPr>
          <p:nvPr/>
        </p:nvPicPr>
        <p:blipFill>
          <a:blip r:embed="rId2"/>
          <a:stretch>
            <a:fillRect/>
          </a:stretch>
        </p:blipFill>
        <p:spPr>
          <a:xfrm>
            <a:off x="2096276" y="1186106"/>
            <a:ext cx="7999444" cy="516804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6" name="Espace réservé du numéro de diapositive 5">
            <a:extLst>
              <a:ext uri="{FF2B5EF4-FFF2-40B4-BE49-F238E27FC236}">
                <a16:creationId xmlns:a16="http://schemas.microsoft.com/office/drawing/2014/main" id="{250F8D1E-F4AB-EF95-1D79-A875F9961F7D}"/>
              </a:ext>
            </a:extLst>
          </p:cNvPr>
          <p:cNvSpPr>
            <a:spLocks noGrp="1"/>
          </p:cNvSpPr>
          <p:nvPr>
            <p:ph type="sldNum" sz="quarter" idx="12"/>
          </p:nvPr>
        </p:nvSpPr>
        <p:spPr>
          <a:xfrm>
            <a:off x="0" y="6456784"/>
            <a:ext cx="329619" cy="381494"/>
          </a:xfrm>
        </p:spPr>
        <p:txBody>
          <a:bodyPr/>
          <a:lstStyle/>
          <a:p>
            <a:fld id="{A3401A20-A1E0-4E43-B782-1D8AAEB2FCB1}" type="slidenum">
              <a:rPr lang="fr-FR" smtClean="0"/>
              <a:t>13</a:t>
            </a:fld>
            <a:endParaRPr lang="fr-FR" dirty="0"/>
          </a:p>
        </p:txBody>
      </p:sp>
    </p:spTree>
    <p:extLst>
      <p:ext uri="{BB962C8B-B14F-4D97-AF65-F5344CB8AC3E}">
        <p14:creationId xmlns:p14="http://schemas.microsoft.com/office/powerpoint/2010/main" val="269204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B833751-2BBD-6C29-4496-1EE0D5B3BC8C}"/>
              </a:ext>
            </a:extLst>
          </p:cNvPr>
          <p:cNvPicPr>
            <a:picLocks noChangeAspect="1"/>
          </p:cNvPicPr>
          <p:nvPr/>
        </p:nvPicPr>
        <p:blipFill>
          <a:blip r:embed="rId2"/>
          <a:stretch>
            <a:fillRect/>
          </a:stretch>
        </p:blipFill>
        <p:spPr>
          <a:xfrm>
            <a:off x="767127" y="431820"/>
            <a:ext cx="10657746" cy="599436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4" name="Espace réservé du numéro de diapositive 3">
            <a:extLst>
              <a:ext uri="{FF2B5EF4-FFF2-40B4-BE49-F238E27FC236}">
                <a16:creationId xmlns:a16="http://schemas.microsoft.com/office/drawing/2014/main" id="{BC4D1D2A-BF63-C7F7-0EB6-DA98C98E55B5}"/>
              </a:ext>
            </a:extLst>
          </p:cNvPr>
          <p:cNvSpPr>
            <a:spLocks noGrp="1"/>
          </p:cNvSpPr>
          <p:nvPr>
            <p:ph type="sldNum" sz="quarter" idx="12"/>
          </p:nvPr>
        </p:nvSpPr>
        <p:spPr>
          <a:xfrm>
            <a:off x="0" y="6480175"/>
            <a:ext cx="354563" cy="377825"/>
          </a:xfrm>
        </p:spPr>
        <p:txBody>
          <a:bodyPr/>
          <a:lstStyle/>
          <a:p>
            <a:fld id="{A3401A20-A1E0-4E43-B782-1D8AAEB2FCB1}" type="slidenum">
              <a:rPr lang="fr-FR" smtClean="0"/>
              <a:t>14</a:t>
            </a:fld>
            <a:endParaRPr lang="fr-FR"/>
          </a:p>
        </p:txBody>
      </p:sp>
    </p:spTree>
    <p:extLst>
      <p:ext uri="{BB962C8B-B14F-4D97-AF65-F5344CB8AC3E}">
        <p14:creationId xmlns:p14="http://schemas.microsoft.com/office/powerpoint/2010/main" val="25323297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C4DCD-BC73-8E81-2378-A34DAB25E26A}"/>
            </a:ext>
          </a:extLst>
        </p:cNvPr>
        <p:cNvGrpSpPr/>
        <p:nvPr/>
      </p:nvGrpSpPr>
      <p:grpSpPr>
        <a:xfrm>
          <a:off x="0" y="0"/>
          <a:ext cx="0" cy="0"/>
          <a:chOff x="0" y="0"/>
          <a:chExt cx="0" cy="0"/>
        </a:xfrm>
      </p:grpSpPr>
      <p:sp>
        <p:nvSpPr>
          <p:cNvPr id="36" name="Text Placeholder 1">
            <a:extLst>
              <a:ext uri="{FF2B5EF4-FFF2-40B4-BE49-F238E27FC236}">
                <a16:creationId xmlns:a16="http://schemas.microsoft.com/office/drawing/2014/main" id="{0E18780E-B89E-BE89-3544-6A630F51DFCD}"/>
              </a:ext>
            </a:extLst>
          </p:cNvPr>
          <p:cNvSpPr txBox="1">
            <a:spLocks/>
          </p:cNvSpPr>
          <p:nvPr/>
        </p:nvSpPr>
        <p:spPr>
          <a:xfrm>
            <a:off x="3967841" y="105603"/>
            <a:ext cx="4256315" cy="724247"/>
          </a:xfrm>
          <a:prstGeom prst="rect">
            <a:avLst/>
          </a:prstGeom>
          <a:solidFill>
            <a:schemeClr val="bg2">
              <a:lumMod val="60000"/>
              <a:lumOff val="40000"/>
            </a:schemeClr>
          </a:solidFill>
          <a:effectLst>
            <a:softEdge rad="63500"/>
          </a:effectLst>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cs typeface="Arial" pitchFamily="34" charset="0"/>
              </a:rPr>
              <a:t>Gradient Boosting</a:t>
            </a:r>
          </a:p>
        </p:txBody>
      </p:sp>
      <p:sp>
        <p:nvSpPr>
          <p:cNvPr id="45" name="Espace réservé du numéro de diapositive 44">
            <a:extLst>
              <a:ext uri="{FF2B5EF4-FFF2-40B4-BE49-F238E27FC236}">
                <a16:creationId xmlns:a16="http://schemas.microsoft.com/office/drawing/2014/main" id="{511AC61D-5AF8-02ED-C694-0CB766662E74}"/>
              </a:ext>
            </a:extLst>
          </p:cNvPr>
          <p:cNvSpPr>
            <a:spLocks noGrp="1"/>
          </p:cNvSpPr>
          <p:nvPr>
            <p:ph type="sldNum" sz="quarter" idx="12"/>
          </p:nvPr>
        </p:nvSpPr>
        <p:spPr>
          <a:xfrm>
            <a:off x="0" y="6480175"/>
            <a:ext cx="326571" cy="377825"/>
          </a:xfrm>
        </p:spPr>
        <p:txBody>
          <a:bodyPr/>
          <a:lstStyle/>
          <a:p>
            <a:fld id="{A3401A20-A1E0-4E43-B782-1D8AAEB2FCB1}" type="slidenum">
              <a:rPr lang="fr-FR" smtClean="0"/>
              <a:t>15</a:t>
            </a:fld>
            <a:endParaRPr lang="fr-FR" dirty="0"/>
          </a:p>
        </p:txBody>
      </p:sp>
      <p:sp>
        <p:nvSpPr>
          <p:cNvPr id="11" name="ZoneTexte 10">
            <a:extLst>
              <a:ext uri="{FF2B5EF4-FFF2-40B4-BE49-F238E27FC236}">
                <a16:creationId xmlns:a16="http://schemas.microsoft.com/office/drawing/2014/main" id="{61E9B9A7-96AB-8752-2E0A-208624CB9AF5}"/>
              </a:ext>
            </a:extLst>
          </p:cNvPr>
          <p:cNvSpPr txBox="1"/>
          <p:nvPr/>
        </p:nvSpPr>
        <p:spPr>
          <a:xfrm>
            <a:off x="139814" y="905135"/>
            <a:ext cx="11912370" cy="646331"/>
          </a:xfrm>
          <a:prstGeom prst="rect">
            <a:avLst/>
          </a:prstGeom>
          <a:noFill/>
        </p:spPr>
        <p:txBody>
          <a:bodyPr wrap="square">
            <a:spAutoFit/>
          </a:bodyPr>
          <a:lstStyle/>
          <a:p>
            <a:pPr defTabSz="914400"/>
            <a:r>
              <a:rPr lang="fr-FR" sz="1200" dirty="0">
                <a:solidFill>
                  <a:prstClr val="white"/>
                </a:solidFill>
                <a:latin typeface="Arial"/>
              </a:rPr>
              <a:t>Le Gradient </a:t>
            </a:r>
            <a:r>
              <a:rPr lang="fr-FR" sz="1200" dirty="0" err="1">
                <a:solidFill>
                  <a:prstClr val="white"/>
                </a:solidFill>
                <a:latin typeface="Arial"/>
              </a:rPr>
              <a:t>Boosting</a:t>
            </a:r>
            <a:r>
              <a:rPr lang="fr-FR" sz="1200" dirty="0">
                <a:solidFill>
                  <a:prstClr val="white"/>
                </a:solidFill>
                <a:latin typeface="Arial"/>
              </a:rPr>
              <a:t> est une méthode d’ensemble qui repose sur le </a:t>
            </a:r>
            <a:r>
              <a:rPr lang="fr-FR" sz="1200" dirty="0" err="1">
                <a:solidFill>
                  <a:prstClr val="white"/>
                </a:solidFill>
                <a:latin typeface="Arial"/>
              </a:rPr>
              <a:t>boosting</a:t>
            </a:r>
            <a:r>
              <a:rPr lang="fr-FR" sz="1200" dirty="0">
                <a:solidFill>
                  <a:prstClr val="white"/>
                </a:solidFill>
                <a:latin typeface="Arial"/>
              </a:rPr>
              <a:t>, un principe où plusieurs modèles faibles (souvent des arbres de décision peu profonds) sont entraînés séquentiellement afin de corriger les erreurs des modèles précédents. Contrairement au bagging, où les arbres sont construits indépendamment, le </a:t>
            </a:r>
            <a:r>
              <a:rPr lang="fr-FR" sz="1200" dirty="0" err="1">
                <a:solidFill>
                  <a:prstClr val="white"/>
                </a:solidFill>
                <a:latin typeface="Arial"/>
              </a:rPr>
              <a:t>boosting</a:t>
            </a:r>
            <a:r>
              <a:rPr lang="fr-FR" sz="1200" dirty="0">
                <a:solidFill>
                  <a:prstClr val="white"/>
                </a:solidFill>
                <a:latin typeface="Arial"/>
              </a:rPr>
              <a:t> construit chaque nouvel arbre en apprenant à corriger les erreurs du précédent.</a:t>
            </a:r>
          </a:p>
        </p:txBody>
      </p:sp>
      <p:grpSp>
        <p:nvGrpSpPr>
          <p:cNvPr id="12" name="Group 19">
            <a:extLst>
              <a:ext uri="{FF2B5EF4-FFF2-40B4-BE49-F238E27FC236}">
                <a16:creationId xmlns:a16="http://schemas.microsoft.com/office/drawing/2014/main" id="{4414626E-E868-471A-6AF6-47AB182EE4B0}"/>
              </a:ext>
            </a:extLst>
          </p:cNvPr>
          <p:cNvGrpSpPr/>
          <p:nvPr/>
        </p:nvGrpSpPr>
        <p:grpSpPr>
          <a:xfrm>
            <a:off x="924870" y="2012043"/>
            <a:ext cx="1975565" cy="1417193"/>
            <a:chOff x="1114004" y="1108655"/>
            <a:chExt cx="2148503" cy="1451954"/>
          </a:xfrm>
        </p:grpSpPr>
        <p:sp>
          <p:nvSpPr>
            <p:cNvPr id="13" name="TextBox 1">
              <a:extLst>
                <a:ext uri="{FF2B5EF4-FFF2-40B4-BE49-F238E27FC236}">
                  <a16:creationId xmlns:a16="http://schemas.microsoft.com/office/drawing/2014/main" id="{DE818497-AEEF-0868-FCF7-57C3056D9E80}"/>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14" name="TextBox 12">
              <a:extLst>
                <a:ext uri="{FF2B5EF4-FFF2-40B4-BE49-F238E27FC236}">
                  <a16:creationId xmlns:a16="http://schemas.microsoft.com/office/drawing/2014/main" id="{ECFFCF3D-F2E5-3576-51F9-09B8E8045DA2}"/>
                </a:ext>
              </a:extLst>
            </p:cNvPr>
            <p:cNvSpPr txBox="1"/>
            <p:nvPr/>
          </p:nvSpPr>
          <p:spPr>
            <a:xfrm>
              <a:off x="1134855" y="1898425"/>
              <a:ext cx="2119047" cy="662184"/>
            </a:xfrm>
            <a:prstGeom prst="rect">
              <a:avLst/>
            </a:prstGeom>
            <a:noFill/>
          </p:spPr>
          <p:txBody>
            <a:bodyPr wrap="square" rtlCol="0">
              <a:spAutoFit/>
            </a:bodyPr>
            <a:lstStyle/>
            <a:p>
              <a:r>
                <a:rPr lang="fr-FR" altLang="ko-KR" sz="1200" dirty="0">
                  <a:cs typeface="Arial" pitchFamily="34" charset="0"/>
                </a:rPr>
                <a:t>La première prédiction est simplement la moyenne des valeurs cibles.</a:t>
              </a:r>
              <a:endParaRPr lang="en-US" altLang="ko-KR" sz="1200" dirty="0">
                <a:cs typeface="Arial" pitchFamily="34" charset="0"/>
              </a:endParaRPr>
            </a:p>
          </p:txBody>
        </p:sp>
        <p:sp>
          <p:nvSpPr>
            <p:cNvPr id="15" name="TextBox 14">
              <a:extLst>
                <a:ext uri="{FF2B5EF4-FFF2-40B4-BE49-F238E27FC236}">
                  <a16:creationId xmlns:a16="http://schemas.microsoft.com/office/drawing/2014/main" id="{C6845039-0FA8-2BDB-C3EB-31E5E0921C6A}"/>
                </a:ext>
              </a:extLst>
            </p:cNvPr>
            <p:cNvSpPr txBox="1"/>
            <p:nvPr/>
          </p:nvSpPr>
          <p:spPr>
            <a:xfrm>
              <a:off x="1143460" y="1121479"/>
              <a:ext cx="2119047" cy="315326"/>
            </a:xfrm>
            <a:prstGeom prst="rect">
              <a:avLst/>
            </a:prstGeom>
            <a:noFill/>
          </p:spPr>
          <p:txBody>
            <a:bodyPr wrap="square" rtlCol="0">
              <a:spAutoFit/>
            </a:bodyPr>
            <a:lstStyle/>
            <a:p>
              <a:r>
                <a:rPr lang="fr-FR" altLang="ko-KR" sz="1400" b="1" dirty="0">
                  <a:cs typeface="Arial" pitchFamily="34" charset="0"/>
                </a:rPr>
                <a:t>1- Initialisation :</a:t>
              </a:r>
              <a:endParaRPr lang="ko-KR" altLang="en-US" sz="1400" b="1" dirty="0">
                <a:cs typeface="Arial" pitchFamily="34" charset="0"/>
              </a:endParaRPr>
            </a:p>
          </p:txBody>
        </p:sp>
      </p:grpSp>
      <p:sp>
        <p:nvSpPr>
          <p:cNvPr id="16" name="Rectangle: Rounded Corners 15">
            <a:extLst>
              <a:ext uri="{FF2B5EF4-FFF2-40B4-BE49-F238E27FC236}">
                <a16:creationId xmlns:a16="http://schemas.microsoft.com/office/drawing/2014/main" id="{257FA061-21CC-6C22-A5A9-A0FE7356A9CF}"/>
              </a:ext>
            </a:extLst>
          </p:cNvPr>
          <p:cNvSpPr/>
          <p:nvPr/>
        </p:nvSpPr>
        <p:spPr>
          <a:xfrm>
            <a:off x="807621" y="1842757"/>
            <a:ext cx="2221326" cy="2080121"/>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Rounded Corners 15">
            <a:extLst>
              <a:ext uri="{FF2B5EF4-FFF2-40B4-BE49-F238E27FC236}">
                <a16:creationId xmlns:a16="http://schemas.microsoft.com/office/drawing/2014/main" id="{C1FE1733-EF49-BE3E-2F7C-DFB5720CB429}"/>
              </a:ext>
            </a:extLst>
          </p:cNvPr>
          <p:cNvSpPr/>
          <p:nvPr/>
        </p:nvSpPr>
        <p:spPr>
          <a:xfrm>
            <a:off x="4985337" y="1860362"/>
            <a:ext cx="2221326" cy="2053484"/>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9">
            <a:extLst>
              <a:ext uri="{FF2B5EF4-FFF2-40B4-BE49-F238E27FC236}">
                <a16:creationId xmlns:a16="http://schemas.microsoft.com/office/drawing/2014/main" id="{D89416DE-F8E8-3C50-FA60-93835A378FB9}"/>
              </a:ext>
            </a:extLst>
          </p:cNvPr>
          <p:cNvGrpSpPr/>
          <p:nvPr/>
        </p:nvGrpSpPr>
        <p:grpSpPr>
          <a:xfrm>
            <a:off x="5029395" y="2012043"/>
            <a:ext cx="2062472" cy="1515598"/>
            <a:chOff x="1114004" y="1108655"/>
            <a:chExt cx="2243018" cy="1767616"/>
          </a:xfrm>
        </p:grpSpPr>
        <p:sp>
          <p:nvSpPr>
            <p:cNvPr id="35" name="TextBox 1">
              <a:extLst>
                <a:ext uri="{FF2B5EF4-FFF2-40B4-BE49-F238E27FC236}">
                  <a16:creationId xmlns:a16="http://schemas.microsoft.com/office/drawing/2014/main" id="{02558256-F72E-F443-4D8E-1EB9422515C8}"/>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37" name="TextBox 12">
              <a:extLst>
                <a:ext uri="{FF2B5EF4-FFF2-40B4-BE49-F238E27FC236}">
                  <a16:creationId xmlns:a16="http://schemas.microsoft.com/office/drawing/2014/main" id="{2AE39EFF-838C-93B9-730A-EE8F0CF6A650}"/>
                </a:ext>
              </a:extLst>
            </p:cNvPr>
            <p:cNvSpPr txBox="1"/>
            <p:nvPr/>
          </p:nvSpPr>
          <p:spPr>
            <a:xfrm>
              <a:off x="1237975" y="1907093"/>
              <a:ext cx="2119047" cy="969178"/>
            </a:xfrm>
            <a:prstGeom prst="rect">
              <a:avLst/>
            </a:prstGeom>
            <a:noFill/>
          </p:spPr>
          <p:txBody>
            <a:bodyPr wrap="square" rtlCol="0">
              <a:spAutoFit/>
            </a:bodyPr>
            <a:lstStyle/>
            <a:p>
              <a:r>
                <a:rPr lang="fr-FR" altLang="ko-KR" sz="1200" dirty="0">
                  <a:cs typeface="Arial" pitchFamily="34" charset="0"/>
                </a:rPr>
                <a:t>À chaque itération, on calcule l’erreur entre la vraie valeur et la prédiction actuelle.</a:t>
              </a:r>
              <a:endParaRPr lang="en-US" altLang="ko-KR" sz="1200" dirty="0">
                <a:cs typeface="Arial" pitchFamily="34" charset="0"/>
              </a:endParaRPr>
            </a:p>
          </p:txBody>
        </p:sp>
        <p:sp>
          <p:nvSpPr>
            <p:cNvPr id="38" name="TextBox 14">
              <a:extLst>
                <a:ext uri="{FF2B5EF4-FFF2-40B4-BE49-F238E27FC236}">
                  <a16:creationId xmlns:a16="http://schemas.microsoft.com/office/drawing/2014/main" id="{9E69A110-F1A8-CE76-4D84-1842CB0D6507}"/>
                </a:ext>
              </a:extLst>
            </p:cNvPr>
            <p:cNvSpPr txBox="1"/>
            <p:nvPr/>
          </p:nvSpPr>
          <p:spPr>
            <a:xfrm>
              <a:off x="1214456" y="1164583"/>
              <a:ext cx="2119047" cy="358955"/>
            </a:xfrm>
            <a:prstGeom prst="rect">
              <a:avLst/>
            </a:prstGeom>
            <a:noFill/>
          </p:spPr>
          <p:txBody>
            <a:bodyPr wrap="square" rtlCol="0">
              <a:spAutoFit/>
            </a:bodyPr>
            <a:lstStyle/>
            <a:p>
              <a:r>
                <a:rPr lang="fr-FR" altLang="ko-KR" sz="1400" b="1" dirty="0">
                  <a:cs typeface="Arial" pitchFamily="34" charset="0"/>
                </a:rPr>
                <a:t>2- Calcul des résidus :</a:t>
              </a:r>
              <a:endParaRPr lang="ko-KR" altLang="en-US" sz="1400" b="1" dirty="0">
                <a:cs typeface="Arial" pitchFamily="34" charset="0"/>
              </a:endParaRPr>
            </a:p>
          </p:txBody>
        </p:sp>
      </p:grpSp>
      <p:sp>
        <p:nvSpPr>
          <p:cNvPr id="39" name="Rectangle: Rounded Corners 15">
            <a:extLst>
              <a:ext uri="{FF2B5EF4-FFF2-40B4-BE49-F238E27FC236}">
                <a16:creationId xmlns:a16="http://schemas.microsoft.com/office/drawing/2014/main" id="{A0DBEE09-E4DC-38BF-9577-8B9BE854D933}"/>
              </a:ext>
            </a:extLst>
          </p:cNvPr>
          <p:cNvSpPr/>
          <p:nvPr/>
        </p:nvSpPr>
        <p:spPr>
          <a:xfrm>
            <a:off x="9163053" y="1861475"/>
            <a:ext cx="2221326" cy="2052371"/>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19">
            <a:extLst>
              <a:ext uri="{FF2B5EF4-FFF2-40B4-BE49-F238E27FC236}">
                <a16:creationId xmlns:a16="http://schemas.microsoft.com/office/drawing/2014/main" id="{1637B073-4AF5-EA69-5CC5-6E7F28F1130E}"/>
              </a:ext>
            </a:extLst>
          </p:cNvPr>
          <p:cNvGrpSpPr/>
          <p:nvPr/>
        </p:nvGrpSpPr>
        <p:grpSpPr>
          <a:xfrm>
            <a:off x="9299476" y="1814863"/>
            <a:ext cx="1948480" cy="1618074"/>
            <a:chOff x="1114004" y="1108655"/>
            <a:chExt cx="2119047" cy="1657763"/>
          </a:xfrm>
        </p:grpSpPr>
        <p:sp>
          <p:nvSpPr>
            <p:cNvPr id="41" name="TextBox 1">
              <a:extLst>
                <a:ext uri="{FF2B5EF4-FFF2-40B4-BE49-F238E27FC236}">
                  <a16:creationId xmlns:a16="http://schemas.microsoft.com/office/drawing/2014/main" id="{CCB506F3-2BE4-97D2-6623-473E585FC2A7}"/>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46" name="TextBox 12">
              <a:extLst>
                <a:ext uri="{FF2B5EF4-FFF2-40B4-BE49-F238E27FC236}">
                  <a16:creationId xmlns:a16="http://schemas.microsoft.com/office/drawing/2014/main" id="{C70EE507-F6F4-DD0F-9F8C-86A7462B2DB6}"/>
                </a:ext>
              </a:extLst>
            </p:cNvPr>
            <p:cNvSpPr txBox="1"/>
            <p:nvPr/>
          </p:nvSpPr>
          <p:spPr>
            <a:xfrm>
              <a:off x="1114004" y="2104233"/>
              <a:ext cx="2119047" cy="662185"/>
            </a:xfrm>
            <a:prstGeom prst="rect">
              <a:avLst/>
            </a:prstGeom>
            <a:noFill/>
          </p:spPr>
          <p:txBody>
            <a:bodyPr wrap="square" rtlCol="0">
              <a:spAutoFit/>
            </a:bodyPr>
            <a:lstStyle/>
            <a:p>
              <a:r>
                <a:rPr lang="fr-FR" altLang="ko-KR" sz="1200" dirty="0">
                  <a:cs typeface="Arial" pitchFamily="34" charset="0"/>
                </a:rPr>
                <a:t>Cet arbre apprend à prédire ces résidus afin de corriger l’erreur.</a:t>
              </a:r>
              <a:endParaRPr lang="en-US" altLang="ko-KR" sz="1200" dirty="0">
                <a:cs typeface="Arial" pitchFamily="34" charset="0"/>
              </a:endParaRPr>
            </a:p>
          </p:txBody>
        </p:sp>
        <p:sp>
          <p:nvSpPr>
            <p:cNvPr id="47" name="TextBox 14">
              <a:extLst>
                <a:ext uri="{FF2B5EF4-FFF2-40B4-BE49-F238E27FC236}">
                  <a16:creationId xmlns:a16="http://schemas.microsoft.com/office/drawing/2014/main" id="{A4572EB4-5F44-D68D-F5E1-DC1953FC130C}"/>
                </a:ext>
              </a:extLst>
            </p:cNvPr>
            <p:cNvSpPr txBox="1"/>
            <p:nvPr/>
          </p:nvSpPr>
          <p:spPr>
            <a:xfrm>
              <a:off x="1114004" y="1359801"/>
              <a:ext cx="2119047" cy="536054"/>
            </a:xfrm>
            <a:prstGeom prst="rect">
              <a:avLst/>
            </a:prstGeom>
            <a:noFill/>
          </p:spPr>
          <p:txBody>
            <a:bodyPr wrap="square" rtlCol="0">
              <a:spAutoFit/>
            </a:bodyPr>
            <a:lstStyle/>
            <a:p>
              <a:r>
                <a:rPr lang="fr-FR" altLang="ko-KR" sz="1400" b="1" dirty="0">
                  <a:cs typeface="Arial" pitchFamily="34" charset="0"/>
                </a:rPr>
                <a:t>3- Construction d’un nouvel arbre :</a:t>
              </a:r>
              <a:endParaRPr lang="ko-KR" altLang="en-US" sz="1400" b="1" dirty="0">
                <a:cs typeface="Arial" pitchFamily="34" charset="0"/>
              </a:endParaRPr>
            </a:p>
          </p:txBody>
        </p:sp>
      </p:grpSp>
      <p:cxnSp>
        <p:nvCxnSpPr>
          <p:cNvPr id="51" name="Connecteur droit avec flèche 50">
            <a:extLst>
              <a:ext uri="{FF2B5EF4-FFF2-40B4-BE49-F238E27FC236}">
                <a16:creationId xmlns:a16="http://schemas.microsoft.com/office/drawing/2014/main" id="{A3FEA88A-BC60-B7B1-44A3-6A5A43B99C9B}"/>
              </a:ext>
            </a:extLst>
          </p:cNvPr>
          <p:cNvCxnSpPr>
            <a:cxnSpLocks/>
            <a:stCxn id="17" idx="3"/>
            <a:endCxn id="39" idx="1"/>
          </p:cNvCxnSpPr>
          <p:nvPr/>
        </p:nvCxnSpPr>
        <p:spPr>
          <a:xfrm>
            <a:off x="7206663" y="2887104"/>
            <a:ext cx="1956390" cy="55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6" name="Connecteur droit avec flèche 55">
            <a:extLst>
              <a:ext uri="{FF2B5EF4-FFF2-40B4-BE49-F238E27FC236}">
                <a16:creationId xmlns:a16="http://schemas.microsoft.com/office/drawing/2014/main" id="{BE3D48BA-EB46-336D-39A5-2A7E35EEA0DB}"/>
              </a:ext>
            </a:extLst>
          </p:cNvPr>
          <p:cNvCxnSpPr>
            <a:cxnSpLocks/>
            <a:stCxn id="16" idx="3"/>
            <a:endCxn id="17" idx="1"/>
          </p:cNvCxnSpPr>
          <p:nvPr/>
        </p:nvCxnSpPr>
        <p:spPr>
          <a:xfrm>
            <a:off x="3028947" y="2882818"/>
            <a:ext cx="1956390" cy="428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9" name="Group 19">
            <a:extLst>
              <a:ext uri="{FF2B5EF4-FFF2-40B4-BE49-F238E27FC236}">
                <a16:creationId xmlns:a16="http://schemas.microsoft.com/office/drawing/2014/main" id="{168C556F-9F31-9452-BFAA-A912A7439E7F}"/>
              </a:ext>
            </a:extLst>
          </p:cNvPr>
          <p:cNvGrpSpPr/>
          <p:nvPr/>
        </p:nvGrpSpPr>
        <p:grpSpPr>
          <a:xfrm>
            <a:off x="3017684" y="4501005"/>
            <a:ext cx="1967654" cy="1536674"/>
            <a:chOff x="1114004" y="1106291"/>
            <a:chExt cx="2139899" cy="1574365"/>
          </a:xfrm>
        </p:grpSpPr>
        <p:sp>
          <p:nvSpPr>
            <p:cNvPr id="10" name="TextBox 1">
              <a:extLst>
                <a:ext uri="{FF2B5EF4-FFF2-40B4-BE49-F238E27FC236}">
                  <a16:creationId xmlns:a16="http://schemas.microsoft.com/office/drawing/2014/main" id="{BE3DF294-1070-AE5C-07B5-FEAF8D4F2D38}"/>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19" name="TextBox 12">
              <a:extLst>
                <a:ext uri="{FF2B5EF4-FFF2-40B4-BE49-F238E27FC236}">
                  <a16:creationId xmlns:a16="http://schemas.microsoft.com/office/drawing/2014/main" id="{DB86FA52-3220-AFEF-CDED-FE6B5CA8BC97}"/>
                </a:ext>
              </a:extLst>
            </p:cNvPr>
            <p:cNvSpPr txBox="1"/>
            <p:nvPr/>
          </p:nvSpPr>
          <p:spPr>
            <a:xfrm>
              <a:off x="1126253" y="1829276"/>
              <a:ext cx="2119047" cy="851380"/>
            </a:xfrm>
            <a:prstGeom prst="rect">
              <a:avLst/>
            </a:prstGeom>
            <a:noFill/>
          </p:spPr>
          <p:txBody>
            <a:bodyPr wrap="square" rtlCol="0">
              <a:spAutoFit/>
            </a:bodyPr>
            <a:lstStyle/>
            <a:p>
              <a:r>
                <a:rPr lang="fr-FR" altLang="ko-KR" sz="1200" dirty="0">
                  <a:cs typeface="Arial" pitchFamily="34" charset="0"/>
                </a:rPr>
                <a:t>La nouvelle prédiction est une combinaison des arbres précédents, pondérée par un taux d’apprentissage.</a:t>
              </a:r>
              <a:endParaRPr lang="en-US" altLang="ko-KR" sz="1200" dirty="0">
                <a:cs typeface="Arial" pitchFamily="34" charset="0"/>
              </a:endParaRPr>
            </a:p>
          </p:txBody>
        </p:sp>
        <p:sp>
          <p:nvSpPr>
            <p:cNvPr id="20" name="TextBox 14">
              <a:extLst>
                <a:ext uri="{FF2B5EF4-FFF2-40B4-BE49-F238E27FC236}">
                  <a16:creationId xmlns:a16="http://schemas.microsoft.com/office/drawing/2014/main" id="{87D781FA-BAF8-45A4-F2EC-C895A2111836}"/>
                </a:ext>
              </a:extLst>
            </p:cNvPr>
            <p:cNvSpPr txBox="1"/>
            <p:nvPr/>
          </p:nvSpPr>
          <p:spPr>
            <a:xfrm>
              <a:off x="1134856" y="1106291"/>
              <a:ext cx="2119047" cy="536053"/>
            </a:xfrm>
            <a:prstGeom prst="rect">
              <a:avLst/>
            </a:prstGeom>
            <a:noFill/>
          </p:spPr>
          <p:txBody>
            <a:bodyPr wrap="square" rtlCol="0">
              <a:spAutoFit/>
            </a:bodyPr>
            <a:lstStyle/>
            <a:p>
              <a:r>
                <a:rPr lang="fr-FR" altLang="ko-KR" sz="1400" b="1" dirty="0">
                  <a:cs typeface="Arial" pitchFamily="34" charset="0"/>
                </a:rPr>
                <a:t>4- Mise à jour des prédictions :</a:t>
              </a:r>
              <a:endParaRPr lang="ko-KR" altLang="en-US" sz="1400" b="1" dirty="0">
                <a:cs typeface="Arial" pitchFamily="34" charset="0"/>
              </a:endParaRPr>
            </a:p>
          </p:txBody>
        </p:sp>
      </p:grpSp>
      <p:sp>
        <p:nvSpPr>
          <p:cNvPr id="21" name="Rectangle: Rounded Corners 15">
            <a:extLst>
              <a:ext uri="{FF2B5EF4-FFF2-40B4-BE49-F238E27FC236}">
                <a16:creationId xmlns:a16="http://schemas.microsoft.com/office/drawing/2014/main" id="{1B773B96-F13B-82C7-E374-502E60E22C90}"/>
              </a:ext>
            </a:extLst>
          </p:cNvPr>
          <p:cNvSpPr/>
          <p:nvPr/>
        </p:nvSpPr>
        <p:spPr>
          <a:xfrm>
            <a:off x="2900435" y="4334027"/>
            <a:ext cx="2221326" cy="2146148"/>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2" name="Group 19">
            <a:extLst>
              <a:ext uri="{FF2B5EF4-FFF2-40B4-BE49-F238E27FC236}">
                <a16:creationId xmlns:a16="http://schemas.microsoft.com/office/drawing/2014/main" id="{0476E9AD-4C4C-9BBC-AACD-6ED6BDC26327}"/>
              </a:ext>
            </a:extLst>
          </p:cNvPr>
          <p:cNvGrpSpPr/>
          <p:nvPr/>
        </p:nvGrpSpPr>
        <p:grpSpPr>
          <a:xfrm>
            <a:off x="7230742" y="4495873"/>
            <a:ext cx="1967654" cy="1554439"/>
            <a:chOff x="1114004" y="1105661"/>
            <a:chExt cx="2139899" cy="1592566"/>
          </a:xfrm>
        </p:grpSpPr>
        <p:sp>
          <p:nvSpPr>
            <p:cNvPr id="23" name="TextBox 1">
              <a:extLst>
                <a:ext uri="{FF2B5EF4-FFF2-40B4-BE49-F238E27FC236}">
                  <a16:creationId xmlns:a16="http://schemas.microsoft.com/office/drawing/2014/main" id="{696B575B-6CB9-90AE-BEF1-4D83E5691F28}"/>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24" name="TextBox 12">
              <a:extLst>
                <a:ext uri="{FF2B5EF4-FFF2-40B4-BE49-F238E27FC236}">
                  <a16:creationId xmlns:a16="http://schemas.microsoft.com/office/drawing/2014/main" id="{3A3339CF-91C9-CE1E-691F-28702A55D0D5}"/>
                </a:ext>
              </a:extLst>
            </p:cNvPr>
            <p:cNvSpPr txBox="1"/>
            <p:nvPr/>
          </p:nvSpPr>
          <p:spPr>
            <a:xfrm>
              <a:off x="1114004" y="1846847"/>
              <a:ext cx="2119047" cy="851380"/>
            </a:xfrm>
            <a:prstGeom prst="rect">
              <a:avLst/>
            </a:prstGeom>
            <a:noFill/>
          </p:spPr>
          <p:txBody>
            <a:bodyPr wrap="square" rtlCol="0">
              <a:spAutoFit/>
            </a:bodyPr>
            <a:lstStyle/>
            <a:p>
              <a:r>
                <a:rPr lang="fr-FR" altLang="ko-KR" sz="1200" dirty="0">
                  <a:cs typeface="Arial" pitchFamily="34" charset="0"/>
                </a:rPr>
                <a:t>Le processus est répété jusqu’à convergence ou jusqu’à atteindre un nombre d’arbres défini.</a:t>
              </a:r>
              <a:endParaRPr lang="en-US" altLang="ko-KR" sz="1200" dirty="0">
                <a:cs typeface="Arial" pitchFamily="34" charset="0"/>
              </a:endParaRPr>
            </a:p>
          </p:txBody>
        </p:sp>
        <p:sp>
          <p:nvSpPr>
            <p:cNvPr id="25" name="TextBox 14">
              <a:extLst>
                <a:ext uri="{FF2B5EF4-FFF2-40B4-BE49-F238E27FC236}">
                  <a16:creationId xmlns:a16="http://schemas.microsoft.com/office/drawing/2014/main" id="{6EBF17FC-135C-CF41-4C84-4D00EB3D927A}"/>
                </a:ext>
              </a:extLst>
            </p:cNvPr>
            <p:cNvSpPr txBox="1"/>
            <p:nvPr/>
          </p:nvSpPr>
          <p:spPr>
            <a:xfrm>
              <a:off x="1134856" y="1105661"/>
              <a:ext cx="2119047" cy="315326"/>
            </a:xfrm>
            <a:prstGeom prst="rect">
              <a:avLst/>
            </a:prstGeom>
            <a:noFill/>
          </p:spPr>
          <p:txBody>
            <a:bodyPr wrap="square" rtlCol="0">
              <a:spAutoFit/>
            </a:bodyPr>
            <a:lstStyle/>
            <a:p>
              <a:r>
                <a:rPr lang="fr-FR" altLang="ko-KR" sz="1400" b="1" dirty="0">
                  <a:cs typeface="Arial" pitchFamily="34" charset="0"/>
                </a:rPr>
                <a:t>5- Répétition :</a:t>
              </a:r>
              <a:endParaRPr lang="ko-KR" altLang="en-US" sz="1400" b="1" dirty="0">
                <a:cs typeface="Arial" pitchFamily="34" charset="0"/>
              </a:endParaRPr>
            </a:p>
          </p:txBody>
        </p:sp>
      </p:grpSp>
      <p:sp>
        <p:nvSpPr>
          <p:cNvPr id="26" name="Rectangle: Rounded Corners 15">
            <a:extLst>
              <a:ext uri="{FF2B5EF4-FFF2-40B4-BE49-F238E27FC236}">
                <a16:creationId xmlns:a16="http://schemas.microsoft.com/office/drawing/2014/main" id="{E8126D35-23CE-D729-98BE-C8CF061BD7DA}"/>
              </a:ext>
            </a:extLst>
          </p:cNvPr>
          <p:cNvSpPr/>
          <p:nvPr/>
        </p:nvSpPr>
        <p:spPr>
          <a:xfrm>
            <a:off x="7113493" y="4329510"/>
            <a:ext cx="2221326" cy="2146148"/>
          </a:xfrm>
          <a:prstGeom prst="roundRect">
            <a:avLst>
              <a:gd name="adj" fmla="val 380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8" name="Connecteur : en angle 27">
            <a:extLst>
              <a:ext uri="{FF2B5EF4-FFF2-40B4-BE49-F238E27FC236}">
                <a16:creationId xmlns:a16="http://schemas.microsoft.com/office/drawing/2014/main" id="{0E82A959-5866-9582-385F-CE7B8CA8C1C1}"/>
              </a:ext>
            </a:extLst>
          </p:cNvPr>
          <p:cNvCxnSpPr>
            <a:cxnSpLocks/>
            <a:stCxn id="39" idx="3"/>
            <a:endCxn id="21" idx="1"/>
          </p:cNvCxnSpPr>
          <p:nvPr/>
        </p:nvCxnSpPr>
        <p:spPr>
          <a:xfrm flipH="1">
            <a:off x="2900435" y="2887661"/>
            <a:ext cx="8483944" cy="2519440"/>
          </a:xfrm>
          <a:prstGeom prst="bentConnector5">
            <a:avLst>
              <a:gd name="adj1" fmla="val -2695"/>
              <a:gd name="adj2" fmla="val 49069"/>
              <a:gd name="adj3" fmla="val 102695"/>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0" name="Connecteur : en angle 29">
            <a:extLst>
              <a:ext uri="{FF2B5EF4-FFF2-40B4-BE49-F238E27FC236}">
                <a16:creationId xmlns:a16="http://schemas.microsoft.com/office/drawing/2014/main" id="{461E4327-9CDB-2E7B-6B24-AFF7DD2F57CC}"/>
              </a:ext>
            </a:extLst>
          </p:cNvPr>
          <p:cNvCxnSpPr>
            <a:cxnSpLocks/>
            <a:stCxn id="21" idx="3"/>
            <a:endCxn id="26" idx="1"/>
          </p:cNvCxnSpPr>
          <p:nvPr/>
        </p:nvCxnSpPr>
        <p:spPr>
          <a:xfrm flipV="1">
            <a:off x="5121761" y="5402584"/>
            <a:ext cx="1991732" cy="4517"/>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6843066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circle(in)">
                                      <p:cBhvr>
                                        <p:cTn id="19" dur="200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circle(in)">
                                      <p:cBhvr>
                                        <p:cTn id="36" dur="2000"/>
                                        <p:tgtEl>
                                          <p:spTgt spid="51"/>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1000"/>
                                        <p:tgtEl>
                                          <p:spTgt spid="39"/>
                                        </p:tgtEl>
                                      </p:cBhvr>
                                    </p:animEffect>
                                    <p:anim calcmode="lin" valueType="num">
                                      <p:cBhvr>
                                        <p:cTn id="42" dur="1000" fill="hold"/>
                                        <p:tgtEl>
                                          <p:spTgt spid="39"/>
                                        </p:tgtEl>
                                        <p:attrNameLst>
                                          <p:attrName>ppt_x</p:attrName>
                                        </p:attrNameLst>
                                      </p:cBhvr>
                                      <p:tavLst>
                                        <p:tav tm="0">
                                          <p:val>
                                            <p:strVal val="#ppt_x"/>
                                          </p:val>
                                        </p:tav>
                                        <p:tav tm="100000">
                                          <p:val>
                                            <p:strVal val="#ppt_x"/>
                                          </p:val>
                                        </p:tav>
                                      </p:tavLst>
                                    </p:anim>
                                    <p:anim calcmode="lin" valueType="num">
                                      <p:cBhvr>
                                        <p:cTn id="43" dur="1000" fill="hold"/>
                                        <p:tgtEl>
                                          <p:spTgt spid="3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circle(in)">
                                      <p:cBhvr>
                                        <p:cTn id="53" dur="20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fade">
                                      <p:cBhvr>
                                        <p:cTn id="58" dur="1000"/>
                                        <p:tgtEl>
                                          <p:spTgt spid="9"/>
                                        </p:tgtEl>
                                      </p:cBhvr>
                                    </p:animEffect>
                                    <p:anim calcmode="lin" valueType="num">
                                      <p:cBhvr>
                                        <p:cTn id="59" dur="1000" fill="hold"/>
                                        <p:tgtEl>
                                          <p:spTgt spid="9"/>
                                        </p:tgtEl>
                                        <p:attrNameLst>
                                          <p:attrName>ppt_x</p:attrName>
                                        </p:attrNameLst>
                                      </p:cBhvr>
                                      <p:tavLst>
                                        <p:tav tm="0">
                                          <p:val>
                                            <p:strVal val="#ppt_x"/>
                                          </p:val>
                                        </p:tav>
                                        <p:tav tm="100000">
                                          <p:val>
                                            <p:strVal val="#ppt_x"/>
                                          </p:val>
                                        </p:tav>
                                      </p:tavLst>
                                    </p:anim>
                                    <p:anim calcmode="lin" valueType="num">
                                      <p:cBhvr>
                                        <p:cTn id="60" dur="1000" fill="hold"/>
                                        <p:tgtEl>
                                          <p:spTgt spid="9"/>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1000"/>
                                        <p:tgtEl>
                                          <p:spTgt spid="21"/>
                                        </p:tgtEl>
                                      </p:cBhvr>
                                    </p:animEffect>
                                    <p:anim calcmode="lin" valueType="num">
                                      <p:cBhvr>
                                        <p:cTn id="64" dur="1000" fill="hold"/>
                                        <p:tgtEl>
                                          <p:spTgt spid="21"/>
                                        </p:tgtEl>
                                        <p:attrNameLst>
                                          <p:attrName>ppt_x</p:attrName>
                                        </p:attrNameLst>
                                      </p:cBhvr>
                                      <p:tavLst>
                                        <p:tav tm="0">
                                          <p:val>
                                            <p:strVal val="#ppt_x"/>
                                          </p:val>
                                        </p:tav>
                                        <p:tav tm="100000">
                                          <p:val>
                                            <p:strVal val="#ppt_x"/>
                                          </p:val>
                                        </p:tav>
                                      </p:tavLst>
                                    </p:anim>
                                    <p:anim calcmode="lin" valueType="num">
                                      <p:cBhvr>
                                        <p:cTn id="6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circle(in)">
                                      <p:cBhvr>
                                        <p:cTn id="70" dur="2000"/>
                                        <p:tgtEl>
                                          <p:spTgt spid="30"/>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1000"/>
                                        <p:tgtEl>
                                          <p:spTgt spid="22"/>
                                        </p:tgtEl>
                                      </p:cBhvr>
                                    </p:animEffect>
                                    <p:anim calcmode="lin" valueType="num">
                                      <p:cBhvr>
                                        <p:cTn id="76" dur="1000" fill="hold"/>
                                        <p:tgtEl>
                                          <p:spTgt spid="22"/>
                                        </p:tgtEl>
                                        <p:attrNameLst>
                                          <p:attrName>ppt_x</p:attrName>
                                        </p:attrNameLst>
                                      </p:cBhvr>
                                      <p:tavLst>
                                        <p:tav tm="0">
                                          <p:val>
                                            <p:strVal val="#ppt_x"/>
                                          </p:val>
                                        </p:tav>
                                        <p:tav tm="100000">
                                          <p:val>
                                            <p:strVal val="#ppt_x"/>
                                          </p:val>
                                        </p:tav>
                                      </p:tavLst>
                                    </p:anim>
                                    <p:anim calcmode="lin" valueType="num">
                                      <p:cBhvr>
                                        <p:cTn id="77" dur="1000" fill="hold"/>
                                        <p:tgtEl>
                                          <p:spTgt spid="22"/>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1000"/>
                                        <p:tgtEl>
                                          <p:spTgt spid="26"/>
                                        </p:tgtEl>
                                      </p:cBhvr>
                                    </p:animEffect>
                                    <p:anim calcmode="lin" valueType="num">
                                      <p:cBhvr>
                                        <p:cTn id="81" dur="1000" fill="hold"/>
                                        <p:tgtEl>
                                          <p:spTgt spid="26"/>
                                        </p:tgtEl>
                                        <p:attrNameLst>
                                          <p:attrName>ppt_x</p:attrName>
                                        </p:attrNameLst>
                                      </p:cBhvr>
                                      <p:tavLst>
                                        <p:tav tm="0">
                                          <p:val>
                                            <p:strVal val="#ppt_x"/>
                                          </p:val>
                                        </p:tav>
                                        <p:tav tm="100000">
                                          <p:val>
                                            <p:strVal val="#ppt_x"/>
                                          </p:val>
                                        </p:tav>
                                      </p:tavLst>
                                    </p:anim>
                                    <p:anim calcmode="lin" valueType="num">
                                      <p:cBhvr>
                                        <p:cTn id="82"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39" grpId="0" animBg="1"/>
      <p:bldP spid="21"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62D00-E84E-0BE4-6EB6-CE6C321D1E38}"/>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17BC2410-8BE6-075C-66CF-68F5FA34A57C}"/>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Initialisation des prédictions</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8B5600AB-460B-EBE0-58EA-971713393D5A}"/>
              </a:ext>
            </a:extLst>
          </p:cNvPr>
          <p:cNvSpPr>
            <a:spLocks noGrp="1"/>
          </p:cNvSpPr>
          <p:nvPr>
            <p:ph type="sldNum" sz="quarter" idx="12"/>
          </p:nvPr>
        </p:nvSpPr>
        <p:spPr>
          <a:xfrm>
            <a:off x="0" y="6480175"/>
            <a:ext cx="317241" cy="377825"/>
          </a:xfrm>
        </p:spPr>
        <p:txBody>
          <a:bodyPr/>
          <a:lstStyle/>
          <a:p>
            <a:fld id="{A3401A20-A1E0-4E43-B782-1D8AAEB2FCB1}" type="slidenum">
              <a:rPr lang="fr-FR" smtClean="0"/>
              <a:t>16</a:t>
            </a:fld>
            <a:endParaRPr lang="fr-FR" dirty="0"/>
          </a:p>
        </p:txBody>
      </p:sp>
      <p:pic>
        <p:nvPicPr>
          <p:cNvPr id="3" name="Image 2">
            <a:extLst>
              <a:ext uri="{FF2B5EF4-FFF2-40B4-BE49-F238E27FC236}">
                <a16:creationId xmlns:a16="http://schemas.microsoft.com/office/drawing/2014/main" id="{B5BD060A-211D-CE9E-F375-C6E8AA34DCEA}"/>
              </a:ext>
            </a:extLst>
          </p:cNvPr>
          <p:cNvPicPr>
            <a:picLocks noChangeAspect="1"/>
          </p:cNvPicPr>
          <p:nvPr/>
        </p:nvPicPr>
        <p:blipFill>
          <a:blip r:embed="rId2">
            <a:duotone>
              <a:prstClr val="black"/>
              <a:srgbClr val="00B0F0">
                <a:tint val="45000"/>
                <a:satMod val="400000"/>
              </a:srgbClr>
            </a:duotone>
          </a:blip>
          <a:stretch>
            <a:fillRect/>
          </a:stretch>
        </p:blipFill>
        <p:spPr>
          <a:xfrm>
            <a:off x="2252124" y="1326026"/>
            <a:ext cx="7687748" cy="261974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8" name="Image 7">
            <a:extLst>
              <a:ext uri="{FF2B5EF4-FFF2-40B4-BE49-F238E27FC236}">
                <a16:creationId xmlns:a16="http://schemas.microsoft.com/office/drawing/2014/main" id="{711C8694-13C5-594B-54F8-A99768C12FC3}"/>
              </a:ext>
            </a:extLst>
          </p:cNvPr>
          <p:cNvPicPr>
            <a:picLocks noChangeAspect="1"/>
          </p:cNvPicPr>
          <p:nvPr/>
        </p:nvPicPr>
        <p:blipFill>
          <a:blip r:embed="rId3"/>
          <a:stretch>
            <a:fillRect/>
          </a:stretch>
        </p:blipFill>
        <p:spPr>
          <a:xfrm>
            <a:off x="2252124" y="4478863"/>
            <a:ext cx="7687748" cy="131436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10870184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679EF-B69D-DA1A-D7AE-A5BA8181C9B6}"/>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8AD4108E-5DDF-DDDB-40E1-FA6DAC7D4A9E}"/>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Calcul des résidus</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55710ACF-80C2-FBCB-C10D-992DD4B1A5F5}"/>
              </a:ext>
            </a:extLst>
          </p:cNvPr>
          <p:cNvSpPr>
            <a:spLocks noGrp="1"/>
          </p:cNvSpPr>
          <p:nvPr>
            <p:ph type="sldNum" sz="quarter" idx="12"/>
          </p:nvPr>
        </p:nvSpPr>
        <p:spPr>
          <a:xfrm>
            <a:off x="0" y="6480175"/>
            <a:ext cx="317241" cy="377825"/>
          </a:xfrm>
        </p:spPr>
        <p:txBody>
          <a:bodyPr/>
          <a:lstStyle/>
          <a:p>
            <a:fld id="{A3401A20-A1E0-4E43-B782-1D8AAEB2FCB1}" type="slidenum">
              <a:rPr lang="fr-FR" smtClean="0"/>
              <a:t>17</a:t>
            </a:fld>
            <a:endParaRPr lang="fr-FR" dirty="0"/>
          </a:p>
        </p:txBody>
      </p:sp>
      <p:pic>
        <p:nvPicPr>
          <p:cNvPr id="4" name="Image 3">
            <a:extLst>
              <a:ext uri="{FF2B5EF4-FFF2-40B4-BE49-F238E27FC236}">
                <a16:creationId xmlns:a16="http://schemas.microsoft.com/office/drawing/2014/main" id="{B6E152F5-FD48-EB6C-C518-DF788C08CC0C}"/>
              </a:ext>
            </a:extLst>
          </p:cNvPr>
          <p:cNvPicPr>
            <a:picLocks noChangeAspect="1"/>
          </p:cNvPicPr>
          <p:nvPr/>
        </p:nvPicPr>
        <p:blipFill>
          <a:blip r:embed="rId2">
            <a:duotone>
              <a:prstClr val="black"/>
              <a:srgbClr val="00B0F0">
                <a:tint val="45000"/>
                <a:satMod val="400000"/>
              </a:srgbClr>
            </a:duotone>
          </a:blip>
          <a:stretch>
            <a:fillRect/>
          </a:stretch>
        </p:blipFill>
        <p:spPr>
          <a:xfrm>
            <a:off x="2128282" y="1232719"/>
            <a:ext cx="7935432" cy="290074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Image 8">
            <a:extLst>
              <a:ext uri="{FF2B5EF4-FFF2-40B4-BE49-F238E27FC236}">
                <a16:creationId xmlns:a16="http://schemas.microsoft.com/office/drawing/2014/main" id="{3A2C5550-504A-7EC8-5B6E-092824EED1A1}"/>
              </a:ext>
            </a:extLst>
          </p:cNvPr>
          <p:cNvPicPr>
            <a:picLocks noChangeAspect="1"/>
          </p:cNvPicPr>
          <p:nvPr/>
        </p:nvPicPr>
        <p:blipFill>
          <a:blip r:embed="rId3"/>
          <a:stretch>
            <a:fillRect/>
          </a:stretch>
        </p:blipFill>
        <p:spPr>
          <a:xfrm>
            <a:off x="2128282" y="4702199"/>
            <a:ext cx="7935432" cy="109103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97075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A75EE-D765-8C97-D234-48C4AEB01566}"/>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65AF8E74-B908-C27E-6E55-77E2E9473943}"/>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Division des Données</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AFED7CF6-E30B-EDF8-EA64-5506E55E2548}"/>
              </a:ext>
            </a:extLst>
          </p:cNvPr>
          <p:cNvSpPr>
            <a:spLocks noGrp="1"/>
          </p:cNvSpPr>
          <p:nvPr>
            <p:ph type="sldNum" sz="quarter" idx="12"/>
          </p:nvPr>
        </p:nvSpPr>
        <p:spPr>
          <a:xfrm>
            <a:off x="0" y="6480175"/>
            <a:ext cx="326572" cy="377825"/>
          </a:xfrm>
        </p:spPr>
        <p:txBody>
          <a:bodyPr/>
          <a:lstStyle/>
          <a:p>
            <a:fld id="{A3401A20-A1E0-4E43-B782-1D8AAEB2FCB1}" type="slidenum">
              <a:rPr lang="fr-FR" smtClean="0"/>
              <a:t>18</a:t>
            </a:fld>
            <a:endParaRPr lang="fr-FR" dirty="0"/>
          </a:p>
        </p:txBody>
      </p:sp>
      <p:pic>
        <p:nvPicPr>
          <p:cNvPr id="3" name="Image 2">
            <a:extLst>
              <a:ext uri="{FF2B5EF4-FFF2-40B4-BE49-F238E27FC236}">
                <a16:creationId xmlns:a16="http://schemas.microsoft.com/office/drawing/2014/main" id="{02D06091-2B26-2AAE-9995-B353AB03A120}"/>
              </a:ext>
            </a:extLst>
          </p:cNvPr>
          <p:cNvPicPr>
            <a:picLocks noChangeAspect="1"/>
          </p:cNvPicPr>
          <p:nvPr/>
        </p:nvPicPr>
        <p:blipFill>
          <a:blip r:embed="rId2">
            <a:duotone>
              <a:prstClr val="black"/>
              <a:srgbClr val="00B0F0">
                <a:tint val="45000"/>
                <a:satMod val="400000"/>
              </a:srgbClr>
            </a:duotone>
          </a:blip>
          <a:stretch>
            <a:fillRect/>
          </a:stretch>
        </p:blipFill>
        <p:spPr>
          <a:xfrm>
            <a:off x="2128282" y="1493529"/>
            <a:ext cx="7935432" cy="220058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8" name="Image 7">
            <a:extLst>
              <a:ext uri="{FF2B5EF4-FFF2-40B4-BE49-F238E27FC236}">
                <a16:creationId xmlns:a16="http://schemas.microsoft.com/office/drawing/2014/main" id="{9A699AA9-AB15-AD7F-1161-D0993496B37A}"/>
              </a:ext>
            </a:extLst>
          </p:cNvPr>
          <p:cNvPicPr>
            <a:picLocks noChangeAspect="1"/>
          </p:cNvPicPr>
          <p:nvPr/>
        </p:nvPicPr>
        <p:blipFill>
          <a:blip r:embed="rId3"/>
          <a:stretch>
            <a:fillRect/>
          </a:stretch>
        </p:blipFill>
        <p:spPr>
          <a:xfrm>
            <a:off x="2128284" y="4254760"/>
            <a:ext cx="7935431" cy="1614196"/>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181308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8360F-B6E2-6FEB-3B2B-F6DF747C019B}"/>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5DB053D0-2834-EB83-95A9-5F0C434F4797}"/>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Sélection du meilleur variable et meilleur Seuil</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2ADE7446-BB62-2773-353C-A68C33E170A0}"/>
              </a:ext>
            </a:extLst>
          </p:cNvPr>
          <p:cNvSpPr>
            <a:spLocks noGrp="1"/>
          </p:cNvSpPr>
          <p:nvPr>
            <p:ph type="sldNum" sz="quarter" idx="12"/>
          </p:nvPr>
        </p:nvSpPr>
        <p:spPr>
          <a:xfrm>
            <a:off x="0" y="6480175"/>
            <a:ext cx="317241" cy="377825"/>
          </a:xfrm>
        </p:spPr>
        <p:txBody>
          <a:bodyPr/>
          <a:lstStyle/>
          <a:p>
            <a:fld id="{A3401A20-A1E0-4E43-B782-1D8AAEB2FCB1}" type="slidenum">
              <a:rPr lang="fr-FR" smtClean="0"/>
              <a:t>19</a:t>
            </a:fld>
            <a:endParaRPr lang="fr-FR" dirty="0"/>
          </a:p>
        </p:txBody>
      </p:sp>
      <p:pic>
        <p:nvPicPr>
          <p:cNvPr id="4" name="Image 3">
            <a:extLst>
              <a:ext uri="{FF2B5EF4-FFF2-40B4-BE49-F238E27FC236}">
                <a16:creationId xmlns:a16="http://schemas.microsoft.com/office/drawing/2014/main" id="{A48D0762-7646-A92C-9931-0918147CA423}"/>
              </a:ext>
            </a:extLst>
          </p:cNvPr>
          <p:cNvPicPr>
            <a:picLocks noChangeAspect="1"/>
          </p:cNvPicPr>
          <p:nvPr/>
        </p:nvPicPr>
        <p:blipFill>
          <a:blip r:embed="rId2">
            <a:duotone>
              <a:prstClr val="black"/>
              <a:srgbClr val="00B0F0">
                <a:tint val="45000"/>
                <a:satMod val="400000"/>
              </a:srgbClr>
            </a:duotone>
          </a:blip>
          <a:stretch>
            <a:fillRect/>
          </a:stretch>
        </p:blipFill>
        <p:spPr>
          <a:xfrm>
            <a:off x="226982" y="1502476"/>
            <a:ext cx="6257793" cy="38530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Image 8">
            <a:extLst>
              <a:ext uri="{FF2B5EF4-FFF2-40B4-BE49-F238E27FC236}">
                <a16:creationId xmlns:a16="http://schemas.microsoft.com/office/drawing/2014/main" id="{8F973BBB-5711-E55F-8007-12B4D8E88A3D}"/>
              </a:ext>
            </a:extLst>
          </p:cNvPr>
          <p:cNvPicPr>
            <a:picLocks noChangeAspect="1"/>
          </p:cNvPicPr>
          <p:nvPr/>
        </p:nvPicPr>
        <p:blipFill>
          <a:blip r:embed="rId3"/>
          <a:stretch>
            <a:fillRect/>
          </a:stretch>
        </p:blipFill>
        <p:spPr>
          <a:xfrm>
            <a:off x="6652727" y="1502476"/>
            <a:ext cx="5442920" cy="38530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293899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9A619-BB4F-20E1-55FD-1F702F96EF00}"/>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4455A24B-245B-DE83-066F-C415EFBEF0CF}"/>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Construction et Prédiction avec un Arbre</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427BE52E-8825-8DE2-A0FA-6D297C00B373}"/>
              </a:ext>
            </a:extLst>
          </p:cNvPr>
          <p:cNvSpPr>
            <a:spLocks noGrp="1"/>
          </p:cNvSpPr>
          <p:nvPr>
            <p:ph type="sldNum" sz="quarter" idx="12"/>
          </p:nvPr>
        </p:nvSpPr>
        <p:spPr>
          <a:xfrm>
            <a:off x="-65318" y="6480175"/>
            <a:ext cx="398107" cy="377825"/>
          </a:xfrm>
        </p:spPr>
        <p:txBody>
          <a:bodyPr/>
          <a:lstStyle/>
          <a:p>
            <a:fld id="{A3401A20-A1E0-4E43-B782-1D8AAEB2FCB1}" type="slidenum">
              <a:rPr lang="fr-FR" smtClean="0"/>
              <a:t>20</a:t>
            </a:fld>
            <a:endParaRPr lang="fr-FR" dirty="0"/>
          </a:p>
        </p:txBody>
      </p:sp>
      <p:pic>
        <p:nvPicPr>
          <p:cNvPr id="3" name="Image 2">
            <a:extLst>
              <a:ext uri="{FF2B5EF4-FFF2-40B4-BE49-F238E27FC236}">
                <a16:creationId xmlns:a16="http://schemas.microsoft.com/office/drawing/2014/main" id="{70BFD6FD-17F5-BA91-8D15-6FB945E16F85}"/>
              </a:ext>
            </a:extLst>
          </p:cNvPr>
          <p:cNvPicPr>
            <a:picLocks noChangeAspect="1"/>
          </p:cNvPicPr>
          <p:nvPr/>
        </p:nvPicPr>
        <p:blipFill>
          <a:blip r:embed="rId2">
            <a:duotone>
              <a:prstClr val="black"/>
              <a:srgbClr val="00B0F0">
                <a:tint val="45000"/>
                <a:satMod val="400000"/>
              </a:srgbClr>
            </a:duotone>
          </a:blip>
          <a:stretch>
            <a:fillRect/>
          </a:stretch>
        </p:blipFill>
        <p:spPr>
          <a:xfrm>
            <a:off x="2147334" y="1107133"/>
            <a:ext cx="7897327" cy="79068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8" name="Image 7">
            <a:extLst>
              <a:ext uri="{FF2B5EF4-FFF2-40B4-BE49-F238E27FC236}">
                <a16:creationId xmlns:a16="http://schemas.microsoft.com/office/drawing/2014/main" id="{39DA6594-D770-DEA0-3864-4CFA1F437430}"/>
              </a:ext>
            </a:extLst>
          </p:cNvPr>
          <p:cNvPicPr>
            <a:picLocks noChangeAspect="1"/>
          </p:cNvPicPr>
          <p:nvPr/>
        </p:nvPicPr>
        <p:blipFill>
          <a:blip r:embed="rId3"/>
          <a:srcRect t="59007"/>
          <a:stretch/>
        </p:blipFill>
        <p:spPr>
          <a:xfrm>
            <a:off x="6195526" y="2413126"/>
            <a:ext cx="5598367" cy="351366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0" name="Image 9">
            <a:extLst>
              <a:ext uri="{FF2B5EF4-FFF2-40B4-BE49-F238E27FC236}">
                <a16:creationId xmlns:a16="http://schemas.microsoft.com/office/drawing/2014/main" id="{48C33224-3313-7CC2-8626-67E64E548046}"/>
              </a:ext>
            </a:extLst>
          </p:cNvPr>
          <p:cNvPicPr>
            <a:picLocks noChangeAspect="1"/>
          </p:cNvPicPr>
          <p:nvPr/>
        </p:nvPicPr>
        <p:blipFill>
          <a:blip r:embed="rId3"/>
          <a:srcRect b="42678"/>
          <a:stretch/>
        </p:blipFill>
        <p:spPr>
          <a:xfrm>
            <a:off x="398107" y="2413126"/>
            <a:ext cx="5321558" cy="351366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4034799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92F3D-A052-1876-EB16-F9A313067A6B}"/>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EEC49136-F6BF-7688-7BF0-A966E302B10B}"/>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Entraînement et Prédiction avec Gradient </a:t>
            </a:r>
            <a:r>
              <a:rPr kumimoji="0" lang="fr-FR" sz="3200" b="1" i="0" u="none" strike="noStrike" kern="1200" cap="none" spc="0" normalizeH="0" baseline="0" noProof="0" dirty="0" err="1">
                <a:ln>
                  <a:noFill/>
                </a:ln>
                <a:solidFill>
                  <a:schemeClr val="tx1"/>
                </a:solidFill>
                <a:effectLst/>
                <a:uLnTx/>
                <a:uFillTx/>
                <a:latin typeface="+mn-lt"/>
                <a:cs typeface="Arial" pitchFamily="34" charset="0"/>
              </a:rPr>
              <a:t>Boosting</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2220CBC5-BA0D-B8B2-4AAA-3312C52E6321}"/>
              </a:ext>
            </a:extLst>
          </p:cNvPr>
          <p:cNvSpPr>
            <a:spLocks noGrp="1"/>
          </p:cNvSpPr>
          <p:nvPr>
            <p:ph type="sldNum" sz="quarter" idx="12"/>
          </p:nvPr>
        </p:nvSpPr>
        <p:spPr>
          <a:xfrm>
            <a:off x="-74648" y="6480175"/>
            <a:ext cx="391886" cy="377825"/>
          </a:xfrm>
        </p:spPr>
        <p:txBody>
          <a:bodyPr/>
          <a:lstStyle/>
          <a:p>
            <a:fld id="{A3401A20-A1E0-4E43-B782-1D8AAEB2FCB1}" type="slidenum">
              <a:rPr lang="fr-FR" smtClean="0"/>
              <a:t>21</a:t>
            </a:fld>
            <a:endParaRPr lang="fr-FR" dirty="0"/>
          </a:p>
        </p:txBody>
      </p:sp>
      <p:pic>
        <p:nvPicPr>
          <p:cNvPr id="4" name="Image 3">
            <a:extLst>
              <a:ext uri="{FF2B5EF4-FFF2-40B4-BE49-F238E27FC236}">
                <a16:creationId xmlns:a16="http://schemas.microsoft.com/office/drawing/2014/main" id="{E2D6D628-C33A-AC1F-1397-418D289D3D7E}"/>
              </a:ext>
            </a:extLst>
          </p:cNvPr>
          <p:cNvPicPr>
            <a:picLocks noChangeAspect="1"/>
          </p:cNvPicPr>
          <p:nvPr/>
        </p:nvPicPr>
        <p:blipFill>
          <a:blip r:embed="rId2">
            <a:duotone>
              <a:prstClr val="black"/>
              <a:srgbClr val="00B0F0">
                <a:tint val="45000"/>
                <a:satMod val="400000"/>
              </a:srgbClr>
            </a:duotone>
          </a:blip>
          <a:stretch>
            <a:fillRect/>
          </a:stretch>
        </p:blipFill>
        <p:spPr>
          <a:xfrm>
            <a:off x="226982" y="2300794"/>
            <a:ext cx="5763270" cy="2975219"/>
          </a:xfrm>
          <a:prstGeom prst="roundRect">
            <a:avLst>
              <a:gd name="adj" fmla="val 9459"/>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Image 8">
            <a:extLst>
              <a:ext uri="{FF2B5EF4-FFF2-40B4-BE49-F238E27FC236}">
                <a16:creationId xmlns:a16="http://schemas.microsoft.com/office/drawing/2014/main" id="{7C86DAB2-AB77-DF74-43A4-A872BA309690}"/>
              </a:ext>
            </a:extLst>
          </p:cNvPr>
          <p:cNvPicPr>
            <a:picLocks noChangeAspect="1"/>
          </p:cNvPicPr>
          <p:nvPr/>
        </p:nvPicPr>
        <p:blipFill>
          <a:blip r:embed="rId3"/>
          <a:srcRect b="43377"/>
          <a:stretch/>
        </p:blipFill>
        <p:spPr>
          <a:xfrm>
            <a:off x="6201749" y="1317915"/>
            <a:ext cx="5927277" cy="2470489"/>
          </a:xfrm>
          <a:prstGeom prst="roundRect">
            <a:avLst>
              <a:gd name="adj" fmla="val 5714"/>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pic>
        <p:nvPicPr>
          <p:cNvPr id="11" name="Image 10">
            <a:extLst>
              <a:ext uri="{FF2B5EF4-FFF2-40B4-BE49-F238E27FC236}">
                <a16:creationId xmlns:a16="http://schemas.microsoft.com/office/drawing/2014/main" id="{3317902D-046B-23A1-2A96-31F5DDA8B979}"/>
              </a:ext>
            </a:extLst>
          </p:cNvPr>
          <p:cNvPicPr>
            <a:picLocks noChangeAspect="1"/>
          </p:cNvPicPr>
          <p:nvPr/>
        </p:nvPicPr>
        <p:blipFill>
          <a:blip r:embed="rId3"/>
          <a:srcRect l="525" t="59857" r="-525"/>
          <a:stretch/>
        </p:blipFill>
        <p:spPr>
          <a:xfrm>
            <a:off x="6201750" y="4359249"/>
            <a:ext cx="5927277" cy="1833529"/>
          </a:xfrm>
          <a:prstGeom prst="roundRect">
            <a:avLst>
              <a:gd name="adj" fmla="val 699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87697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B610D-F550-4125-1811-0D7DA3977908}"/>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47BEF4A5-8AB0-F003-6AD0-1A306BC6FBAC}"/>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Comparaison avec </a:t>
            </a:r>
            <a:r>
              <a:rPr kumimoji="0" lang="fr-FR" sz="3200" b="1" i="0" u="none" strike="noStrike" kern="1200" cap="none" spc="0" normalizeH="0" baseline="0" noProof="0" dirty="0" err="1">
                <a:ln>
                  <a:noFill/>
                </a:ln>
                <a:solidFill>
                  <a:schemeClr val="tx1"/>
                </a:solidFill>
                <a:effectLst/>
                <a:uLnTx/>
                <a:uFillTx/>
                <a:latin typeface="+mn-lt"/>
                <a:cs typeface="Arial" pitchFamily="34" charset="0"/>
              </a:rPr>
              <a:t>sklearn</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7841EB16-00B1-E170-B37B-080ECAF18CB8}"/>
              </a:ext>
            </a:extLst>
          </p:cNvPr>
          <p:cNvSpPr>
            <a:spLocks noGrp="1"/>
          </p:cNvSpPr>
          <p:nvPr>
            <p:ph type="sldNum" sz="quarter" idx="12"/>
          </p:nvPr>
        </p:nvSpPr>
        <p:spPr>
          <a:xfrm>
            <a:off x="-93306" y="6480175"/>
            <a:ext cx="401216" cy="377825"/>
          </a:xfrm>
        </p:spPr>
        <p:txBody>
          <a:bodyPr/>
          <a:lstStyle/>
          <a:p>
            <a:fld id="{A3401A20-A1E0-4E43-B782-1D8AAEB2FCB1}" type="slidenum">
              <a:rPr lang="fr-FR" smtClean="0"/>
              <a:t>22</a:t>
            </a:fld>
            <a:endParaRPr lang="fr-FR" dirty="0"/>
          </a:p>
        </p:txBody>
      </p:sp>
      <p:pic>
        <p:nvPicPr>
          <p:cNvPr id="4" name="Image 3">
            <a:extLst>
              <a:ext uri="{FF2B5EF4-FFF2-40B4-BE49-F238E27FC236}">
                <a16:creationId xmlns:a16="http://schemas.microsoft.com/office/drawing/2014/main" id="{E72E6E7F-13A2-A0D0-8A90-91A7843249B4}"/>
              </a:ext>
            </a:extLst>
          </p:cNvPr>
          <p:cNvPicPr>
            <a:picLocks noChangeAspect="1"/>
          </p:cNvPicPr>
          <p:nvPr/>
        </p:nvPicPr>
        <p:blipFill>
          <a:blip r:embed="rId2"/>
          <a:stretch>
            <a:fillRect/>
          </a:stretch>
        </p:blipFill>
        <p:spPr>
          <a:xfrm>
            <a:off x="1663957" y="1059417"/>
            <a:ext cx="8864081" cy="530405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271116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AA1B0876-BBDD-3B2C-AA36-19CC9256E56C}"/>
              </a:ext>
            </a:extLst>
          </p:cNvPr>
          <p:cNvPicPr>
            <a:picLocks noChangeAspect="1"/>
          </p:cNvPicPr>
          <p:nvPr/>
        </p:nvPicPr>
        <p:blipFill>
          <a:blip r:embed="rId2"/>
          <a:stretch>
            <a:fillRect/>
          </a:stretch>
        </p:blipFill>
        <p:spPr>
          <a:xfrm>
            <a:off x="1663959" y="403650"/>
            <a:ext cx="8864082" cy="605069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4" name="Espace réservé du numéro de diapositive 3">
            <a:extLst>
              <a:ext uri="{FF2B5EF4-FFF2-40B4-BE49-F238E27FC236}">
                <a16:creationId xmlns:a16="http://schemas.microsoft.com/office/drawing/2014/main" id="{071D53A2-E6A5-4F60-2CCC-73080F652722}"/>
              </a:ext>
            </a:extLst>
          </p:cNvPr>
          <p:cNvSpPr>
            <a:spLocks noGrp="1"/>
          </p:cNvSpPr>
          <p:nvPr>
            <p:ph type="sldNum" sz="quarter" idx="12"/>
          </p:nvPr>
        </p:nvSpPr>
        <p:spPr>
          <a:xfrm>
            <a:off x="0" y="6454349"/>
            <a:ext cx="345894" cy="377825"/>
          </a:xfrm>
        </p:spPr>
        <p:txBody>
          <a:bodyPr/>
          <a:lstStyle/>
          <a:p>
            <a:fld id="{A3401A20-A1E0-4E43-B782-1D8AAEB2FCB1}" type="slidenum">
              <a:rPr lang="fr-FR" smtClean="0"/>
              <a:t>23</a:t>
            </a:fld>
            <a:endParaRPr lang="fr-FR" dirty="0"/>
          </a:p>
        </p:txBody>
      </p:sp>
    </p:spTree>
    <p:extLst>
      <p:ext uri="{BB962C8B-B14F-4D97-AF65-F5344CB8AC3E}">
        <p14:creationId xmlns:p14="http://schemas.microsoft.com/office/powerpoint/2010/main" val="31842759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DF6C17E8-CFB6-F7DB-0A89-26636D898EA7}"/>
              </a:ext>
            </a:extLst>
          </p:cNvPr>
          <p:cNvSpPr/>
          <p:nvPr/>
        </p:nvSpPr>
        <p:spPr>
          <a:xfrm>
            <a:off x="1793650" y="2871132"/>
            <a:ext cx="8321879" cy="1115736"/>
          </a:xfrm>
          <a:prstGeom prst="roundRect">
            <a:avLst>
              <a:gd name="adj" fmla="val 41101"/>
            </a:avLst>
          </a:prstGeom>
          <a:solidFill>
            <a:srgbClr val="0070C0"/>
          </a:solidFill>
          <a:effectLst>
            <a:outerShdw blurRad="57150" dist="19050" dir="5400000" algn="ctr" rotWithShape="0">
              <a:srgbClr val="000000">
                <a:alpha val="63000"/>
              </a:srgbClr>
            </a:outerShdw>
            <a:softEdge rad="63500"/>
          </a:effectLst>
        </p:spPr>
        <p:style>
          <a:lnRef idx="0">
            <a:schemeClr val="dk1"/>
          </a:lnRef>
          <a:fillRef idx="3">
            <a:schemeClr val="dk1"/>
          </a:fillRef>
          <a:effectRef idx="3">
            <a:schemeClr val="dk1"/>
          </a:effectRef>
          <a:fontRef idx="minor">
            <a:schemeClr val="lt1"/>
          </a:fontRef>
        </p:style>
        <p:txBody>
          <a:bodyPr rtlCol="0" anchor="ctr"/>
          <a:lstStyle/>
          <a:p>
            <a:pPr algn="ctr"/>
            <a:r>
              <a:rPr lang="en-US" altLang="ko-KR" sz="3200" b="1" dirty="0">
                <a:solidFill>
                  <a:schemeClr val="tx1"/>
                </a:solidFill>
                <a:cs typeface="Arial" pitchFamily="34" charset="0"/>
              </a:rPr>
              <a:t>Generated Datasets</a:t>
            </a:r>
          </a:p>
        </p:txBody>
      </p:sp>
      <p:pic>
        <p:nvPicPr>
          <p:cNvPr id="5" name="Graphique 4" descr="Hiérarchie">
            <a:extLst>
              <a:ext uri="{FF2B5EF4-FFF2-40B4-BE49-F238E27FC236}">
                <a16:creationId xmlns:a16="http://schemas.microsoft.com/office/drawing/2014/main" id="{1FF8B310-6298-1414-8EAC-DB79965A13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94439" y="2971800"/>
            <a:ext cx="914400" cy="914400"/>
          </a:xfrm>
          <a:prstGeom prst="rect">
            <a:avLst/>
          </a:prstGeom>
        </p:spPr>
      </p:pic>
    </p:spTree>
    <p:extLst>
      <p:ext uri="{BB962C8B-B14F-4D97-AF65-F5344CB8AC3E}">
        <p14:creationId xmlns:p14="http://schemas.microsoft.com/office/powerpoint/2010/main" val="3752453967"/>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02AB-986C-7568-2C3F-EF7E4C9283BD}"/>
            </a:ext>
          </a:extLst>
        </p:cNvPr>
        <p:cNvGrpSpPr/>
        <p:nvPr/>
      </p:nvGrpSpPr>
      <p:grpSpPr>
        <a:xfrm>
          <a:off x="0" y="0"/>
          <a:ext cx="0" cy="0"/>
          <a:chOff x="0" y="0"/>
          <a:chExt cx="0" cy="0"/>
        </a:xfrm>
      </p:grpSpPr>
      <p:sp>
        <p:nvSpPr>
          <p:cNvPr id="13" name="ZoneTexte 12">
            <a:extLst>
              <a:ext uri="{FF2B5EF4-FFF2-40B4-BE49-F238E27FC236}">
                <a16:creationId xmlns:a16="http://schemas.microsoft.com/office/drawing/2014/main" id="{B18EA11E-1ADE-8896-20FA-9EE9B4184AFF}"/>
              </a:ext>
            </a:extLst>
          </p:cNvPr>
          <p:cNvSpPr txBox="1"/>
          <p:nvPr/>
        </p:nvSpPr>
        <p:spPr>
          <a:xfrm>
            <a:off x="139815" y="842461"/>
            <a:ext cx="11912370" cy="461665"/>
          </a:xfrm>
          <a:prstGeom prst="rect">
            <a:avLst/>
          </a:prstGeom>
          <a:noFill/>
        </p:spPr>
        <p:txBody>
          <a:bodyPr wrap="square">
            <a:spAutoFit/>
          </a:bodyPr>
          <a:lstStyle/>
          <a:p>
            <a:pPr defTabSz="914400"/>
            <a:r>
              <a:rPr lang="fr-FR" sz="1200" dirty="0">
                <a:solidFill>
                  <a:prstClr val="white"/>
                </a:solidFill>
                <a:latin typeface="Arial"/>
              </a:rPr>
              <a:t>Les </a:t>
            </a:r>
            <a:r>
              <a:rPr lang="fr-FR" sz="1200" dirty="0" err="1">
                <a:solidFill>
                  <a:prstClr val="white"/>
                </a:solidFill>
                <a:latin typeface="Arial"/>
              </a:rPr>
              <a:t>Generated</a:t>
            </a:r>
            <a:r>
              <a:rPr lang="fr-FR" sz="1200" dirty="0">
                <a:solidFill>
                  <a:prstClr val="white"/>
                </a:solidFill>
                <a:latin typeface="Arial"/>
              </a:rPr>
              <a:t> </a:t>
            </a:r>
            <a:r>
              <a:rPr lang="fr-FR" sz="1200" dirty="0" err="1">
                <a:solidFill>
                  <a:prstClr val="white"/>
                </a:solidFill>
                <a:latin typeface="Arial"/>
              </a:rPr>
              <a:t>Datasets</a:t>
            </a:r>
            <a:r>
              <a:rPr lang="fr-FR" sz="1200" dirty="0">
                <a:solidFill>
                  <a:prstClr val="white"/>
                </a:solidFill>
                <a:latin typeface="Arial"/>
              </a:rPr>
              <a:t> sont des jeux de données artificiels créés selon dès distributions spécifiques. Ils sont utilisés pour tester des modèles sans avoir besoin de vraies données, analyser le comportement d’un algorithme dans un cadre contrôlé et vérifier la capacité d’un modèle a apprendre dès structures particulières dans les données.</a:t>
            </a:r>
          </a:p>
        </p:txBody>
      </p:sp>
      <p:grpSp>
        <p:nvGrpSpPr>
          <p:cNvPr id="14" name="Group 19">
            <a:extLst>
              <a:ext uri="{FF2B5EF4-FFF2-40B4-BE49-F238E27FC236}">
                <a16:creationId xmlns:a16="http://schemas.microsoft.com/office/drawing/2014/main" id="{3DF7C88F-CC61-53C7-A233-81EB2C28DAD7}"/>
              </a:ext>
            </a:extLst>
          </p:cNvPr>
          <p:cNvGrpSpPr/>
          <p:nvPr/>
        </p:nvGrpSpPr>
        <p:grpSpPr>
          <a:xfrm>
            <a:off x="934457" y="2767862"/>
            <a:ext cx="1958067" cy="1287804"/>
            <a:chOff x="1114004" y="1108655"/>
            <a:chExt cx="2129473" cy="1319391"/>
          </a:xfrm>
        </p:grpSpPr>
        <p:sp>
          <p:nvSpPr>
            <p:cNvPr id="15" name="TextBox 1">
              <a:extLst>
                <a:ext uri="{FF2B5EF4-FFF2-40B4-BE49-F238E27FC236}">
                  <a16:creationId xmlns:a16="http://schemas.microsoft.com/office/drawing/2014/main" id="{818B26DF-6C09-3393-73A4-340936140068}"/>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16" name="TextBox 12">
              <a:extLst>
                <a:ext uri="{FF2B5EF4-FFF2-40B4-BE49-F238E27FC236}">
                  <a16:creationId xmlns:a16="http://schemas.microsoft.com/office/drawing/2014/main" id="{75341497-8436-F1E4-1135-F02C19D8C67D}"/>
                </a:ext>
              </a:extLst>
            </p:cNvPr>
            <p:cNvSpPr txBox="1"/>
            <p:nvPr/>
          </p:nvSpPr>
          <p:spPr>
            <a:xfrm>
              <a:off x="1114004" y="1955057"/>
              <a:ext cx="2119047" cy="472989"/>
            </a:xfrm>
            <a:prstGeom prst="rect">
              <a:avLst/>
            </a:prstGeom>
            <a:noFill/>
          </p:spPr>
          <p:txBody>
            <a:bodyPr wrap="square" rtlCol="0">
              <a:spAutoFit/>
            </a:bodyPr>
            <a:lstStyle/>
            <a:p>
              <a:r>
                <a:rPr lang="fr-FR" altLang="ko-KR" sz="1200" dirty="0">
                  <a:cs typeface="Arial" pitchFamily="34" charset="0"/>
                </a:rPr>
                <a:t>Génère un </a:t>
              </a:r>
              <a:r>
                <a:rPr lang="fr-FR" altLang="ko-KR" sz="1200" dirty="0" err="1">
                  <a:cs typeface="Arial" pitchFamily="34" charset="0"/>
                </a:rPr>
                <a:t>dataset</a:t>
              </a:r>
              <a:r>
                <a:rPr lang="fr-FR" altLang="ko-KR" sz="1200" dirty="0">
                  <a:cs typeface="Arial" pitchFamily="34" charset="0"/>
                </a:rPr>
                <a:t> pour des problèmes de classification.</a:t>
              </a:r>
              <a:endParaRPr lang="en-US" altLang="ko-KR" sz="1200" dirty="0">
                <a:cs typeface="Arial" pitchFamily="34" charset="0"/>
              </a:endParaRPr>
            </a:p>
          </p:txBody>
        </p:sp>
        <p:sp>
          <p:nvSpPr>
            <p:cNvPr id="17" name="TextBox 14">
              <a:extLst>
                <a:ext uri="{FF2B5EF4-FFF2-40B4-BE49-F238E27FC236}">
                  <a16:creationId xmlns:a16="http://schemas.microsoft.com/office/drawing/2014/main" id="{B62DFAC9-ACCB-2A1B-49A0-00B734C8E496}"/>
                </a:ext>
              </a:extLst>
            </p:cNvPr>
            <p:cNvSpPr txBox="1"/>
            <p:nvPr/>
          </p:nvSpPr>
          <p:spPr>
            <a:xfrm>
              <a:off x="1124430" y="1298686"/>
              <a:ext cx="2119047" cy="315326"/>
            </a:xfrm>
            <a:prstGeom prst="rect">
              <a:avLst/>
            </a:prstGeom>
            <a:noFill/>
          </p:spPr>
          <p:txBody>
            <a:bodyPr wrap="square" rtlCol="0">
              <a:spAutoFit/>
            </a:bodyPr>
            <a:lstStyle/>
            <a:p>
              <a:r>
                <a:rPr lang="fr-FR" altLang="ko-KR" sz="1400" b="1" dirty="0" err="1">
                  <a:cs typeface="Arial" pitchFamily="34" charset="0"/>
                </a:rPr>
                <a:t>make_classification</a:t>
              </a:r>
              <a:r>
                <a:rPr lang="fr-FR" altLang="ko-KR" sz="1400" b="1" dirty="0">
                  <a:cs typeface="Arial" pitchFamily="34" charset="0"/>
                </a:rPr>
                <a:t> </a:t>
              </a:r>
              <a:endParaRPr lang="ko-KR" altLang="en-US" sz="1400" b="1" dirty="0">
                <a:cs typeface="Arial" pitchFamily="34" charset="0"/>
              </a:endParaRPr>
            </a:p>
          </p:txBody>
        </p:sp>
      </p:grpSp>
      <p:sp>
        <p:nvSpPr>
          <p:cNvPr id="18" name="TextBox 7">
            <a:extLst>
              <a:ext uri="{FF2B5EF4-FFF2-40B4-BE49-F238E27FC236}">
                <a16:creationId xmlns:a16="http://schemas.microsoft.com/office/drawing/2014/main" id="{EE00713F-02D3-967C-58A6-6068A43BA6AF}"/>
              </a:ext>
            </a:extLst>
          </p:cNvPr>
          <p:cNvSpPr txBox="1"/>
          <p:nvPr/>
        </p:nvSpPr>
        <p:spPr>
          <a:xfrm>
            <a:off x="1035400" y="234598"/>
            <a:ext cx="10133901" cy="523220"/>
          </a:xfrm>
          <a:prstGeom prst="rect">
            <a:avLst/>
          </a:prstGeom>
          <a:noFill/>
        </p:spPr>
        <p:txBody>
          <a:bodyPr wrap="square" rtlCol="0" anchor="ctr">
            <a:spAutoFit/>
          </a:bodyPr>
          <a:lstStyle/>
          <a:p>
            <a:pPr algn="ctr"/>
            <a:r>
              <a:rPr lang="fr-FR" altLang="ko-KR" sz="2800" b="1" dirty="0" err="1">
                <a:cs typeface="Arial" pitchFamily="34" charset="0"/>
              </a:rPr>
              <a:t>Generated</a:t>
            </a:r>
            <a:r>
              <a:rPr lang="fr-FR" altLang="ko-KR" sz="2800" b="1" dirty="0">
                <a:cs typeface="Arial" pitchFamily="34" charset="0"/>
              </a:rPr>
              <a:t> </a:t>
            </a:r>
            <a:r>
              <a:rPr lang="fr-FR" altLang="ko-KR" sz="2800" b="1" dirty="0" err="1">
                <a:cs typeface="Arial" pitchFamily="34" charset="0"/>
              </a:rPr>
              <a:t>datasets</a:t>
            </a:r>
            <a:endParaRPr lang="ko-KR" altLang="en-US" sz="2800" b="1" dirty="0">
              <a:cs typeface="Arial" pitchFamily="34" charset="0"/>
            </a:endParaRPr>
          </a:p>
        </p:txBody>
      </p:sp>
      <p:sp>
        <p:nvSpPr>
          <p:cNvPr id="20" name="Rectangle: Rounded Corners 15">
            <a:extLst>
              <a:ext uri="{FF2B5EF4-FFF2-40B4-BE49-F238E27FC236}">
                <a16:creationId xmlns:a16="http://schemas.microsoft.com/office/drawing/2014/main" id="{9BE9A732-AB16-0F9C-55DD-43BBF022AF2D}"/>
              </a:ext>
            </a:extLst>
          </p:cNvPr>
          <p:cNvSpPr/>
          <p:nvPr/>
        </p:nvSpPr>
        <p:spPr>
          <a:xfrm>
            <a:off x="807621" y="2346609"/>
            <a:ext cx="2221326" cy="2560123"/>
          </a:xfrm>
          <a:prstGeom prst="roundRect">
            <a:avLst>
              <a:gd name="adj" fmla="val 2774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15">
            <a:extLst>
              <a:ext uri="{FF2B5EF4-FFF2-40B4-BE49-F238E27FC236}">
                <a16:creationId xmlns:a16="http://schemas.microsoft.com/office/drawing/2014/main" id="{FA226DAE-5672-A158-C743-2E7C15913618}"/>
              </a:ext>
            </a:extLst>
          </p:cNvPr>
          <p:cNvSpPr/>
          <p:nvPr/>
        </p:nvSpPr>
        <p:spPr>
          <a:xfrm>
            <a:off x="4985337" y="2365327"/>
            <a:ext cx="2221326" cy="2560123"/>
          </a:xfrm>
          <a:prstGeom prst="roundRect">
            <a:avLst>
              <a:gd name="adj" fmla="val 306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19">
            <a:extLst>
              <a:ext uri="{FF2B5EF4-FFF2-40B4-BE49-F238E27FC236}">
                <a16:creationId xmlns:a16="http://schemas.microsoft.com/office/drawing/2014/main" id="{95FA663B-16EF-A482-75BE-1CE1874905D1}"/>
              </a:ext>
            </a:extLst>
          </p:cNvPr>
          <p:cNvGrpSpPr/>
          <p:nvPr/>
        </p:nvGrpSpPr>
        <p:grpSpPr>
          <a:xfrm>
            <a:off x="5095480" y="2905524"/>
            <a:ext cx="2040846" cy="1174714"/>
            <a:chOff x="1114004" y="1108655"/>
            <a:chExt cx="2219499" cy="1370049"/>
          </a:xfrm>
        </p:grpSpPr>
        <p:sp>
          <p:nvSpPr>
            <p:cNvPr id="23" name="TextBox 1">
              <a:extLst>
                <a:ext uri="{FF2B5EF4-FFF2-40B4-BE49-F238E27FC236}">
                  <a16:creationId xmlns:a16="http://schemas.microsoft.com/office/drawing/2014/main" id="{6856091E-D2A2-5900-0427-048EAA4D46CC}"/>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24" name="TextBox 12">
              <a:extLst>
                <a:ext uri="{FF2B5EF4-FFF2-40B4-BE49-F238E27FC236}">
                  <a16:creationId xmlns:a16="http://schemas.microsoft.com/office/drawing/2014/main" id="{36349581-43DD-E966-805A-8FED0098A9CB}"/>
                </a:ext>
              </a:extLst>
            </p:cNvPr>
            <p:cNvSpPr txBox="1"/>
            <p:nvPr/>
          </p:nvSpPr>
          <p:spPr>
            <a:xfrm>
              <a:off x="1214455" y="1940272"/>
              <a:ext cx="2119047" cy="538432"/>
            </a:xfrm>
            <a:prstGeom prst="rect">
              <a:avLst/>
            </a:prstGeom>
            <a:noFill/>
          </p:spPr>
          <p:txBody>
            <a:bodyPr wrap="square" rtlCol="0">
              <a:spAutoFit/>
            </a:bodyPr>
            <a:lstStyle/>
            <a:p>
              <a:r>
                <a:rPr lang="fr-FR" altLang="ko-KR" sz="1200" dirty="0">
                  <a:cs typeface="Arial" pitchFamily="34" charset="0"/>
                </a:rPr>
                <a:t>Crée des données adaptées aux taches de régression.</a:t>
              </a:r>
              <a:endParaRPr lang="en-US" altLang="ko-KR" sz="1200" dirty="0">
                <a:cs typeface="Arial" pitchFamily="34" charset="0"/>
              </a:endParaRPr>
            </a:p>
          </p:txBody>
        </p:sp>
        <p:sp>
          <p:nvSpPr>
            <p:cNvPr id="25" name="TextBox 14">
              <a:extLst>
                <a:ext uri="{FF2B5EF4-FFF2-40B4-BE49-F238E27FC236}">
                  <a16:creationId xmlns:a16="http://schemas.microsoft.com/office/drawing/2014/main" id="{6871E064-73F9-299B-2848-D928EDEE69E7}"/>
                </a:ext>
              </a:extLst>
            </p:cNvPr>
            <p:cNvSpPr txBox="1"/>
            <p:nvPr/>
          </p:nvSpPr>
          <p:spPr>
            <a:xfrm>
              <a:off x="1214456" y="1164583"/>
              <a:ext cx="2119047" cy="358955"/>
            </a:xfrm>
            <a:prstGeom prst="rect">
              <a:avLst/>
            </a:prstGeom>
            <a:noFill/>
          </p:spPr>
          <p:txBody>
            <a:bodyPr wrap="square" rtlCol="0">
              <a:spAutoFit/>
            </a:bodyPr>
            <a:lstStyle/>
            <a:p>
              <a:r>
                <a:rPr lang="fr-FR" altLang="ko-KR" sz="1400" b="1" dirty="0" err="1">
                  <a:cs typeface="Arial" pitchFamily="34" charset="0"/>
                </a:rPr>
                <a:t>make_regression</a:t>
              </a:r>
              <a:r>
                <a:rPr lang="fr-FR" altLang="ko-KR" sz="1400" b="1" dirty="0">
                  <a:cs typeface="Arial" pitchFamily="34" charset="0"/>
                </a:rPr>
                <a:t> </a:t>
              </a:r>
              <a:endParaRPr lang="ko-KR" altLang="en-US" sz="1400" b="1" dirty="0">
                <a:cs typeface="Arial" pitchFamily="34" charset="0"/>
              </a:endParaRPr>
            </a:p>
          </p:txBody>
        </p:sp>
      </p:grpSp>
      <p:sp>
        <p:nvSpPr>
          <p:cNvPr id="30" name="Rectangle: Rounded Corners 15">
            <a:extLst>
              <a:ext uri="{FF2B5EF4-FFF2-40B4-BE49-F238E27FC236}">
                <a16:creationId xmlns:a16="http://schemas.microsoft.com/office/drawing/2014/main" id="{D03BD137-45B2-A4E3-02FD-8583EC2AC642}"/>
              </a:ext>
            </a:extLst>
          </p:cNvPr>
          <p:cNvSpPr/>
          <p:nvPr/>
        </p:nvSpPr>
        <p:spPr>
          <a:xfrm>
            <a:off x="9163053" y="2365327"/>
            <a:ext cx="2221326" cy="2560123"/>
          </a:xfrm>
          <a:prstGeom prst="roundRect">
            <a:avLst>
              <a:gd name="adj" fmla="val 2774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19">
            <a:extLst>
              <a:ext uri="{FF2B5EF4-FFF2-40B4-BE49-F238E27FC236}">
                <a16:creationId xmlns:a16="http://schemas.microsoft.com/office/drawing/2014/main" id="{C4F052A4-B91C-8A86-DF8F-FBB44382049C}"/>
              </a:ext>
            </a:extLst>
          </p:cNvPr>
          <p:cNvGrpSpPr/>
          <p:nvPr/>
        </p:nvGrpSpPr>
        <p:grpSpPr>
          <a:xfrm>
            <a:off x="9299476" y="2620634"/>
            <a:ext cx="1948480" cy="1561836"/>
            <a:chOff x="1114004" y="1108655"/>
            <a:chExt cx="2119047" cy="1600145"/>
          </a:xfrm>
        </p:grpSpPr>
        <p:sp>
          <p:nvSpPr>
            <p:cNvPr id="32" name="TextBox 1">
              <a:extLst>
                <a:ext uri="{FF2B5EF4-FFF2-40B4-BE49-F238E27FC236}">
                  <a16:creationId xmlns:a16="http://schemas.microsoft.com/office/drawing/2014/main" id="{DED00981-A67E-7312-BF30-ED0F9F0979A5}"/>
                </a:ext>
              </a:extLst>
            </p:cNvPr>
            <p:cNvSpPr txBox="1"/>
            <p:nvPr/>
          </p:nvSpPr>
          <p:spPr>
            <a:xfrm>
              <a:off x="1114004" y="1108655"/>
              <a:ext cx="200902" cy="725249"/>
            </a:xfrm>
            <a:prstGeom prst="rect">
              <a:avLst/>
            </a:prstGeom>
            <a:noFill/>
          </p:spPr>
          <p:txBody>
            <a:bodyPr wrap="none" rtlCol="0">
              <a:spAutoFit/>
            </a:bodyPr>
            <a:lstStyle/>
            <a:p>
              <a:endParaRPr lang="ko-KR" altLang="en-US" sz="4000" b="1" dirty="0">
                <a:cs typeface="Arial" pitchFamily="34" charset="0"/>
              </a:endParaRPr>
            </a:p>
          </p:txBody>
        </p:sp>
        <p:sp>
          <p:nvSpPr>
            <p:cNvPr id="33" name="TextBox 12">
              <a:extLst>
                <a:ext uri="{FF2B5EF4-FFF2-40B4-BE49-F238E27FC236}">
                  <a16:creationId xmlns:a16="http://schemas.microsoft.com/office/drawing/2014/main" id="{1C2465F2-063B-6C3A-D894-6086294A3C5D}"/>
                </a:ext>
              </a:extLst>
            </p:cNvPr>
            <p:cNvSpPr txBox="1"/>
            <p:nvPr/>
          </p:nvSpPr>
          <p:spPr>
            <a:xfrm>
              <a:off x="1114004" y="2046616"/>
              <a:ext cx="2119047" cy="662184"/>
            </a:xfrm>
            <a:prstGeom prst="rect">
              <a:avLst/>
            </a:prstGeom>
            <a:noFill/>
          </p:spPr>
          <p:txBody>
            <a:bodyPr wrap="square" rtlCol="0">
              <a:spAutoFit/>
            </a:bodyPr>
            <a:lstStyle/>
            <a:p>
              <a:r>
                <a:rPr lang="fr-FR" altLang="ko-KR" sz="1200" dirty="0">
                  <a:cs typeface="Arial" pitchFamily="34" charset="0"/>
                </a:rPr>
                <a:t>Produit des clusters de données pour des algorithmes de clustering.</a:t>
              </a:r>
              <a:endParaRPr lang="en-US" altLang="ko-KR" sz="1200" dirty="0">
                <a:cs typeface="Arial" pitchFamily="34" charset="0"/>
              </a:endParaRPr>
            </a:p>
          </p:txBody>
        </p:sp>
        <p:sp>
          <p:nvSpPr>
            <p:cNvPr id="34" name="TextBox 14">
              <a:extLst>
                <a:ext uri="{FF2B5EF4-FFF2-40B4-BE49-F238E27FC236}">
                  <a16:creationId xmlns:a16="http://schemas.microsoft.com/office/drawing/2014/main" id="{4A6D7C31-3CBC-7940-9098-26DCF7FA065A}"/>
                </a:ext>
              </a:extLst>
            </p:cNvPr>
            <p:cNvSpPr txBox="1"/>
            <p:nvPr/>
          </p:nvSpPr>
          <p:spPr>
            <a:xfrm>
              <a:off x="1114004" y="1433022"/>
              <a:ext cx="2119047" cy="315326"/>
            </a:xfrm>
            <a:prstGeom prst="rect">
              <a:avLst/>
            </a:prstGeom>
            <a:noFill/>
          </p:spPr>
          <p:txBody>
            <a:bodyPr wrap="square" rtlCol="0">
              <a:spAutoFit/>
            </a:bodyPr>
            <a:lstStyle/>
            <a:p>
              <a:r>
                <a:rPr lang="fr-FR" altLang="ko-KR" sz="1400" b="1" dirty="0" err="1">
                  <a:cs typeface="Arial" pitchFamily="34" charset="0"/>
                </a:rPr>
                <a:t>make_blobs</a:t>
              </a:r>
              <a:endParaRPr lang="ko-KR" altLang="en-US" sz="1400" b="1" dirty="0">
                <a:cs typeface="Arial" pitchFamily="34" charset="0"/>
              </a:endParaRPr>
            </a:p>
          </p:txBody>
        </p:sp>
      </p:grpSp>
      <p:sp>
        <p:nvSpPr>
          <p:cNvPr id="6" name="Espace réservé du numéro de diapositive 5">
            <a:extLst>
              <a:ext uri="{FF2B5EF4-FFF2-40B4-BE49-F238E27FC236}">
                <a16:creationId xmlns:a16="http://schemas.microsoft.com/office/drawing/2014/main" id="{A14CF12D-05EA-AC22-D55B-6803FECC3955}"/>
              </a:ext>
            </a:extLst>
          </p:cNvPr>
          <p:cNvSpPr>
            <a:spLocks noGrp="1"/>
          </p:cNvSpPr>
          <p:nvPr>
            <p:ph type="sldNum" sz="quarter" idx="12"/>
          </p:nvPr>
        </p:nvSpPr>
        <p:spPr>
          <a:xfrm>
            <a:off x="3561" y="6470606"/>
            <a:ext cx="313680" cy="377825"/>
          </a:xfrm>
        </p:spPr>
        <p:txBody>
          <a:bodyPr/>
          <a:lstStyle/>
          <a:p>
            <a:fld id="{A3401A20-A1E0-4E43-B782-1D8AAEB2FCB1}" type="slidenum">
              <a:rPr lang="fr-FR" smtClean="0"/>
              <a:t>25</a:t>
            </a:fld>
            <a:endParaRPr lang="fr-FR" dirty="0"/>
          </a:p>
        </p:txBody>
      </p:sp>
      <p:cxnSp>
        <p:nvCxnSpPr>
          <p:cNvPr id="3" name="Connecteur : en angle 2">
            <a:extLst>
              <a:ext uri="{FF2B5EF4-FFF2-40B4-BE49-F238E27FC236}">
                <a16:creationId xmlns:a16="http://schemas.microsoft.com/office/drawing/2014/main" id="{97BAAB8E-3B0B-8739-4603-F9B0F55F7205}"/>
              </a:ext>
            </a:extLst>
          </p:cNvPr>
          <p:cNvCxnSpPr>
            <a:stCxn id="13" idx="2"/>
            <a:endCxn id="20" idx="0"/>
          </p:cNvCxnSpPr>
          <p:nvPr/>
        </p:nvCxnSpPr>
        <p:spPr>
          <a:xfrm rot="5400000">
            <a:off x="3485901" y="-263491"/>
            <a:ext cx="1042483" cy="4177716"/>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 name="Connecteur : en angle 4">
            <a:extLst>
              <a:ext uri="{FF2B5EF4-FFF2-40B4-BE49-F238E27FC236}">
                <a16:creationId xmlns:a16="http://schemas.microsoft.com/office/drawing/2014/main" id="{D4D4792A-1F6C-E481-6888-97C82E9899B7}"/>
              </a:ext>
            </a:extLst>
          </p:cNvPr>
          <p:cNvCxnSpPr>
            <a:stCxn id="13" idx="2"/>
            <a:endCxn id="21" idx="0"/>
          </p:cNvCxnSpPr>
          <p:nvPr/>
        </p:nvCxnSpPr>
        <p:spPr>
          <a:xfrm rot="5400000">
            <a:off x="5565400" y="1834726"/>
            <a:ext cx="1061201" cy="12700"/>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 name="Connecteur : en angle 7">
            <a:extLst>
              <a:ext uri="{FF2B5EF4-FFF2-40B4-BE49-F238E27FC236}">
                <a16:creationId xmlns:a16="http://schemas.microsoft.com/office/drawing/2014/main" id="{49A85DB9-7A6C-0E75-8345-B79B8673FD20}"/>
              </a:ext>
            </a:extLst>
          </p:cNvPr>
          <p:cNvCxnSpPr>
            <a:stCxn id="13" idx="2"/>
            <a:endCxn id="30" idx="0"/>
          </p:cNvCxnSpPr>
          <p:nvPr/>
        </p:nvCxnSpPr>
        <p:spPr>
          <a:xfrm rot="16200000" flipH="1">
            <a:off x="7654258" y="-254132"/>
            <a:ext cx="1061201" cy="4177716"/>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ZoneTexte 25">
            <a:extLst>
              <a:ext uri="{FF2B5EF4-FFF2-40B4-BE49-F238E27FC236}">
                <a16:creationId xmlns:a16="http://schemas.microsoft.com/office/drawing/2014/main" id="{20E24C74-C8C4-FFE1-874E-49E7BC5A716C}"/>
              </a:ext>
            </a:extLst>
          </p:cNvPr>
          <p:cNvSpPr txBox="1"/>
          <p:nvPr/>
        </p:nvSpPr>
        <p:spPr>
          <a:xfrm>
            <a:off x="1737464" y="5370527"/>
            <a:ext cx="8849242" cy="923330"/>
          </a:xfrm>
          <a:prstGeom prst="rect">
            <a:avLst/>
          </a:prstGeom>
          <a:noFill/>
          <a:ln>
            <a:solidFill>
              <a:schemeClr val="bg2">
                <a:lumMod val="60000"/>
                <a:lumOff val="40000"/>
              </a:schemeClr>
            </a:solidFill>
          </a:ln>
        </p:spPr>
        <p:txBody>
          <a:bodyPr wrap="square">
            <a:spAutoFit/>
          </a:bodyPr>
          <a:lstStyle/>
          <a:p>
            <a:pPr algn="just"/>
            <a:r>
              <a:rPr lang="fr-FR" dirty="0"/>
              <a:t>Dans notre cas, nous allons nous concentrer sur </a:t>
            </a:r>
            <a:r>
              <a:rPr lang="fr-FR" b="1" dirty="0" err="1">
                <a:effectLst>
                  <a:outerShdw blurRad="38100" dist="38100" dir="2700000" algn="tl">
                    <a:srgbClr val="000000">
                      <a:alpha val="43137"/>
                    </a:srgbClr>
                  </a:outerShdw>
                </a:effectLst>
              </a:rPr>
              <a:t>make_classification</a:t>
            </a:r>
            <a:r>
              <a:rPr lang="fr-FR" dirty="0"/>
              <a:t>, qui permet de générer un ensemble de données adapté aux problèmes de classification supervisée. Nous comparerons notre propre implémentation avec celle fournie par </a:t>
            </a:r>
            <a:r>
              <a:rPr lang="fr-FR" dirty="0" err="1"/>
              <a:t>sklearn</a:t>
            </a:r>
            <a:r>
              <a:rPr lang="fr-FR" dirty="0"/>
              <a:t>.</a:t>
            </a:r>
          </a:p>
        </p:txBody>
      </p:sp>
    </p:spTree>
    <p:extLst>
      <p:ext uri="{BB962C8B-B14F-4D97-AF65-F5344CB8AC3E}">
        <p14:creationId xmlns:p14="http://schemas.microsoft.com/office/powerpoint/2010/main" val="18123367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77D08-D295-3CA4-D666-657D4824E3D4}"/>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D191EFC8-A361-A4FA-E3BC-21D3D836E1D2}"/>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Implémentation du code</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631E25AA-C532-09B5-9F8E-9F9EF73FA7AF}"/>
              </a:ext>
            </a:extLst>
          </p:cNvPr>
          <p:cNvSpPr>
            <a:spLocks noGrp="1"/>
          </p:cNvSpPr>
          <p:nvPr>
            <p:ph type="sldNum" sz="quarter" idx="12"/>
          </p:nvPr>
        </p:nvSpPr>
        <p:spPr>
          <a:xfrm>
            <a:off x="-83979" y="6480175"/>
            <a:ext cx="391886" cy="377825"/>
          </a:xfrm>
        </p:spPr>
        <p:txBody>
          <a:bodyPr/>
          <a:lstStyle/>
          <a:p>
            <a:fld id="{A3401A20-A1E0-4E43-B782-1D8AAEB2FCB1}" type="slidenum">
              <a:rPr lang="fr-FR" smtClean="0"/>
              <a:t>26</a:t>
            </a:fld>
            <a:endParaRPr lang="fr-FR" dirty="0"/>
          </a:p>
        </p:txBody>
      </p:sp>
      <p:sp>
        <p:nvSpPr>
          <p:cNvPr id="11" name="ZoneTexte 10">
            <a:extLst>
              <a:ext uri="{FF2B5EF4-FFF2-40B4-BE49-F238E27FC236}">
                <a16:creationId xmlns:a16="http://schemas.microsoft.com/office/drawing/2014/main" id="{1A993590-81B6-6D61-BF56-1254C06253AC}"/>
              </a:ext>
            </a:extLst>
          </p:cNvPr>
          <p:cNvSpPr txBox="1"/>
          <p:nvPr/>
        </p:nvSpPr>
        <p:spPr>
          <a:xfrm>
            <a:off x="2488162" y="3105834"/>
            <a:ext cx="7215671" cy="646331"/>
          </a:xfrm>
          <a:prstGeom prst="rect">
            <a:avLst/>
          </a:prstGeom>
          <a:solidFill>
            <a:schemeClr val="bg2">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r>
              <a:rPr lang="fr-FR" dirty="0"/>
              <a:t>Générer un </a:t>
            </a:r>
            <a:r>
              <a:rPr lang="fr-FR" dirty="0" err="1"/>
              <a:t>dataset</a:t>
            </a:r>
            <a:r>
              <a:rPr lang="fr-FR" dirty="0"/>
              <a:t> de classification avec un nombre donné d’échantillons (</a:t>
            </a:r>
            <a:r>
              <a:rPr lang="fr-FR" dirty="0" err="1"/>
              <a:t>n_samples</a:t>
            </a:r>
            <a:r>
              <a:rPr lang="fr-FR" dirty="0"/>
              <a:t>), de caractéristiques (</a:t>
            </a:r>
            <a:r>
              <a:rPr lang="fr-FR" dirty="0" err="1"/>
              <a:t>n_features</a:t>
            </a:r>
            <a:r>
              <a:rPr lang="fr-FR" dirty="0"/>
              <a:t>) et de classes (</a:t>
            </a:r>
            <a:r>
              <a:rPr lang="fr-FR" dirty="0" err="1"/>
              <a:t>n_classes</a:t>
            </a:r>
            <a:r>
              <a:rPr lang="fr-FR" dirty="0"/>
              <a:t>).</a:t>
            </a:r>
          </a:p>
        </p:txBody>
      </p:sp>
    </p:spTree>
    <p:extLst>
      <p:ext uri="{BB962C8B-B14F-4D97-AF65-F5344CB8AC3E}">
        <p14:creationId xmlns:p14="http://schemas.microsoft.com/office/powerpoint/2010/main" val="4111564274"/>
      </p:ext>
    </p:extLst>
  </p:cSld>
  <p:clrMapOvr>
    <a:masterClrMapping/>
  </p:clrMapOvr>
  <p:transition spd="slow">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2D046410-F6BA-CB08-51CD-53588143A963}"/>
                  </a:ext>
                </a:extLst>
              </p:cNvPr>
              <p:cNvSpPr txBox="1"/>
              <p:nvPr/>
            </p:nvSpPr>
            <p:spPr>
              <a:xfrm>
                <a:off x="174950" y="324688"/>
                <a:ext cx="5855736" cy="6083012"/>
              </a:xfrm>
              <a:prstGeom prst="rect">
                <a:avLst/>
              </a:prstGeom>
              <a:solidFill>
                <a:schemeClr val="bg2">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3">
                <a:schemeClr val="accent2"/>
              </a:fillRef>
              <a:effectRef idx="2">
                <a:schemeClr val="accent2"/>
              </a:effectRef>
              <a:fontRef idx="minor">
                <a:schemeClr val="lt1"/>
              </a:fontRef>
            </p:style>
            <p:txBody>
              <a:bodyPr wrap="square">
                <a:spAutoFit/>
              </a:bodyPr>
              <a:lstStyle/>
              <a:p>
                <a:r>
                  <a:rPr lang="fr-FR" b="1" u="sng" dirty="0">
                    <a:solidFill>
                      <a:schemeClr val="tx1"/>
                    </a:solidFill>
                    <a:effectLst>
                      <a:outerShdw blurRad="38100" dist="38100" dir="2700000" algn="tl">
                        <a:srgbClr val="000000">
                          <a:alpha val="43137"/>
                        </a:srgbClr>
                      </a:outerShdw>
                    </a:effectLst>
                  </a:rPr>
                  <a:t>np.random.seed(</a:t>
                </a:r>
                <a:r>
                  <a:rPr lang="fr-FR" b="1" u="sng" dirty="0" err="1">
                    <a:solidFill>
                      <a:schemeClr val="tx1"/>
                    </a:solidFill>
                    <a:effectLst>
                      <a:outerShdw blurRad="38100" dist="38100" dir="2700000" algn="tl">
                        <a:srgbClr val="000000">
                          <a:alpha val="43137"/>
                        </a:srgbClr>
                      </a:outerShdw>
                    </a:effectLst>
                  </a:rPr>
                  <a:t>seed</a:t>
                </a:r>
                <a:r>
                  <a:rPr lang="fr-FR" b="1" u="sng" dirty="0">
                    <a:solidFill>
                      <a:schemeClr val="tx1"/>
                    </a:solidFill>
                    <a:effectLst>
                      <a:outerShdw blurRad="38100" dist="38100" dir="2700000" algn="tl">
                        <a:srgbClr val="000000">
                          <a:alpha val="43137"/>
                        </a:srgbClr>
                      </a:outerShdw>
                    </a:effectLst>
                  </a:rPr>
                  <a:t>)</a:t>
                </a:r>
                <a:endParaRPr lang="fr-FR" u="sng" dirty="0">
                  <a:solidFill>
                    <a:schemeClr val="tx1"/>
                  </a:solidFill>
                  <a:effectLst>
                    <a:outerShdw blurRad="38100" dist="38100" dir="2700000" algn="tl">
                      <a:srgbClr val="000000">
                        <a:alpha val="43137"/>
                      </a:srgbClr>
                    </a:outerShdw>
                  </a:effectLst>
                </a:endParaRPr>
              </a:p>
              <a:p>
                <a:pPr marL="285750" indent="-285750">
                  <a:buFont typeface="Arial" panose="020B0604020202020204" pitchFamily="34" charset="0"/>
                  <a:buChar char="•"/>
                </a:pPr>
                <a:r>
                  <a:rPr lang="fr-FR" sz="1600" dirty="0">
                    <a:solidFill>
                      <a:schemeClr val="tx1"/>
                    </a:solidFill>
                  </a:rPr>
                  <a:t>Cette ligne fixe la graine du générateur aléatoire pour assurer la reproductibilité du </a:t>
                </a:r>
                <a:r>
                  <a:rPr lang="fr-FR" sz="1600" dirty="0" err="1">
                    <a:solidFill>
                      <a:schemeClr val="tx1"/>
                    </a:solidFill>
                  </a:rPr>
                  <a:t>dataset</a:t>
                </a:r>
                <a:r>
                  <a:rPr lang="fr-FR" sz="1600" dirty="0">
                    <a:solidFill>
                      <a:schemeClr val="tx1"/>
                    </a:solidFill>
                  </a:rPr>
                  <a:t>.</a:t>
                </a:r>
              </a:p>
              <a:p>
                <a:pPr marL="285750" indent="-285750">
                  <a:buFont typeface="Arial" panose="020B0604020202020204" pitchFamily="34" charset="0"/>
                  <a:buChar char="•"/>
                </a:pPr>
                <a:r>
                  <a:rPr lang="fr-FR" sz="1600" dirty="0">
                    <a:solidFill>
                      <a:schemeClr val="tx1"/>
                    </a:solidFill>
                  </a:rPr>
                  <a:t>Si on exécute plusieurs fois la fonction avec le même </a:t>
                </a:r>
                <a:r>
                  <a:rPr lang="fr-FR" sz="1600" dirty="0" err="1">
                    <a:solidFill>
                      <a:schemeClr val="tx1"/>
                    </a:solidFill>
                  </a:rPr>
                  <a:t>seed</a:t>
                </a:r>
                <a:r>
                  <a:rPr lang="fr-FR" sz="1600" dirty="0">
                    <a:solidFill>
                      <a:schemeClr val="tx1"/>
                    </a:solidFill>
                  </a:rPr>
                  <a:t>, on obtiendra toujours le même </a:t>
                </a:r>
                <a:r>
                  <a:rPr lang="fr-FR" sz="1600" dirty="0" err="1">
                    <a:solidFill>
                      <a:schemeClr val="tx1"/>
                    </a:solidFill>
                  </a:rPr>
                  <a:t>dataset</a:t>
                </a:r>
                <a:r>
                  <a:rPr lang="fr-FR" dirty="0">
                    <a:solidFill>
                      <a:schemeClr val="tx1"/>
                    </a:solidFill>
                  </a:rPr>
                  <a:t>.</a:t>
                </a:r>
              </a:p>
              <a:p>
                <a:endParaRPr lang="fr-FR" dirty="0">
                  <a:solidFill>
                    <a:schemeClr val="tx1"/>
                  </a:solidFill>
                </a:endParaRPr>
              </a:p>
              <a:p>
                <a:r>
                  <a:rPr lang="fr-FR" b="1" u="sng" dirty="0">
                    <a:solidFill>
                      <a:schemeClr val="tx1"/>
                    </a:solidFill>
                    <a:effectLst>
                      <a:outerShdw blurRad="38100" dist="38100" dir="2700000" algn="tl">
                        <a:srgbClr val="000000">
                          <a:alpha val="43137"/>
                        </a:srgbClr>
                      </a:outerShdw>
                    </a:effectLst>
                  </a:rPr>
                  <a:t>centres = </a:t>
                </a:r>
                <a:r>
                  <a:rPr lang="fr-FR" b="1" u="sng" dirty="0" err="1">
                    <a:solidFill>
                      <a:schemeClr val="tx1"/>
                    </a:solidFill>
                    <a:effectLst>
                      <a:outerShdw blurRad="38100" dist="38100" dir="2700000" algn="tl">
                        <a:srgbClr val="000000">
                          <a:alpha val="43137"/>
                        </a:srgbClr>
                      </a:outerShdw>
                    </a:effectLst>
                  </a:rPr>
                  <a:t>np.random.uniform</a:t>
                </a:r>
                <a:r>
                  <a:rPr lang="fr-FR" b="1" u="sng" dirty="0">
                    <a:solidFill>
                      <a:schemeClr val="tx1"/>
                    </a:solidFill>
                    <a:effectLst>
                      <a:outerShdw blurRad="38100" dist="38100" dir="2700000" algn="tl">
                        <a:srgbClr val="000000">
                          <a:alpha val="43137"/>
                        </a:srgbClr>
                      </a:outerShdw>
                    </a:effectLst>
                  </a:rPr>
                  <a:t>(-5, 5, size=(</a:t>
                </a:r>
                <a:r>
                  <a:rPr lang="fr-FR" b="1" u="sng" dirty="0" err="1">
                    <a:solidFill>
                      <a:schemeClr val="tx1"/>
                    </a:solidFill>
                    <a:effectLst>
                      <a:outerShdw blurRad="38100" dist="38100" dir="2700000" algn="tl">
                        <a:srgbClr val="000000">
                          <a:alpha val="43137"/>
                        </a:srgbClr>
                      </a:outerShdw>
                    </a:effectLst>
                  </a:rPr>
                  <a:t>n_classes</a:t>
                </a:r>
                <a:r>
                  <a:rPr lang="fr-FR" b="1" u="sng" dirty="0">
                    <a:solidFill>
                      <a:schemeClr val="tx1"/>
                    </a:solidFill>
                    <a:effectLst>
                      <a:outerShdw blurRad="38100" dist="38100" dir="2700000" algn="tl">
                        <a:srgbClr val="000000">
                          <a:alpha val="43137"/>
                        </a:srgbClr>
                      </a:outerShdw>
                    </a:effectLst>
                  </a:rPr>
                  <a:t>, </a:t>
                </a:r>
                <a:r>
                  <a:rPr lang="fr-FR" b="1" u="sng" dirty="0" err="1">
                    <a:solidFill>
                      <a:schemeClr val="tx1"/>
                    </a:solidFill>
                    <a:effectLst>
                      <a:outerShdw blurRad="38100" dist="38100" dir="2700000" algn="tl">
                        <a:srgbClr val="000000">
                          <a:alpha val="43137"/>
                        </a:srgbClr>
                      </a:outerShdw>
                    </a:effectLst>
                  </a:rPr>
                  <a:t>n_features</a:t>
                </a:r>
                <a:r>
                  <a:rPr lang="fr-FR" b="1" u="sng" dirty="0">
                    <a:solidFill>
                      <a:schemeClr val="tx1"/>
                    </a:solidFill>
                    <a:effectLst>
                      <a:outerShdw blurRad="38100" dist="38100" dir="2700000" algn="tl">
                        <a:srgbClr val="000000">
                          <a:alpha val="43137"/>
                        </a:srgbClr>
                      </a:outerShdw>
                    </a:effectLst>
                  </a:rPr>
                  <a:t>))</a:t>
                </a:r>
              </a:p>
              <a:p>
                <a:pPr marL="285750" indent="-285750">
                  <a:buFont typeface="Arial" panose="020B0604020202020204" pitchFamily="34" charset="0"/>
                  <a:buChar char="•"/>
                </a:pPr>
                <a:r>
                  <a:rPr lang="fr-FR" sz="1600" dirty="0">
                    <a:solidFill>
                      <a:schemeClr val="tx1"/>
                    </a:solidFill>
                  </a:rPr>
                  <a:t>On génère aléatoirement des centres pour chaque classe.</a:t>
                </a:r>
              </a:p>
              <a:p>
                <a:pPr marL="285750" indent="-285750">
                  <a:buFont typeface="Arial" panose="020B0604020202020204" pitchFamily="34" charset="0"/>
                  <a:buChar char="•"/>
                </a:pPr>
                <a:r>
                  <a:rPr lang="fr-FR" sz="1600" dirty="0">
                    <a:solidFill>
                      <a:schemeClr val="tx1"/>
                    </a:solidFill>
                  </a:rPr>
                  <a:t>Chaque centre est un point dans un espace de </a:t>
                </a:r>
                <a:r>
                  <a:rPr lang="fr-FR" sz="1600" dirty="0" err="1">
                    <a:solidFill>
                      <a:schemeClr val="tx1"/>
                    </a:solidFill>
                  </a:rPr>
                  <a:t>n_features</a:t>
                </a:r>
                <a:r>
                  <a:rPr lang="fr-FR" sz="1600" dirty="0">
                    <a:solidFill>
                      <a:schemeClr val="tx1"/>
                    </a:solidFill>
                  </a:rPr>
                  <a:t> dimensions, choisi uniformément entre -5 et 5.</a:t>
                </a:r>
              </a:p>
              <a:p>
                <a:pPr marL="285750" indent="-285750">
                  <a:buFont typeface="Arial" panose="020B0604020202020204" pitchFamily="34" charset="0"/>
                  <a:buChar char="•"/>
                </a:pPr>
                <a:r>
                  <a:rPr lang="fr-FR" sz="1600" dirty="0">
                    <a:solidFill>
                      <a:schemeClr val="tx1"/>
                    </a:solidFill>
                  </a:rPr>
                  <a:t>Mathématiquement, chaque centre est :</a:t>
                </a:r>
              </a:p>
              <a:p>
                <a14:m>
                  <m:oMath xmlns:m="http://schemas.openxmlformats.org/officeDocument/2006/math">
                    <m:sSub>
                      <m:sSubPr>
                        <m:ctrlPr>
                          <a:rPr lang="fr-FR" sz="1600" i="1" dirty="0" smtClean="0">
                            <a:solidFill>
                              <a:schemeClr val="tx1"/>
                            </a:solidFill>
                            <a:latin typeface="Cambria Math" panose="02040503050406030204" pitchFamily="18" charset="0"/>
                          </a:rPr>
                        </m:ctrlPr>
                      </m:sSubPr>
                      <m:e>
                        <m:r>
                          <a:rPr lang="fr-FR" sz="1600" i="1" dirty="0" smtClean="0">
                            <a:solidFill>
                              <a:schemeClr val="tx1"/>
                            </a:solidFill>
                            <a:latin typeface="Cambria Math" panose="02040503050406030204" pitchFamily="18" charset="0"/>
                          </a:rPr>
                          <m:t>𝐶</m:t>
                        </m:r>
                      </m:e>
                      <m:sub>
                        <m:r>
                          <a:rPr lang="fr-FR" sz="1600" i="1" dirty="0" smtClean="0">
                            <a:solidFill>
                              <a:schemeClr val="tx1"/>
                            </a:solidFill>
                            <a:latin typeface="Cambria Math" panose="02040503050406030204" pitchFamily="18" charset="0"/>
                          </a:rPr>
                          <m:t>𝑗</m:t>
                        </m:r>
                      </m:sub>
                    </m:sSub>
                  </m:oMath>
                </a14:m>
                <a:r>
                  <a:rPr lang="fr-FR" sz="1600" dirty="0">
                    <a:solidFill>
                      <a:schemeClr val="tx1"/>
                    </a:solidFill>
                  </a:rPr>
                  <a:t> = (</a:t>
                </a:r>
                <a14:m>
                  <m:oMath xmlns:m="http://schemas.openxmlformats.org/officeDocument/2006/math">
                    <m:sSub>
                      <m:sSubPr>
                        <m:ctrlPr>
                          <a:rPr lang="fr-FR" sz="1600" i="1" dirty="0" smtClean="0">
                            <a:solidFill>
                              <a:schemeClr val="tx1"/>
                            </a:solidFill>
                            <a:latin typeface="Cambria Math" panose="02040503050406030204" pitchFamily="18" charset="0"/>
                          </a:rPr>
                        </m:ctrlPr>
                      </m:sSubPr>
                      <m:e>
                        <m:r>
                          <a:rPr lang="fr-FR" sz="1600" b="0" i="1" dirty="0" smtClean="0">
                            <a:solidFill>
                              <a:schemeClr val="tx1"/>
                            </a:solidFill>
                            <a:latin typeface="Cambria Math" panose="02040503050406030204" pitchFamily="18" charset="0"/>
                          </a:rPr>
                          <m:t>𝑐</m:t>
                        </m:r>
                      </m:e>
                      <m:sub>
                        <m:r>
                          <a:rPr lang="fr-FR" sz="1600" i="1" dirty="0">
                            <a:solidFill>
                              <a:schemeClr val="tx1"/>
                            </a:solidFill>
                            <a:latin typeface="Cambria Math" panose="02040503050406030204" pitchFamily="18" charset="0"/>
                          </a:rPr>
                          <m:t>𝑗</m:t>
                        </m:r>
                        <m:r>
                          <a:rPr lang="fr-FR" sz="1600" b="0" i="1" dirty="0" smtClean="0">
                            <a:solidFill>
                              <a:schemeClr val="tx1"/>
                            </a:solidFill>
                            <a:latin typeface="Cambria Math" panose="02040503050406030204" pitchFamily="18" charset="0"/>
                          </a:rPr>
                          <m:t>1</m:t>
                        </m:r>
                      </m:sub>
                    </m:sSub>
                  </m:oMath>
                </a14:m>
                <a:r>
                  <a:rPr lang="fr-FR" sz="1600" dirty="0">
                    <a:solidFill>
                      <a:schemeClr val="tx1"/>
                    </a:solidFill>
                  </a:rPr>
                  <a:t>, </a:t>
                </a:r>
                <a14:m>
                  <m:oMath xmlns:m="http://schemas.openxmlformats.org/officeDocument/2006/math">
                    <m:sSub>
                      <m:sSubPr>
                        <m:ctrlPr>
                          <a:rPr lang="fr-FR" sz="1600" i="1" dirty="0">
                            <a:solidFill>
                              <a:schemeClr val="tx1"/>
                            </a:solidFill>
                            <a:latin typeface="Cambria Math" panose="02040503050406030204" pitchFamily="18" charset="0"/>
                          </a:rPr>
                        </m:ctrlPr>
                      </m:sSubPr>
                      <m:e>
                        <m:r>
                          <a:rPr lang="fr-FR" sz="1600" b="0" i="1" dirty="0" smtClean="0">
                            <a:solidFill>
                              <a:schemeClr val="tx1"/>
                            </a:solidFill>
                            <a:latin typeface="Cambria Math" panose="02040503050406030204" pitchFamily="18" charset="0"/>
                          </a:rPr>
                          <m:t>𝑐</m:t>
                        </m:r>
                      </m:e>
                      <m:sub>
                        <m:r>
                          <a:rPr lang="fr-FR" sz="1600" i="1" dirty="0">
                            <a:solidFill>
                              <a:schemeClr val="tx1"/>
                            </a:solidFill>
                            <a:latin typeface="Cambria Math" panose="02040503050406030204" pitchFamily="18" charset="0"/>
                          </a:rPr>
                          <m:t>𝑗</m:t>
                        </m:r>
                        <m:r>
                          <a:rPr lang="fr-FR" sz="1600" b="0" i="1" dirty="0" smtClean="0">
                            <a:solidFill>
                              <a:schemeClr val="tx1"/>
                            </a:solidFill>
                            <a:latin typeface="Cambria Math" panose="02040503050406030204" pitchFamily="18" charset="0"/>
                          </a:rPr>
                          <m:t>2</m:t>
                        </m:r>
                      </m:sub>
                    </m:sSub>
                  </m:oMath>
                </a14:m>
                <a:r>
                  <a:rPr lang="fr-FR" sz="1600" dirty="0">
                    <a:solidFill>
                      <a:schemeClr val="tx1"/>
                    </a:solidFill>
                  </a:rPr>
                  <a:t>,…, </a:t>
                </a:r>
                <a14:m>
                  <m:oMath xmlns:m="http://schemas.openxmlformats.org/officeDocument/2006/math">
                    <m:sSub>
                      <m:sSubPr>
                        <m:ctrlPr>
                          <a:rPr lang="fr-FR" sz="1600" i="1" dirty="0">
                            <a:solidFill>
                              <a:schemeClr val="tx1"/>
                            </a:solidFill>
                            <a:latin typeface="Cambria Math" panose="02040503050406030204" pitchFamily="18" charset="0"/>
                          </a:rPr>
                        </m:ctrlPr>
                      </m:sSubPr>
                      <m:e>
                        <m:r>
                          <a:rPr lang="fr-FR" sz="1600" b="0" i="1" dirty="0" smtClean="0">
                            <a:solidFill>
                              <a:schemeClr val="tx1"/>
                            </a:solidFill>
                            <a:latin typeface="Cambria Math" panose="02040503050406030204" pitchFamily="18" charset="0"/>
                          </a:rPr>
                          <m:t>𝑐</m:t>
                        </m:r>
                      </m:e>
                      <m:sub>
                        <m:r>
                          <a:rPr lang="fr-FR" sz="1600" i="1" dirty="0">
                            <a:solidFill>
                              <a:schemeClr val="tx1"/>
                            </a:solidFill>
                            <a:latin typeface="Cambria Math" panose="02040503050406030204" pitchFamily="18" charset="0"/>
                          </a:rPr>
                          <m:t>𝑗</m:t>
                        </m:r>
                        <m:r>
                          <a:rPr lang="fr-FR" sz="1600" b="0" i="1" dirty="0" smtClean="0">
                            <a:solidFill>
                              <a:schemeClr val="tx1"/>
                            </a:solidFill>
                            <a:latin typeface="Cambria Math" panose="02040503050406030204" pitchFamily="18" charset="0"/>
                          </a:rPr>
                          <m:t>𝑛</m:t>
                        </m:r>
                      </m:sub>
                    </m:sSub>
                  </m:oMath>
                </a14:m>
                <a:r>
                  <a:rPr lang="fr-FR" sz="1600" dirty="0">
                    <a:solidFill>
                      <a:schemeClr val="tx1"/>
                    </a:solidFill>
                  </a:rPr>
                  <a:t>)     ou    </a:t>
                </a:r>
                <a14:m>
                  <m:oMath xmlns:m="http://schemas.openxmlformats.org/officeDocument/2006/math">
                    <m:sSub>
                      <m:sSubPr>
                        <m:ctrlPr>
                          <a:rPr lang="fr-FR" sz="1600" i="1" dirty="0" smtClean="0">
                            <a:solidFill>
                              <a:schemeClr val="tx1"/>
                            </a:solidFill>
                            <a:latin typeface="Cambria Math" panose="02040503050406030204" pitchFamily="18" charset="0"/>
                          </a:rPr>
                        </m:ctrlPr>
                      </m:sSubPr>
                      <m:e>
                        <m:r>
                          <a:rPr lang="fr-FR" sz="1600" i="1" dirty="0" smtClean="0">
                            <a:solidFill>
                              <a:schemeClr val="tx1"/>
                            </a:solidFill>
                            <a:latin typeface="Cambria Math" panose="02040503050406030204" pitchFamily="18" charset="0"/>
                          </a:rPr>
                          <m:t>𝐶</m:t>
                        </m:r>
                      </m:e>
                      <m:sub>
                        <m:r>
                          <a:rPr lang="fr-FR" sz="1600" i="1" dirty="0" smtClean="0">
                            <a:solidFill>
                              <a:schemeClr val="tx1"/>
                            </a:solidFill>
                            <a:latin typeface="Cambria Math" panose="02040503050406030204" pitchFamily="18" charset="0"/>
                          </a:rPr>
                          <m:t>𝑗𝑖</m:t>
                        </m:r>
                      </m:sub>
                    </m:sSub>
                  </m:oMath>
                </a14:m>
                <a:r>
                  <a:rPr lang="fr-FR" sz="1600" dirty="0">
                    <a:solidFill>
                      <a:schemeClr val="tx1"/>
                    </a:solidFill>
                  </a:rPr>
                  <a:t>∼U(−5,5)</a:t>
                </a:r>
              </a:p>
              <a:p>
                <a:r>
                  <a:rPr lang="fr-FR" sz="1600" dirty="0">
                    <a:solidFill>
                      <a:schemeClr val="tx1"/>
                    </a:solidFill>
                  </a:rPr>
                  <a:t>avec j représentant la classe et i représentant la caractéristique.</a:t>
                </a:r>
              </a:p>
              <a:p>
                <a:endParaRPr lang="fr-FR" dirty="0">
                  <a:solidFill>
                    <a:schemeClr val="tx1"/>
                  </a:solidFill>
                </a:endParaRPr>
              </a:p>
              <a:p>
                <a:r>
                  <a:rPr lang="fr-FR" b="1" u="sng" dirty="0">
                    <a:solidFill>
                      <a:schemeClr val="tx1"/>
                    </a:solidFill>
                    <a:effectLst>
                      <a:outerShdw blurRad="38100" dist="38100" dir="2700000" algn="tl">
                        <a:srgbClr val="000000">
                          <a:alpha val="43137"/>
                        </a:srgbClr>
                      </a:outerShdw>
                    </a:effectLst>
                  </a:rPr>
                  <a:t>X = [] et y = []</a:t>
                </a:r>
              </a:p>
              <a:p>
                <a:pPr marL="285750" indent="-285750">
                  <a:buFont typeface="Arial" panose="020B0604020202020204" pitchFamily="34" charset="0"/>
                  <a:buChar char="•"/>
                </a:pPr>
                <a:r>
                  <a:rPr lang="fr-FR" sz="1600" dirty="0">
                    <a:solidFill>
                      <a:schemeClr val="tx1"/>
                    </a:solidFill>
                  </a:rPr>
                  <a:t>Initialisation des listes qui vont contenir les données et les étiquettes des classes</a:t>
                </a:r>
                <a:r>
                  <a:rPr lang="fr-FR" dirty="0">
                    <a:solidFill>
                      <a:schemeClr val="tx1"/>
                    </a:solidFill>
                  </a:rPr>
                  <a:t>.</a:t>
                </a:r>
              </a:p>
              <a:p>
                <a:endParaRPr lang="fr-FR" dirty="0">
                  <a:solidFill>
                    <a:schemeClr val="tx1"/>
                  </a:solidFill>
                </a:endParaRPr>
              </a:p>
              <a:p>
                <a:r>
                  <a:rPr lang="fr-FR" b="1" u="sng" dirty="0">
                    <a:solidFill>
                      <a:schemeClr val="tx1"/>
                    </a:solidFill>
                    <a:effectLst>
                      <a:outerShdw blurRad="38100" dist="38100" dir="2700000" algn="tl">
                        <a:srgbClr val="000000">
                          <a:alpha val="43137"/>
                        </a:srgbClr>
                      </a:outerShdw>
                    </a:effectLst>
                  </a:rPr>
                  <a:t>La boucle for i in range(</a:t>
                </a:r>
                <a:r>
                  <a:rPr lang="fr-FR" b="1" u="sng" dirty="0" err="1">
                    <a:solidFill>
                      <a:schemeClr val="tx1"/>
                    </a:solidFill>
                    <a:effectLst>
                      <a:outerShdw blurRad="38100" dist="38100" dir="2700000" algn="tl">
                        <a:srgbClr val="000000">
                          <a:alpha val="43137"/>
                        </a:srgbClr>
                      </a:outerShdw>
                    </a:effectLst>
                  </a:rPr>
                  <a:t>n_samples</a:t>
                </a:r>
                <a:r>
                  <a:rPr lang="fr-FR" b="1" u="sng" dirty="0">
                    <a:solidFill>
                      <a:schemeClr val="tx1"/>
                    </a:solidFill>
                    <a:effectLst>
                      <a:outerShdw blurRad="38100" dist="38100" dir="2700000" algn="tl">
                        <a:srgbClr val="000000">
                          <a:alpha val="43137"/>
                        </a:srgbClr>
                      </a:outerShdw>
                    </a:effectLst>
                  </a:rPr>
                  <a:t>):</a:t>
                </a:r>
              </a:p>
              <a:p>
                <a:pPr marL="285750" indent="-285750">
                  <a:buFont typeface="Arial" panose="020B0604020202020204" pitchFamily="34" charset="0"/>
                  <a:buChar char="•"/>
                </a:pPr>
                <a:r>
                  <a:rPr lang="fr-FR" sz="1600" dirty="0">
                    <a:solidFill>
                      <a:schemeClr val="tx1"/>
                    </a:solidFill>
                  </a:rPr>
                  <a:t>On génère </a:t>
                </a:r>
                <a:r>
                  <a:rPr lang="fr-FR" sz="1600" dirty="0" err="1">
                    <a:solidFill>
                      <a:schemeClr val="tx1"/>
                    </a:solidFill>
                  </a:rPr>
                  <a:t>n_samples</a:t>
                </a:r>
                <a:r>
                  <a:rPr lang="fr-FR" sz="1600" dirty="0">
                    <a:solidFill>
                      <a:schemeClr val="tx1"/>
                    </a:solidFill>
                  </a:rPr>
                  <a:t> points de données.</a:t>
                </a:r>
              </a:p>
              <a:p>
                <a:pPr marL="285750" indent="-285750">
                  <a:buFont typeface="Arial" panose="020B0604020202020204" pitchFamily="34" charset="0"/>
                  <a:buChar char="•"/>
                </a:pPr>
                <a:endParaRPr lang="fr-FR" sz="1600" dirty="0">
                  <a:solidFill>
                    <a:schemeClr val="tx1"/>
                  </a:solidFill>
                </a:endParaRPr>
              </a:p>
              <a:p>
                <a:pPr marL="285750" indent="-285750">
                  <a:buFont typeface="Arial" panose="020B0604020202020204" pitchFamily="34" charset="0"/>
                  <a:buChar char="•"/>
                </a:pPr>
                <a:endParaRPr lang="fr-FR" sz="1600" dirty="0">
                  <a:solidFill>
                    <a:schemeClr val="tx1"/>
                  </a:solidFill>
                </a:endParaRPr>
              </a:p>
            </p:txBody>
          </p:sp>
        </mc:Choice>
        <mc:Fallback xmlns="">
          <p:sp>
            <p:nvSpPr>
              <p:cNvPr id="9" name="ZoneTexte 8">
                <a:extLst>
                  <a:ext uri="{FF2B5EF4-FFF2-40B4-BE49-F238E27FC236}">
                    <a16:creationId xmlns:a16="http://schemas.microsoft.com/office/drawing/2014/main" id="{2D046410-F6BA-CB08-51CD-53588143A963}"/>
                  </a:ext>
                </a:extLst>
              </p:cNvPr>
              <p:cNvSpPr txBox="1">
                <a:spLocks noRot="1" noChangeAspect="1" noMove="1" noResize="1" noEditPoints="1" noAdjustHandles="1" noChangeArrowheads="1" noChangeShapeType="1" noTextEdit="1"/>
              </p:cNvSpPr>
              <p:nvPr/>
            </p:nvSpPr>
            <p:spPr>
              <a:xfrm>
                <a:off x="174950" y="324688"/>
                <a:ext cx="5855736" cy="6083012"/>
              </a:xfrm>
              <a:prstGeom prst="rect">
                <a:avLst/>
              </a:prstGeom>
              <a:blipFill>
                <a:blip r:embed="rId2"/>
                <a:stretch>
                  <a:fillRect/>
                </a:stretch>
              </a:blipFill>
              <a:ln>
                <a:noFill/>
              </a:ln>
              <a:effectLst>
                <a:outerShdw blurRad="149987" dist="250190" dir="8460000" algn="ctr">
                  <a:srgbClr val="000000">
                    <a:alpha val="28000"/>
                  </a:srgbClr>
                </a:outerShdw>
              </a:effec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28BE8C97-3BC2-A0F9-889F-813921F0ED27}"/>
                  </a:ext>
                </a:extLst>
              </p:cNvPr>
              <p:cNvSpPr txBox="1"/>
              <p:nvPr/>
            </p:nvSpPr>
            <p:spPr>
              <a:xfrm>
                <a:off x="6161314" y="324687"/>
                <a:ext cx="5855736" cy="6041269"/>
              </a:xfrm>
              <a:prstGeom prst="rect">
                <a:avLst/>
              </a:prstGeom>
              <a:solidFill>
                <a:schemeClr val="bg2">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3">
                <a:schemeClr val="accent2"/>
              </a:fillRef>
              <a:effectRef idx="2">
                <a:schemeClr val="accent2"/>
              </a:effectRef>
              <a:fontRef idx="minor">
                <a:schemeClr val="lt1"/>
              </a:fontRef>
            </p:style>
            <p:txBody>
              <a:bodyPr wrap="square">
                <a:spAutoFit/>
              </a:bodyPr>
              <a:lstStyle/>
              <a:p>
                <a:pPr marL="285750" indent="-285750">
                  <a:buFont typeface="Arial" panose="020B0604020202020204" pitchFamily="34" charset="0"/>
                  <a:buChar char="•"/>
                </a:pPr>
                <a:r>
                  <a:rPr lang="fr-FR" b="1" u="sng" dirty="0">
                    <a:solidFill>
                      <a:schemeClr val="tx1"/>
                    </a:solidFill>
                    <a:effectLst>
                      <a:outerShdw blurRad="38100" dist="38100" dir="2700000" algn="tl">
                        <a:srgbClr val="000000">
                          <a:alpha val="43137"/>
                        </a:srgbClr>
                      </a:outerShdw>
                    </a:effectLst>
                  </a:rPr>
                  <a:t>classe = </a:t>
                </a:r>
                <a:r>
                  <a:rPr lang="fr-FR" b="1" u="sng" dirty="0" err="1">
                    <a:solidFill>
                      <a:schemeClr val="tx1"/>
                    </a:solidFill>
                    <a:effectLst>
                      <a:outerShdw blurRad="38100" dist="38100" dir="2700000" algn="tl">
                        <a:srgbClr val="000000">
                          <a:alpha val="43137"/>
                        </a:srgbClr>
                      </a:outerShdw>
                    </a:effectLst>
                  </a:rPr>
                  <a:t>np.random.randint</a:t>
                </a:r>
                <a:r>
                  <a:rPr lang="fr-FR" b="1" u="sng" dirty="0">
                    <a:solidFill>
                      <a:schemeClr val="tx1"/>
                    </a:solidFill>
                    <a:effectLst>
                      <a:outerShdw blurRad="38100" dist="38100" dir="2700000" algn="tl">
                        <a:srgbClr val="000000">
                          <a:alpha val="43137"/>
                        </a:srgbClr>
                      </a:outerShdw>
                    </a:effectLst>
                  </a:rPr>
                  <a:t>(0, </a:t>
                </a:r>
                <a:r>
                  <a:rPr lang="fr-FR" b="1" u="sng" dirty="0" err="1">
                    <a:solidFill>
                      <a:schemeClr val="tx1"/>
                    </a:solidFill>
                    <a:effectLst>
                      <a:outerShdw blurRad="38100" dist="38100" dir="2700000" algn="tl">
                        <a:srgbClr val="000000">
                          <a:alpha val="43137"/>
                        </a:srgbClr>
                      </a:outerShdw>
                    </a:effectLst>
                  </a:rPr>
                  <a:t>n_classes</a:t>
                </a:r>
                <a:r>
                  <a:rPr lang="fr-FR" b="1" u="sng" dirty="0">
                    <a:solidFill>
                      <a:schemeClr val="tx1"/>
                    </a:solidFill>
                    <a:effectLst>
                      <a:outerShdw blurRad="38100" dist="38100" dir="2700000" algn="tl">
                        <a:srgbClr val="000000">
                          <a:alpha val="43137"/>
                        </a:srgbClr>
                      </a:outerShdw>
                    </a:effectLst>
                  </a:rPr>
                  <a:t>)</a:t>
                </a:r>
              </a:p>
              <a:p>
                <a:pPr marL="285750" indent="-285750">
                  <a:buFont typeface="Arial" panose="020B0604020202020204" pitchFamily="34" charset="0"/>
                  <a:buChar char="•"/>
                </a:pPr>
                <a:r>
                  <a:rPr lang="fr-FR" sz="1600" dirty="0">
                    <a:solidFill>
                      <a:schemeClr val="tx1"/>
                    </a:solidFill>
                  </a:rPr>
                  <a:t>Choix aléatoire d’une classe parmi </a:t>
                </a:r>
                <a:r>
                  <a:rPr lang="fr-FR" sz="1600" dirty="0" err="1">
                    <a:solidFill>
                      <a:schemeClr val="tx1"/>
                    </a:solidFill>
                  </a:rPr>
                  <a:t>n_classes</a:t>
                </a:r>
                <a:r>
                  <a:rPr lang="fr-FR" sz="1600" dirty="0">
                    <a:solidFill>
                      <a:schemeClr val="tx1"/>
                    </a:solidFill>
                  </a:rPr>
                  <a:t>.</a:t>
                </a:r>
              </a:p>
              <a:p>
                <a:pPr marL="285750" indent="-285750">
                  <a:buFont typeface="Arial" panose="020B0604020202020204" pitchFamily="34" charset="0"/>
                  <a:buChar char="•"/>
                </a:pPr>
                <a:r>
                  <a:rPr lang="fr-FR" sz="1600" dirty="0">
                    <a:solidFill>
                      <a:schemeClr val="tx1"/>
                    </a:solidFill>
                  </a:rPr>
                  <a:t>La classe est représentée par un entier (exemple : 0 ou 1 dans un problème binaire).</a:t>
                </a:r>
                <a:endParaRPr lang="fr-FR" b="1" u="sng" dirty="0">
                  <a:solidFill>
                    <a:schemeClr val="tx1"/>
                  </a:solidFill>
                  <a:effectLst>
                    <a:outerShdw blurRad="38100" dist="38100" dir="2700000" algn="tl">
                      <a:srgbClr val="000000">
                        <a:alpha val="43137"/>
                      </a:srgbClr>
                    </a:outerShdw>
                  </a:effectLst>
                </a:endParaRPr>
              </a:p>
              <a:p>
                <a:pPr marL="285750" indent="-285750">
                  <a:buFont typeface="Arial" panose="020B0604020202020204" pitchFamily="34" charset="0"/>
                  <a:buChar char="•"/>
                </a:pPr>
                <a:r>
                  <a:rPr lang="fr-FR" b="1" u="sng" dirty="0">
                    <a:solidFill>
                      <a:schemeClr val="tx1"/>
                    </a:solidFill>
                    <a:effectLst>
                      <a:outerShdw blurRad="38100" dist="38100" dir="2700000" algn="tl">
                        <a:srgbClr val="000000">
                          <a:alpha val="43137"/>
                        </a:srgbClr>
                      </a:outerShdw>
                    </a:effectLst>
                  </a:rPr>
                  <a:t>point = centres[classe] + </a:t>
                </a:r>
                <a:r>
                  <a:rPr lang="fr-FR" b="1" u="sng" dirty="0" err="1">
                    <a:solidFill>
                      <a:schemeClr val="tx1"/>
                    </a:solidFill>
                    <a:effectLst>
                      <a:outerShdw blurRad="38100" dist="38100" dir="2700000" algn="tl">
                        <a:srgbClr val="000000">
                          <a:alpha val="43137"/>
                        </a:srgbClr>
                      </a:outerShdw>
                    </a:effectLst>
                  </a:rPr>
                  <a:t>np.random.randn</a:t>
                </a:r>
                <a:r>
                  <a:rPr lang="fr-FR" b="1" u="sng" dirty="0">
                    <a:solidFill>
                      <a:schemeClr val="tx1"/>
                    </a:solidFill>
                    <a:effectLst>
                      <a:outerShdw blurRad="38100" dist="38100" dir="2700000" algn="tl">
                        <a:srgbClr val="000000">
                          <a:alpha val="43137"/>
                        </a:srgbClr>
                      </a:outerShdw>
                    </a:effectLst>
                  </a:rPr>
                  <a:t>(</a:t>
                </a:r>
                <a:r>
                  <a:rPr lang="fr-FR" b="1" u="sng" dirty="0" err="1">
                    <a:solidFill>
                      <a:schemeClr val="tx1"/>
                    </a:solidFill>
                    <a:effectLst>
                      <a:outerShdw blurRad="38100" dist="38100" dir="2700000" algn="tl">
                        <a:srgbClr val="000000">
                          <a:alpha val="43137"/>
                        </a:srgbClr>
                      </a:outerShdw>
                    </a:effectLst>
                  </a:rPr>
                  <a:t>n_features</a:t>
                </a:r>
                <a:r>
                  <a:rPr lang="fr-FR" b="1" u="sng" dirty="0">
                    <a:solidFill>
                      <a:schemeClr val="tx1"/>
                    </a:solidFill>
                    <a:effectLst>
                      <a:outerShdw blurRad="38100" dist="38100" dir="2700000" algn="tl">
                        <a:srgbClr val="000000">
                          <a:alpha val="43137"/>
                        </a:srgbClr>
                      </a:outerShdw>
                    </a:effectLst>
                  </a:rPr>
                  <a:t>) * 0.5</a:t>
                </a:r>
              </a:p>
              <a:p>
                <a:pPr marL="285750" indent="-285750">
                  <a:buFont typeface="Arial" panose="020B0604020202020204" pitchFamily="34" charset="0"/>
                  <a:buChar char="•"/>
                </a:pPr>
                <a:r>
                  <a:rPr lang="fr-FR" sz="1600" dirty="0">
                    <a:solidFill>
                      <a:schemeClr val="tx1"/>
                    </a:solidFill>
                  </a:rPr>
                  <a:t>On génère un point autour du centre de la classe choisie.</a:t>
                </a:r>
              </a:p>
              <a:p>
                <a:pPr marL="285750" indent="-285750">
                  <a:buFont typeface="Arial" panose="020B0604020202020204" pitchFamily="34" charset="0"/>
                  <a:buChar char="•"/>
                </a:pPr>
                <a:r>
                  <a:rPr lang="fr-FR" sz="1600" b="1" dirty="0" err="1">
                    <a:solidFill>
                      <a:schemeClr val="tx1"/>
                    </a:solidFill>
                  </a:rPr>
                  <a:t>np.random.randn</a:t>
                </a:r>
                <a:r>
                  <a:rPr lang="fr-FR" sz="1600" b="1" dirty="0">
                    <a:solidFill>
                      <a:schemeClr val="tx1"/>
                    </a:solidFill>
                  </a:rPr>
                  <a:t>(</a:t>
                </a:r>
                <a:r>
                  <a:rPr lang="fr-FR" sz="1600" b="1" dirty="0" err="1">
                    <a:solidFill>
                      <a:schemeClr val="tx1"/>
                    </a:solidFill>
                  </a:rPr>
                  <a:t>n_features</a:t>
                </a:r>
                <a:r>
                  <a:rPr lang="fr-FR" sz="1600" b="1" dirty="0">
                    <a:solidFill>
                      <a:schemeClr val="tx1"/>
                    </a:solidFill>
                  </a:rPr>
                  <a:t>) </a:t>
                </a:r>
                <a:r>
                  <a:rPr lang="fr-FR" sz="1600" dirty="0">
                    <a:solidFill>
                      <a:schemeClr val="tx1"/>
                    </a:solidFill>
                  </a:rPr>
                  <a:t>génère un vecteur de dimension </a:t>
                </a:r>
                <a:r>
                  <a:rPr lang="fr-FR" sz="1600" dirty="0" err="1">
                    <a:solidFill>
                      <a:schemeClr val="tx1"/>
                    </a:solidFill>
                  </a:rPr>
                  <a:t>n_features</a:t>
                </a:r>
                <a:r>
                  <a:rPr lang="fr-FR" sz="1600" dirty="0">
                    <a:solidFill>
                      <a:schemeClr val="tx1"/>
                    </a:solidFill>
                  </a:rPr>
                  <a:t> avec une distribution normale 𝑁(0,1).</a:t>
                </a:r>
              </a:p>
              <a:p>
                <a:pPr marL="285750" indent="-285750">
                  <a:buFont typeface="Arial" panose="020B0604020202020204" pitchFamily="34" charset="0"/>
                  <a:buChar char="•"/>
                </a:pPr>
                <a:r>
                  <a:rPr lang="fr-FR" sz="1600" dirty="0">
                    <a:solidFill>
                      <a:schemeClr val="tx1"/>
                    </a:solidFill>
                  </a:rPr>
                  <a:t>En multipliant par 0.5, on réduit la variance des points autour du centre.</a:t>
                </a:r>
              </a:p>
              <a:p>
                <a:pPr marL="285750" indent="-285750">
                  <a:buFont typeface="Arial" panose="020B0604020202020204" pitchFamily="34" charset="0"/>
                  <a:buChar char="•"/>
                </a:pPr>
                <a:r>
                  <a:rPr lang="fr-FR" sz="1600" dirty="0">
                    <a:solidFill>
                      <a:schemeClr val="tx1"/>
                    </a:solidFill>
                  </a:rPr>
                  <a:t>La formule mathématique du point généré est :</a:t>
                </a:r>
              </a:p>
              <a:p>
                <a:pPr marL="285750" indent="-285750">
                  <a:buFont typeface="Arial" panose="020B0604020202020204" pitchFamily="34" charset="0"/>
                  <a:buChar char="•"/>
                </a:pPr>
                <a14:m>
                  <m:oMath xmlns:m="http://schemas.openxmlformats.org/officeDocument/2006/math">
                    <m:sSub>
                      <m:sSubPr>
                        <m:ctrlPr>
                          <a:rPr lang="fr-FR" sz="1600" i="1" dirty="0" smtClean="0">
                            <a:solidFill>
                              <a:schemeClr val="tx1"/>
                            </a:solidFill>
                            <a:latin typeface="Cambria Math" panose="02040503050406030204" pitchFamily="18" charset="0"/>
                          </a:rPr>
                        </m:ctrlPr>
                      </m:sSubPr>
                      <m:e>
                        <m:r>
                          <a:rPr lang="fr-FR" sz="1600" i="1" dirty="0" smtClean="0">
                            <a:solidFill>
                              <a:schemeClr val="tx1"/>
                            </a:solidFill>
                            <a:latin typeface="Cambria Math" panose="02040503050406030204" pitchFamily="18" charset="0"/>
                          </a:rPr>
                          <m:t>𝑥</m:t>
                        </m:r>
                      </m:e>
                      <m:sub>
                        <m:r>
                          <a:rPr lang="fr-FR" sz="1600" i="1" dirty="0" smtClean="0">
                            <a:solidFill>
                              <a:schemeClr val="tx1"/>
                            </a:solidFill>
                            <a:latin typeface="Cambria Math" panose="02040503050406030204" pitchFamily="18" charset="0"/>
                          </a:rPr>
                          <m:t>𝑖</m:t>
                        </m:r>
                      </m:sub>
                    </m:sSub>
                    <m:r>
                      <a:rPr lang="fr-FR" sz="1600" i="0" dirty="0" smtClean="0">
                        <a:solidFill>
                          <a:schemeClr val="tx1"/>
                        </a:solidFill>
                        <a:latin typeface="Cambria Math" panose="02040503050406030204" pitchFamily="18" charset="0"/>
                      </a:rPr>
                      <m:t>=</m:t>
                    </m:r>
                    <m:sSub>
                      <m:sSubPr>
                        <m:ctrlPr>
                          <a:rPr lang="fr-FR" sz="1600" i="1" dirty="0" smtClean="0">
                            <a:solidFill>
                              <a:schemeClr val="tx1"/>
                            </a:solidFill>
                            <a:latin typeface="Cambria Math" panose="02040503050406030204" pitchFamily="18" charset="0"/>
                          </a:rPr>
                        </m:ctrlPr>
                      </m:sSubPr>
                      <m:e>
                        <m:r>
                          <a:rPr lang="fr-FR" sz="1600" i="1" dirty="0" smtClean="0">
                            <a:solidFill>
                              <a:schemeClr val="tx1"/>
                            </a:solidFill>
                            <a:latin typeface="Cambria Math" panose="02040503050406030204" pitchFamily="18" charset="0"/>
                          </a:rPr>
                          <m:t>𝐶</m:t>
                        </m:r>
                      </m:e>
                      <m:sub>
                        <m:r>
                          <a:rPr lang="fr-FR" sz="1600" i="1" dirty="0" smtClean="0">
                            <a:solidFill>
                              <a:schemeClr val="tx1"/>
                            </a:solidFill>
                            <a:latin typeface="Cambria Math" panose="02040503050406030204" pitchFamily="18" charset="0"/>
                          </a:rPr>
                          <m:t>𝑗</m:t>
                        </m:r>
                      </m:sub>
                    </m:sSub>
                  </m:oMath>
                </a14:m>
                <a:r>
                  <a:rPr lang="fr-FR" sz="1600" dirty="0">
                    <a:solidFill>
                      <a:schemeClr val="tx1"/>
                    </a:solidFill>
                  </a:rPr>
                  <a:t>+𝜖 ,  ou  </a:t>
                </a:r>
                <a:r>
                  <a:rPr lang="el-GR" sz="1600" dirty="0">
                    <a:solidFill>
                      <a:schemeClr val="tx1"/>
                    </a:solidFill>
                  </a:rPr>
                  <a:t>ϵ∼𝑁(0,</a:t>
                </a:r>
                <a14:m>
                  <m:oMath xmlns:m="http://schemas.openxmlformats.org/officeDocument/2006/math">
                    <m:sSup>
                      <m:sSupPr>
                        <m:ctrlPr>
                          <a:rPr lang="el-GR" sz="1600" i="1" dirty="0" smtClean="0">
                            <a:solidFill>
                              <a:schemeClr val="tx1"/>
                            </a:solidFill>
                            <a:latin typeface="Cambria Math" panose="02040503050406030204" pitchFamily="18" charset="0"/>
                          </a:rPr>
                        </m:ctrlPr>
                      </m:sSupPr>
                      <m:e>
                        <m:r>
                          <a:rPr lang="el-GR" sz="1600" dirty="0" smtClean="0">
                            <a:solidFill>
                              <a:schemeClr val="tx1"/>
                            </a:solidFill>
                            <a:latin typeface="Cambria Math" panose="02040503050406030204" pitchFamily="18" charset="0"/>
                          </a:rPr>
                          <m:t>0.5</m:t>
                        </m:r>
                      </m:e>
                      <m:sup>
                        <m:r>
                          <a:rPr lang="el-GR" sz="1600" i="0" dirty="0" smtClean="0">
                            <a:solidFill>
                              <a:schemeClr val="tx1"/>
                            </a:solidFill>
                            <a:latin typeface="Cambria Math" panose="02040503050406030204" pitchFamily="18" charset="0"/>
                          </a:rPr>
                          <m:t>2</m:t>
                        </m:r>
                      </m:sup>
                    </m:sSup>
                  </m:oMath>
                </a14:m>
                <a:r>
                  <a:rPr lang="el-GR" sz="1600" dirty="0">
                    <a:solidFill>
                      <a:schemeClr val="tx1"/>
                    </a:solidFill>
                  </a:rPr>
                  <a:t>)</a:t>
                </a:r>
              </a:p>
              <a:p>
                <a:pPr marL="285750" indent="-285750">
                  <a:buFont typeface="Arial" panose="020B0604020202020204" pitchFamily="34" charset="0"/>
                  <a:buChar char="•"/>
                </a:pPr>
                <a14:m>
                  <m:oMath xmlns:m="http://schemas.openxmlformats.org/officeDocument/2006/math">
                    <m:sSub>
                      <m:sSubPr>
                        <m:ctrlPr>
                          <a:rPr lang="fr-FR" sz="1600" i="1" dirty="0" smtClean="0">
                            <a:solidFill>
                              <a:schemeClr val="tx1"/>
                            </a:solidFill>
                            <a:latin typeface="Cambria Math" panose="02040503050406030204" pitchFamily="18" charset="0"/>
                          </a:rPr>
                        </m:ctrlPr>
                      </m:sSubPr>
                      <m:e>
                        <m:r>
                          <a:rPr lang="fr-FR" sz="1600" i="1" dirty="0" smtClean="0">
                            <a:solidFill>
                              <a:schemeClr val="tx1"/>
                            </a:solidFill>
                            <a:latin typeface="Cambria Math" panose="02040503050406030204" pitchFamily="18" charset="0"/>
                          </a:rPr>
                          <m:t>𝐶</m:t>
                        </m:r>
                      </m:e>
                      <m:sub>
                        <m:r>
                          <a:rPr lang="fr-FR" sz="1600" i="1" dirty="0" smtClean="0">
                            <a:solidFill>
                              <a:schemeClr val="tx1"/>
                            </a:solidFill>
                            <a:latin typeface="Cambria Math" panose="02040503050406030204" pitchFamily="18" charset="0"/>
                          </a:rPr>
                          <m:t>𝑗</m:t>
                        </m:r>
                      </m:sub>
                    </m:sSub>
                  </m:oMath>
                </a14:m>
                <a:r>
                  <a:rPr lang="el-GR" sz="1600" dirty="0">
                    <a:solidFill>
                      <a:schemeClr val="tx1"/>
                    </a:solidFill>
                  </a:rPr>
                  <a:t> </a:t>
                </a:r>
                <a:r>
                  <a:rPr lang="fr-FR" sz="1600" dirty="0">
                    <a:solidFill>
                      <a:schemeClr val="tx1"/>
                    </a:solidFill>
                  </a:rPr>
                  <a:t>est le centre de la classe et </a:t>
                </a:r>
                <a:r>
                  <a:rPr lang="el-GR" sz="1600" dirty="0">
                    <a:solidFill>
                      <a:schemeClr val="tx1"/>
                    </a:solidFill>
                  </a:rPr>
                  <a:t>ϵ∼𝑁(0, </a:t>
                </a:r>
                <a14:m>
                  <m:oMath xmlns:m="http://schemas.openxmlformats.org/officeDocument/2006/math">
                    <m:sSup>
                      <m:sSupPr>
                        <m:ctrlPr>
                          <a:rPr lang="el-GR" sz="1600" i="1" dirty="0" smtClean="0">
                            <a:solidFill>
                              <a:schemeClr val="tx1"/>
                            </a:solidFill>
                            <a:latin typeface="Cambria Math" panose="02040503050406030204" pitchFamily="18" charset="0"/>
                          </a:rPr>
                        </m:ctrlPr>
                      </m:sSupPr>
                      <m:e>
                        <m:r>
                          <a:rPr lang="el-GR" sz="1600" dirty="0" smtClean="0">
                            <a:solidFill>
                              <a:schemeClr val="tx1"/>
                            </a:solidFill>
                            <a:latin typeface="Cambria Math" panose="02040503050406030204" pitchFamily="18" charset="0"/>
                          </a:rPr>
                          <m:t>0.5</m:t>
                        </m:r>
                      </m:e>
                      <m:sup>
                        <m:r>
                          <a:rPr lang="el-GR" sz="1600" dirty="0" smtClean="0">
                            <a:solidFill>
                              <a:schemeClr val="tx1"/>
                            </a:solidFill>
                            <a:latin typeface="Cambria Math" panose="02040503050406030204" pitchFamily="18" charset="0"/>
                          </a:rPr>
                          <m:t>2</m:t>
                        </m:r>
                      </m:sup>
                    </m:sSup>
                  </m:oMath>
                </a14:m>
                <a:r>
                  <a:rPr lang="el-GR" sz="1600" dirty="0">
                    <a:solidFill>
                      <a:schemeClr val="tx1"/>
                    </a:solidFill>
                  </a:rPr>
                  <a:t>) </a:t>
                </a:r>
                <a:r>
                  <a:rPr lang="fr-FR" sz="1600" dirty="0">
                    <a:solidFill>
                      <a:schemeClr val="tx1"/>
                    </a:solidFill>
                  </a:rPr>
                  <a:t>est un bruit gaussien de moyenne 0 et de variance </a:t>
                </a:r>
                <a14:m>
                  <m:oMath xmlns:m="http://schemas.openxmlformats.org/officeDocument/2006/math">
                    <m:sSup>
                      <m:sSupPr>
                        <m:ctrlPr>
                          <a:rPr lang="el-GR" sz="1600" i="1" dirty="0" smtClean="0">
                            <a:solidFill>
                              <a:schemeClr val="tx1"/>
                            </a:solidFill>
                            <a:latin typeface="Cambria Math" panose="02040503050406030204" pitchFamily="18" charset="0"/>
                          </a:rPr>
                        </m:ctrlPr>
                      </m:sSupPr>
                      <m:e>
                        <m:r>
                          <a:rPr lang="el-GR" sz="1600" dirty="0" smtClean="0">
                            <a:solidFill>
                              <a:schemeClr val="tx1"/>
                            </a:solidFill>
                            <a:latin typeface="Cambria Math" panose="02040503050406030204" pitchFamily="18" charset="0"/>
                          </a:rPr>
                          <m:t>0.5</m:t>
                        </m:r>
                      </m:e>
                      <m:sup>
                        <m:r>
                          <a:rPr lang="el-GR" sz="1600" dirty="0" smtClean="0">
                            <a:solidFill>
                              <a:schemeClr val="tx1"/>
                            </a:solidFill>
                            <a:latin typeface="Cambria Math" panose="02040503050406030204" pitchFamily="18" charset="0"/>
                          </a:rPr>
                          <m:t>2</m:t>
                        </m:r>
                      </m:sup>
                    </m:sSup>
                  </m:oMath>
                </a14:m>
                <a:r>
                  <a:rPr lang="fr-FR" sz="1600" dirty="0">
                    <a:solidFill>
                      <a:schemeClr val="tx1"/>
                    </a:solidFill>
                  </a:rPr>
                  <a:t>, ce qui permet d'avoir une certaine dispersion autour des centres.</a:t>
                </a:r>
              </a:p>
              <a:p>
                <a:pPr marL="285750" indent="-285750">
                  <a:buFont typeface="Arial" panose="020B0604020202020204" pitchFamily="34" charset="0"/>
                  <a:buChar char="•"/>
                </a:pPr>
                <a:r>
                  <a:rPr lang="fr-FR" b="1" u="sng" dirty="0" err="1">
                    <a:solidFill>
                      <a:schemeClr val="tx1"/>
                    </a:solidFill>
                    <a:effectLst>
                      <a:outerShdw blurRad="38100" dist="38100" dir="2700000" algn="tl">
                        <a:srgbClr val="000000">
                          <a:alpha val="43137"/>
                        </a:srgbClr>
                      </a:outerShdw>
                    </a:effectLst>
                  </a:rPr>
                  <a:t>X.append</a:t>
                </a:r>
                <a:r>
                  <a:rPr lang="fr-FR" b="1" u="sng" dirty="0">
                    <a:solidFill>
                      <a:schemeClr val="tx1"/>
                    </a:solidFill>
                    <a:effectLst>
                      <a:outerShdw blurRad="38100" dist="38100" dir="2700000" algn="tl">
                        <a:srgbClr val="000000">
                          <a:alpha val="43137"/>
                        </a:srgbClr>
                      </a:outerShdw>
                    </a:effectLst>
                  </a:rPr>
                  <a:t>(point)  </a:t>
                </a:r>
              </a:p>
              <a:p>
                <a:pPr marL="285750" indent="-285750">
                  <a:buFont typeface="Arial" panose="020B0604020202020204" pitchFamily="34" charset="0"/>
                  <a:buChar char="•"/>
                </a:pPr>
                <a:r>
                  <a:rPr lang="fr-FR" b="1" u="sng" dirty="0" err="1">
                    <a:solidFill>
                      <a:schemeClr val="tx1"/>
                    </a:solidFill>
                    <a:effectLst>
                      <a:outerShdw blurRad="38100" dist="38100" dir="2700000" algn="tl">
                        <a:srgbClr val="000000">
                          <a:alpha val="43137"/>
                        </a:srgbClr>
                      </a:outerShdw>
                    </a:effectLst>
                  </a:rPr>
                  <a:t>y.append</a:t>
                </a:r>
                <a:r>
                  <a:rPr lang="fr-FR" b="1" u="sng" dirty="0">
                    <a:solidFill>
                      <a:schemeClr val="tx1"/>
                    </a:solidFill>
                    <a:effectLst>
                      <a:outerShdw blurRad="38100" dist="38100" dir="2700000" algn="tl">
                        <a:srgbClr val="000000">
                          <a:alpha val="43137"/>
                        </a:srgbClr>
                      </a:outerShdw>
                    </a:effectLst>
                  </a:rPr>
                  <a:t>(classe)</a:t>
                </a:r>
              </a:p>
              <a:p>
                <a:pPr marL="285750" indent="-285750">
                  <a:buFont typeface="Arial" panose="020B0604020202020204" pitchFamily="34" charset="0"/>
                  <a:buChar char="•"/>
                </a:pPr>
                <a:r>
                  <a:rPr lang="fr-FR" sz="1600" dirty="0">
                    <a:solidFill>
                      <a:schemeClr val="tx1"/>
                    </a:solidFill>
                  </a:rPr>
                  <a:t>On ajoute le point et sa classe respective aux listes X et y.</a:t>
                </a:r>
              </a:p>
              <a:p>
                <a:endParaRPr lang="fr-FR" b="1" u="sng" dirty="0">
                  <a:solidFill>
                    <a:schemeClr val="tx1"/>
                  </a:solidFill>
                  <a:effectLst>
                    <a:outerShdw blurRad="38100" dist="38100" dir="2700000" algn="tl">
                      <a:srgbClr val="000000">
                        <a:alpha val="43137"/>
                      </a:srgbClr>
                    </a:outerShdw>
                  </a:effectLst>
                </a:endParaRPr>
              </a:p>
              <a:p>
                <a:r>
                  <a:rPr lang="fr-FR" b="1" u="sng" dirty="0">
                    <a:solidFill>
                      <a:schemeClr val="tx1"/>
                    </a:solidFill>
                    <a:effectLst>
                      <a:outerShdw blurRad="38100" dist="38100" dir="2700000" algn="tl">
                        <a:srgbClr val="000000">
                          <a:alpha val="43137"/>
                        </a:srgbClr>
                      </a:outerShdw>
                    </a:effectLst>
                  </a:rPr>
                  <a:t>return </a:t>
                </a:r>
                <a:r>
                  <a:rPr lang="fr-FR" b="1" u="sng" dirty="0" err="1">
                    <a:solidFill>
                      <a:schemeClr val="tx1"/>
                    </a:solidFill>
                    <a:effectLst>
                      <a:outerShdw blurRad="38100" dist="38100" dir="2700000" algn="tl">
                        <a:srgbClr val="000000">
                          <a:alpha val="43137"/>
                        </a:srgbClr>
                      </a:outerShdw>
                    </a:effectLst>
                  </a:rPr>
                  <a:t>np.array</a:t>
                </a:r>
                <a:r>
                  <a:rPr lang="fr-FR" b="1" u="sng" dirty="0">
                    <a:solidFill>
                      <a:schemeClr val="tx1"/>
                    </a:solidFill>
                    <a:effectLst>
                      <a:outerShdw blurRad="38100" dist="38100" dir="2700000" algn="tl">
                        <a:srgbClr val="000000">
                          <a:alpha val="43137"/>
                        </a:srgbClr>
                      </a:outerShdw>
                    </a:effectLst>
                  </a:rPr>
                  <a:t>(X), </a:t>
                </a:r>
                <a:r>
                  <a:rPr lang="fr-FR" b="1" u="sng" dirty="0" err="1">
                    <a:solidFill>
                      <a:schemeClr val="tx1"/>
                    </a:solidFill>
                    <a:effectLst>
                      <a:outerShdw blurRad="38100" dist="38100" dir="2700000" algn="tl">
                        <a:srgbClr val="000000">
                          <a:alpha val="43137"/>
                        </a:srgbClr>
                      </a:outerShdw>
                    </a:effectLst>
                  </a:rPr>
                  <a:t>np.array</a:t>
                </a:r>
                <a:r>
                  <a:rPr lang="fr-FR" b="1" u="sng" dirty="0">
                    <a:solidFill>
                      <a:schemeClr val="tx1"/>
                    </a:solidFill>
                    <a:effectLst>
                      <a:outerShdw blurRad="38100" dist="38100" dir="2700000" algn="tl">
                        <a:srgbClr val="000000">
                          <a:alpha val="43137"/>
                        </a:srgbClr>
                      </a:outerShdw>
                    </a:effectLst>
                  </a:rPr>
                  <a:t>(y)</a:t>
                </a:r>
              </a:p>
              <a:p>
                <a:pPr marL="285750" indent="-285750">
                  <a:buFont typeface="Arial" panose="020B0604020202020204" pitchFamily="34" charset="0"/>
                  <a:buChar char="•"/>
                </a:pPr>
                <a:r>
                  <a:rPr lang="fr-FR" sz="1600" dirty="0">
                    <a:solidFill>
                      <a:schemeClr val="tx1"/>
                    </a:solidFill>
                  </a:rPr>
                  <a:t>Conversion des listes en tableaux </a:t>
                </a:r>
                <a:r>
                  <a:rPr lang="fr-FR" sz="1600" dirty="0" err="1">
                    <a:solidFill>
                      <a:schemeClr val="tx1"/>
                    </a:solidFill>
                  </a:rPr>
                  <a:t>numpy</a:t>
                </a:r>
                <a:r>
                  <a:rPr lang="fr-FR" sz="1600" dirty="0">
                    <a:solidFill>
                      <a:schemeClr val="tx1"/>
                    </a:solidFill>
                  </a:rPr>
                  <a:t> et retour des données générées</a:t>
                </a:r>
                <a:r>
                  <a:rPr lang="fr-FR" dirty="0">
                    <a:solidFill>
                      <a:schemeClr val="tx1"/>
                    </a:solidFill>
                  </a:rPr>
                  <a:t>.</a:t>
                </a:r>
              </a:p>
            </p:txBody>
          </p:sp>
        </mc:Choice>
        <mc:Fallback xmlns="">
          <p:sp>
            <p:nvSpPr>
              <p:cNvPr id="11" name="ZoneTexte 10">
                <a:extLst>
                  <a:ext uri="{FF2B5EF4-FFF2-40B4-BE49-F238E27FC236}">
                    <a16:creationId xmlns:a16="http://schemas.microsoft.com/office/drawing/2014/main" id="{28BE8C97-3BC2-A0F9-889F-813921F0ED27}"/>
                  </a:ext>
                </a:extLst>
              </p:cNvPr>
              <p:cNvSpPr txBox="1">
                <a:spLocks noRot="1" noChangeAspect="1" noMove="1" noResize="1" noEditPoints="1" noAdjustHandles="1" noChangeArrowheads="1" noChangeShapeType="1" noTextEdit="1"/>
              </p:cNvSpPr>
              <p:nvPr/>
            </p:nvSpPr>
            <p:spPr>
              <a:xfrm>
                <a:off x="6161314" y="324687"/>
                <a:ext cx="5855736" cy="6041269"/>
              </a:xfrm>
              <a:prstGeom prst="rect">
                <a:avLst/>
              </a:prstGeom>
              <a:blipFill>
                <a:blip r:embed="rId3"/>
                <a:stretch>
                  <a:fillRect r="-580"/>
                </a:stretch>
              </a:blipFill>
              <a:ln>
                <a:noFill/>
              </a:ln>
              <a:effectLst>
                <a:outerShdw blurRad="149987" dist="250190" dir="8460000" algn="ctr">
                  <a:srgbClr val="000000">
                    <a:alpha val="28000"/>
                  </a:srgbClr>
                </a:outerShdw>
              </a:effectLst>
            </p:spPr>
            <p:txBody>
              <a:bodyPr/>
              <a:lstStyle/>
              <a:p>
                <a:r>
                  <a:rPr lang="fr-FR">
                    <a:noFill/>
                  </a:rPr>
                  <a:t> </a:t>
                </a:r>
              </a:p>
            </p:txBody>
          </p:sp>
        </mc:Fallback>
      </mc:AlternateContent>
      <p:sp>
        <p:nvSpPr>
          <p:cNvPr id="4" name="Espace réservé du numéro de diapositive 3">
            <a:extLst>
              <a:ext uri="{FF2B5EF4-FFF2-40B4-BE49-F238E27FC236}">
                <a16:creationId xmlns:a16="http://schemas.microsoft.com/office/drawing/2014/main" id="{1E0B01D0-DBB8-ECEC-FA09-A96163BF54CD}"/>
              </a:ext>
            </a:extLst>
          </p:cNvPr>
          <p:cNvSpPr>
            <a:spLocks noGrp="1"/>
          </p:cNvSpPr>
          <p:nvPr>
            <p:ph type="sldNum" sz="quarter" idx="12"/>
          </p:nvPr>
        </p:nvSpPr>
        <p:spPr>
          <a:xfrm>
            <a:off x="0" y="6467995"/>
            <a:ext cx="317241" cy="377825"/>
          </a:xfrm>
        </p:spPr>
        <p:txBody>
          <a:bodyPr/>
          <a:lstStyle/>
          <a:p>
            <a:fld id="{A3401A20-A1E0-4E43-B782-1D8AAEB2FCB1}" type="slidenum">
              <a:rPr lang="fr-FR" smtClean="0"/>
              <a:t>27</a:t>
            </a:fld>
            <a:endParaRPr lang="fr-FR" dirty="0"/>
          </a:p>
        </p:txBody>
      </p:sp>
    </p:spTree>
    <p:extLst>
      <p:ext uri="{BB962C8B-B14F-4D97-AF65-F5344CB8AC3E}">
        <p14:creationId xmlns:p14="http://schemas.microsoft.com/office/powerpoint/2010/main" val="570780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2A79E703-99EF-0201-71F9-FC95496D7D48}"/>
              </a:ext>
            </a:extLst>
          </p:cNvPr>
          <p:cNvPicPr>
            <a:picLocks noChangeAspect="1"/>
          </p:cNvPicPr>
          <p:nvPr/>
        </p:nvPicPr>
        <p:blipFill>
          <a:blip r:embed="rId2"/>
          <a:stretch>
            <a:fillRect/>
          </a:stretch>
        </p:blipFill>
        <p:spPr>
          <a:xfrm>
            <a:off x="1544994" y="701956"/>
            <a:ext cx="9102012" cy="545408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Espace réservé du numéro de diapositive 4">
            <a:extLst>
              <a:ext uri="{FF2B5EF4-FFF2-40B4-BE49-F238E27FC236}">
                <a16:creationId xmlns:a16="http://schemas.microsoft.com/office/drawing/2014/main" id="{9937B734-2499-FA0F-32CE-6B8AEB367441}"/>
              </a:ext>
            </a:extLst>
          </p:cNvPr>
          <p:cNvSpPr>
            <a:spLocks noGrp="1"/>
          </p:cNvSpPr>
          <p:nvPr>
            <p:ph type="sldNum" sz="quarter" idx="12"/>
          </p:nvPr>
        </p:nvSpPr>
        <p:spPr>
          <a:xfrm>
            <a:off x="-258868" y="6480175"/>
            <a:ext cx="551167" cy="377825"/>
          </a:xfrm>
        </p:spPr>
        <p:txBody>
          <a:bodyPr/>
          <a:lstStyle/>
          <a:p>
            <a:fld id="{A3401A20-A1E0-4E43-B782-1D8AAEB2FCB1}" type="slidenum">
              <a:rPr lang="fr-FR" smtClean="0"/>
              <a:t>28</a:t>
            </a:fld>
            <a:endParaRPr lang="fr-FR" dirty="0"/>
          </a:p>
        </p:txBody>
      </p:sp>
    </p:spTree>
    <p:extLst>
      <p:ext uri="{BB962C8B-B14F-4D97-AF65-F5344CB8AC3E}">
        <p14:creationId xmlns:p14="http://schemas.microsoft.com/office/powerpoint/2010/main" val="7521658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E2305-F02F-D38F-60FA-8764C17A1255}"/>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3448AFB3-FE79-B452-E79E-34A0CC146201}"/>
              </a:ext>
            </a:extLst>
          </p:cNvPr>
          <p:cNvSpPr txBox="1">
            <a:spLocks/>
          </p:cNvSpPr>
          <p:nvPr/>
        </p:nvSpPr>
        <p:spPr>
          <a:xfrm>
            <a:off x="309400" y="208634"/>
            <a:ext cx="11573197" cy="7242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chemeClr val="tx1"/>
                </a:solidFill>
                <a:effectLst/>
                <a:uLnTx/>
                <a:uFillTx/>
                <a:latin typeface="+mn-lt"/>
                <a:cs typeface="Arial" pitchFamily="34" charset="0"/>
              </a:rPr>
              <a:t>Visualisation et Interprétation du Graphique</a:t>
            </a:r>
            <a:endParaRPr kumimoji="0" lang="en-US" sz="3200" b="1" i="0" u="none" strike="noStrike" kern="1200" cap="none" spc="0" normalizeH="0" baseline="0" noProof="0" dirty="0">
              <a:ln>
                <a:noFill/>
              </a:ln>
              <a:solidFill>
                <a:schemeClr val="tx1"/>
              </a:solidFill>
              <a:effectLst/>
              <a:uLnTx/>
              <a:uFillTx/>
              <a:latin typeface="+mn-lt"/>
              <a:cs typeface="Arial" pitchFamily="34" charset="0"/>
            </a:endParaRPr>
          </a:p>
        </p:txBody>
      </p:sp>
      <p:sp>
        <p:nvSpPr>
          <p:cNvPr id="7" name="Espace réservé du numéro de diapositive 6">
            <a:extLst>
              <a:ext uri="{FF2B5EF4-FFF2-40B4-BE49-F238E27FC236}">
                <a16:creationId xmlns:a16="http://schemas.microsoft.com/office/drawing/2014/main" id="{CDACCF7F-FBE7-A16D-EFB7-844EEA5F118B}"/>
              </a:ext>
            </a:extLst>
          </p:cNvPr>
          <p:cNvSpPr>
            <a:spLocks noGrp="1"/>
          </p:cNvSpPr>
          <p:nvPr>
            <p:ph type="sldNum" sz="quarter" idx="12"/>
          </p:nvPr>
        </p:nvSpPr>
        <p:spPr>
          <a:xfrm>
            <a:off x="-149294" y="6480175"/>
            <a:ext cx="457200" cy="377825"/>
          </a:xfrm>
        </p:spPr>
        <p:txBody>
          <a:bodyPr/>
          <a:lstStyle/>
          <a:p>
            <a:fld id="{A3401A20-A1E0-4E43-B782-1D8AAEB2FCB1}" type="slidenum">
              <a:rPr lang="fr-FR" smtClean="0"/>
              <a:t>29</a:t>
            </a:fld>
            <a:endParaRPr lang="fr-FR" dirty="0"/>
          </a:p>
        </p:txBody>
      </p:sp>
      <p:pic>
        <p:nvPicPr>
          <p:cNvPr id="3" name="Image 2">
            <a:extLst>
              <a:ext uri="{FF2B5EF4-FFF2-40B4-BE49-F238E27FC236}">
                <a16:creationId xmlns:a16="http://schemas.microsoft.com/office/drawing/2014/main" id="{1E8EA2D7-F1B5-85A2-2A58-91B66C6A932E}"/>
              </a:ext>
            </a:extLst>
          </p:cNvPr>
          <p:cNvPicPr>
            <a:picLocks noChangeAspect="1"/>
          </p:cNvPicPr>
          <p:nvPr/>
        </p:nvPicPr>
        <p:blipFill>
          <a:blip r:embed="rId2"/>
          <a:stretch>
            <a:fillRect/>
          </a:stretch>
        </p:blipFill>
        <p:spPr>
          <a:xfrm>
            <a:off x="1108946" y="1184371"/>
            <a:ext cx="9974103" cy="23239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8" name="Image 7">
            <a:extLst>
              <a:ext uri="{FF2B5EF4-FFF2-40B4-BE49-F238E27FC236}">
                <a16:creationId xmlns:a16="http://schemas.microsoft.com/office/drawing/2014/main" id="{BD907066-36D0-6EA1-F39C-DE2790C36AB4}"/>
              </a:ext>
            </a:extLst>
          </p:cNvPr>
          <p:cNvPicPr>
            <a:picLocks noChangeAspect="1"/>
          </p:cNvPicPr>
          <p:nvPr/>
        </p:nvPicPr>
        <p:blipFill>
          <a:blip r:embed="rId3"/>
          <a:stretch>
            <a:fillRect/>
          </a:stretch>
        </p:blipFill>
        <p:spPr>
          <a:xfrm>
            <a:off x="1108946" y="4002205"/>
            <a:ext cx="9974103" cy="23239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1954554474"/>
      </p:ext>
    </p:extLst>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B58BA66-F794-91A2-F147-340312E997D4}"/>
              </a:ext>
            </a:extLst>
          </p:cNvPr>
          <p:cNvSpPr>
            <a:spLocks noGrp="1"/>
          </p:cNvSpPr>
          <p:nvPr>
            <p:ph type="sldNum" sz="quarter" idx="12"/>
          </p:nvPr>
        </p:nvSpPr>
        <p:spPr>
          <a:xfrm>
            <a:off x="0" y="6480175"/>
            <a:ext cx="329619" cy="377825"/>
          </a:xfrm>
        </p:spPr>
        <p:txBody>
          <a:bodyPr/>
          <a:lstStyle/>
          <a:p>
            <a:fld id="{A3401A20-A1E0-4E43-B782-1D8AAEB2FCB1}" type="slidenum">
              <a:rPr lang="fr-FR" smtClean="0"/>
              <a:t>30</a:t>
            </a:fld>
            <a:endParaRPr lang="fr-FR" dirty="0"/>
          </a:p>
        </p:txBody>
      </p:sp>
      <p:pic>
        <p:nvPicPr>
          <p:cNvPr id="3" name="Image 2">
            <a:extLst>
              <a:ext uri="{FF2B5EF4-FFF2-40B4-BE49-F238E27FC236}">
                <a16:creationId xmlns:a16="http://schemas.microsoft.com/office/drawing/2014/main" id="{7C90F90D-652E-D68F-621A-052845EE1DA7}"/>
              </a:ext>
            </a:extLst>
          </p:cNvPr>
          <p:cNvPicPr>
            <a:picLocks noChangeAspect="1"/>
          </p:cNvPicPr>
          <p:nvPr/>
        </p:nvPicPr>
        <p:blipFill>
          <a:blip r:embed="rId2"/>
          <a:stretch>
            <a:fillRect/>
          </a:stretch>
        </p:blipFill>
        <p:spPr>
          <a:xfrm>
            <a:off x="164809" y="1133078"/>
            <a:ext cx="5786469" cy="434924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5" name="Image 4">
            <a:extLst>
              <a:ext uri="{FF2B5EF4-FFF2-40B4-BE49-F238E27FC236}">
                <a16:creationId xmlns:a16="http://schemas.microsoft.com/office/drawing/2014/main" id="{D3BBD392-3543-6E39-E984-1AEA1C41F5EE}"/>
              </a:ext>
            </a:extLst>
          </p:cNvPr>
          <p:cNvPicPr>
            <a:picLocks noChangeAspect="1"/>
          </p:cNvPicPr>
          <p:nvPr/>
        </p:nvPicPr>
        <p:blipFill>
          <a:blip r:embed="rId3"/>
          <a:stretch>
            <a:fillRect/>
          </a:stretch>
        </p:blipFill>
        <p:spPr>
          <a:xfrm>
            <a:off x="6161317" y="1133078"/>
            <a:ext cx="5956579" cy="43492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3891417"/>
      </p:ext>
    </p:extLst>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 coins arrondis 11">
            <a:extLst>
              <a:ext uri="{FF2B5EF4-FFF2-40B4-BE49-F238E27FC236}">
                <a16:creationId xmlns:a16="http://schemas.microsoft.com/office/drawing/2014/main" id="{A2013F55-83EF-902A-B1F2-320CED828408}"/>
              </a:ext>
            </a:extLst>
          </p:cNvPr>
          <p:cNvSpPr/>
          <p:nvPr/>
        </p:nvSpPr>
        <p:spPr>
          <a:xfrm>
            <a:off x="2177876" y="2068343"/>
            <a:ext cx="7836248" cy="2842248"/>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dirty="0">
                <a:solidFill>
                  <a:schemeClr val="tx1"/>
                </a:solidFill>
              </a:rPr>
              <a:t>cette étude a permis d’approfondir notre compréhension des techniques avancées d’apprentissage supervisé . Les méthodes d’ensemble se révèlent être dès outils puissants pour améliorer la précision des modèles, et l’utilisation de </a:t>
            </a:r>
            <a:r>
              <a:rPr lang="fr-FR" dirty="0" err="1">
                <a:solidFill>
                  <a:schemeClr val="tx1"/>
                </a:solidFill>
              </a:rPr>
              <a:t>datasets</a:t>
            </a:r>
            <a:r>
              <a:rPr lang="fr-FR" dirty="0">
                <a:solidFill>
                  <a:schemeClr val="tx1"/>
                </a:solidFill>
              </a:rPr>
              <a:t> générés constitue un moyen efficace d’analyser leur comportement dans un cadre contrôlé . Ces concepts sont largement utilisés dans le domaine du Machine Learning et continuent d’être optimisés pour des applications de plus en plus complexes.</a:t>
            </a:r>
            <a:endParaRPr lang="fr-FR" dirty="0"/>
          </a:p>
        </p:txBody>
      </p:sp>
      <p:sp>
        <p:nvSpPr>
          <p:cNvPr id="6" name="Espace réservé du numéro de diapositive 5">
            <a:extLst>
              <a:ext uri="{FF2B5EF4-FFF2-40B4-BE49-F238E27FC236}">
                <a16:creationId xmlns:a16="http://schemas.microsoft.com/office/drawing/2014/main" id="{8090FA4E-E508-D552-92DB-955C05BF2760}"/>
              </a:ext>
            </a:extLst>
          </p:cNvPr>
          <p:cNvSpPr>
            <a:spLocks noGrp="1"/>
          </p:cNvSpPr>
          <p:nvPr>
            <p:ph type="sldNum" sz="quarter" idx="12"/>
          </p:nvPr>
        </p:nvSpPr>
        <p:spPr>
          <a:xfrm>
            <a:off x="0" y="6480175"/>
            <a:ext cx="329619" cy="377825"/>
          </a:xfrm>
        </p:spPr>
        <p:txBody>
          <a:bodyPr/>
          <a:lstStyle/>
          <a:p>
            <a:fld id="{A3401A20-A1E0-4E43-B782-1D8AAEB2FCB1}" type="slidenum">
              <a:rPr lang="fr-FR" smtClean="0"/>
              <a:t>31</a:t>
            </a:fld>
            <a:endParaRPr lang="fr-FR"/>
          </a:p>
        </p:txBody>
      </p:sp>
      <p:sp>
        <p:nvSpPr>
          <p:cNvPr id="4" name="Rectangle : coins arrondis 3">
            <a:extLst>
              <a:ext uri="{FF2B5EF4-FFF2-40B4-BE49-F238E27FC236}">
                <a16:creationId xmlns:a16="http://schemas.microsoft.com/office/drawing/2014/main" id="{DF6C17E8-CFB6-F7DB-0A89-26636D898EA7}"/>
              </a:ext>
            </a:extLst>
          </p:cNvPr>
          <p:cNvSpPr/>
          <p:nvPr/>
        </p:nvSpPr>
        <p:spPr>
          <a:xfrm>
            <a:off x="1935060" y="295883"/>
            <a:ext cx="8321879" cy="1115736"/>
          </a:xfrm>
          <a:prstGeom prst="roundRect">
            <a:avLst>
              <a:gd name="adj" fmla="val 41101"/>
            </a:avLst>
          </a:prstGeom>
          <a:solidFill>
            <a:srgbClr val="0070C0"/>
          </a:solidFill>
          <a:effectLst>
            <a:outerShdw blurRad="57150" dist="19050" dir="5400000" algn="ctr" rotWithShape="0">
              <a:srgbClr val="000000">
                <a:alpha val="63000"/>
              </a:srgbClr>
            </a:outerShdw>
            <a:softEdge rad="63500"/>
          </a:effectLst>
        </p:spPr>
        <p:style>
          <a:lnRef idx="0">
            <a:schemeClr val="dk1"/>
          </a:lnRef>
          <a:fillRef idx="3">
            <a:schemeClr val="dk1"/>
          </a:fillRef>
          <a:effectRef idx="3">
            <a:schemeClr val="dk1"/>
          </a:effectRef>
          <a:fontRef idx="minor">
            <a:schemeClr val="lt1"/>
          </a:fontRef>
        </p:style>
        <p:txBody>
          <a:bodyPr rtlCol="0" anchor="ctr"/>
          <a:lstStyle/>
          <a:p>
            <a:pPr algn="ctr"/>
            <a:r>
              <a:rPr lang="en-US" altLang="ko-KR" sz="3200" b="1" dirty="0">
                <a:solidFill>
                  <a:schemeClr val="tx1"/>
                </a:solidFill>
                <a:cs typeface="Arial" pitchFamily="34" charset="0"/>
              </a:rPr>
              <a:t>Conclusion</a:t>
            </a:r>
          </a:p>
        </p:txBody>
      </p:sp>
      <p:pic>
        <p:nvPicPr>
          <p:cNvPr id="3" name="Graphique 2" descr="Ampoule">
            <a:extLst>
              <a:ext uri="{FF2B5EF4-FFF2-40B4-BE49-F238E27FC236}">
                <a16:creationId xmlns:a16="http://schemas.microsoft.com/office/drawing/2014/main" id="{E6FBCF5A-D2FC-3C84-B546-1A29228DF3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91746" y="396551"/>
            <a:ext cx="914400" cy="914400"/>
          </a:xfrm>
          <a:prstGeom prst="rect">
            <a:avLst/>
          </a:prstGeom>
        </p:spPr>
      </p:pic>
    </p:spTree>
    <p:extLst>
      <p:ext uri="{BB962C8B-B14F-4D97-AF65-F5344CB8AC3E}">
        <p14:creationId xmlns:p14="http://schemas.microsoft.com/office/powerpoint/2010/main" val="2905178073"/>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F42081-849E-74C1-51E6-6056BBEBBD55}"/>
              </a:ext>
            </a:extLst>
          </p:cNvPr>
          <p:cNvSpPr>
            <a:spLocks noGrp="1"/>
          </p:cNvSpPr>
          <p:nvPr>
            <p:ph type="title"/>
          </p:nvPr>
        </p:nvSpPr>
        <p:spPr>
          <a:xfrm>
            <a:off x="487973" y="2197246"/>
            <a:ext cx="11462238" cy="2990849"/>
          </a:xfrm>
        </p:spPr>
        <p:txBody>
          <a:bodyPr>
            <a:noAutofit/>
            <a:scene3d>
              <a:camera prst="orthographicFront"/>
              <a:lightRig rig="harsh" dir="t"/>
            </a:scene3d>
            <a:sp3d extrusionH="57150" prstMaterial="matte">
              <a:bevelT w="63500" h="12700" prst="angle"/>
              <a:contourClr>
                <a:schemeClr val="bg1">
                  <a:lumMod val="65000"/>
                </a:schemeClr>
              </a:contourClr>
            </a:sp3d>
          </a:bodyPr>
          <a:lstStyle/>
          <a:p>
            <a:pPr algn="ctr"/>
            <a:br>
              <a:rPr lang="fr-FR" sz="7200" b="1" cap="none" dirty="0">
                <a:ln/>
                <a:solidFill>
                  <a:srgbClr val="00B0F0"/>
                </a:solidFill>
                <a:effectLst>
                  <a:outerShdw blurRad="38100" dist="38100" dir="2700000" algn="tl">
                    <a:srgbClr val="000000">
                      <a:alpha val="43137"/>
                    </a:srgbClr>
                  </a:outerShdw>
                </a:effectLst>
                <a:latin typeface="+mn-lt"/>
                <a:cs typeface="Times New Roman" panose="02020603050405020304" pitchFamily="18" charset="0"/>
              </a:rPr>
            </a:br>
            <a:r>
              <a:rPr lang="fr-FR" sz="7200" b="1" cap="none" dirty="0">
                <a:ln/>
                <a:solidFill>
                  <a:srgbClr val="00B0F0"/>
                </a:solidFill>
                <a:effectLst>
                  <a:outerShdw blurRad="38100" dist="38100" dir="2700000" algn="tl">
                    <a:srgbClr val="000000">
                      <a:alpha val="43137"/>
                    </a:srgbClr>
                  </a:outerShdw>
                </a:effectLst>
                <a:latin typeface="+mn-lt"/>
                <a:cs typeface="Times New Roman" panose="02020603050405020304" pitchFamily="18" charset="0"/>
              </a:rPr>
              <a:t>MERCI POUR VOTRE ATTENTION</a:t>
            </a:r>
            <a:endParaRPr lang="en-US" sz="7200" b="1" cap="none" dirty="0">
              <a:ln/>
              <a:solidFill>
                <a:srgbClr val="00B0F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6" name="Graphique 5" descr="Conférencier">
            <a:extLst>
              <a:ext uri="{FF2B5EF4-FFF2-40B4-BE49-F238E27FC236}">
                <a16:creationId xmlns:a16="http://schemas.microsoft.com/office/drawing/2014/main" id="{BE152C19-D104-7B9A-3C20-D991AF3BA6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25207" y="1069730"/>
            <a:ext cx="1541585" cy="1541585"/>
          </a:xfrm>
          <a:prstGeom prst="rect">
            <a:avLst/>
          </a:prstGeom>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2293359817"/>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éleste">
  <a:themeElements>
    <a:clrScheme name="Céleste">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Célest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éleste">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Céleste</Template>
  <TotalTime>1454</TotalTime>
  <Words>1411</Words>
  <Application>Microsoft Office PowerPoint</Application>
  <PresentationFormat>Grand écran</PresentationFormat>
  <Paragraphs>159</Paragraphs>
  <Slides>32</Slides>
  <Notes>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32</vt:i4>
      </vt:variant>
    </vt:vector>
  </HeadingPairs>
  <TitlesOfParts>
    <vt:vector size="38" baseType="lpstr">
      <vt:lpstr>Arial</vt:lpstr>
      <vt:lpstr>Calibri</vt:lpstr>
      <vt:lpstr>Calibri Light</vt:lpstr>
      <vt:lpstr>Cambria Math</vt:lpstr>
      <vt:lpstr>Open Sans Light</vt:lpstr>
      <vt:lpstr>Céleste</vt:lpstr>
      <vt:lpstr>Étude et Implémentation des Méthodes de Machine Learning (Ensemble methods &amp; Generated datasets)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37</cp:revision>
  <dcterms:created xsi:type="dcterms:W3CDTF">2024-06-16T16:39:26Z</dcterms:created>
  <dcterms:modified xsi:type="dcterms:W3CDTF">2025-04-09T23:54:13Z</dcterms:modified>
</cp:coreProperties>
</file>